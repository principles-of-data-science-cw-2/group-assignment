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5F9"/>
    <a:srgbClr val="616A78"/>
    <a:srgbClr val="FFFFFF"/>
    <a:srgbClr val="4084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67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84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-548640"/>
            <a:ext cx="3840480" cy="384048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2743200"/>
            <a:ext cx="2560320" cy="256032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200465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ETL DATA PIPELINE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1169729"/>
            <a:ext cx="7315200" cy="548640"/>
          </a:xfrm>
          <a:prstGeom prst="rect">
            <a:avLst/>
          </a:prstGeom>
          <a:solidFill>
            <a:schemeClr val="accent3">
              <a:lumMod val="20000"/>
              <a:lumOff val="80000"/>
              <a:alpha val="23000"/>
            </a:schemeClr>
          </a:solidFill>
          <a:ln>
            <a:solidFill>
              <a:srgbClr val="0D948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Online Retail II Dataset — Extract, Transform &amp; Load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1983545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48256" y="1992689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/>
              <a:t>Online Retail II  |  Kaggle  |  2010–2011</a:t>
            </a:r>
          </a:p>
        </p:txBody>
      </p:sp>
      <p:sp>
        <p:nvSpPr>
          <p:cNvPr id="16" name="Shape 14"/>
          <p:cNvSpPr/>
          <p:nvPr/>
        </p:nvSpPr>
        <p:spPr>
          <a:xfrm>
            <a:off x="704087" y="2460700"/>
            <a:ext cx="3788083" cy="1022811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81912" y="3055716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Raw Records</a:t>
            </a:r>
            <a:endParaRPr lang="en-US" sz="1400" dirty="0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721EBA59-32CE-FEC0-9FF5-35A29CE269BE}"/>
              </a:ext>
            </a:extLst>
          </p:cNvPr>
          <p:cNvSpPr/>
          <p:nvPr/>
        </p:nvSpPr>
        <p:spPr>
          <a:xfrm>
            <a:off x="4781079" y="2460701"/>
            <a:ext cx="3788083" cy="1022811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625F7CD3-9535-D6B9-EFA3-4BA104FF8161}"/>
              </a:ext>
            </a:extLst>
          </p:cNvPr>
          <p:cNvSpPr/>
          <p:nvPr/>
        </p:nvSpPr>
        <p:spPr>
          <a:xfrm>
            <a:off x="1581912" y="2690673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0847E"/>
                </a:solidFill>
              </a:rPr>
              <a:t>541,910</a:t>
            </a:r>
            <a:endParaRPr lang="en-US" sz="2400" dirty="0">
              <a:solidFill>
                <a:srgbClr val="40847E"/>
              </a:solidFill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31283C35-AB6A-9040-4180-AF1267DD6595}"/>
              </a:ext>
            </a:extLst>
          </p:cNvPr>
          <p:cNvSpPr/>
          <p:nvPr/>
        </p:nvSpPr>
        <p:spPr>
          <a:xfrm>
            <a:off x="5567535" y="3045107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94A3B8"/>
                </a:solidFill>
              </a:rPr>
              <a:t>Clean Records</a:t>
            </a:r>
            <a:endParaRPr lang="en-US" sz="14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B5288507-91F0-ED0F-FDE6-2330CAA9470E}"/>
              </a:ext>
            </a:extLst>
          </p:cNvPr>
          <p:cNvSpPr/>
          <p:nvPr/>
        </p:nvSpPr>
        <p:spPr>
          <a:xfrm>
            <a:off x="5567535" y="268006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D9488"/>
                </a:solidFill>
              </a:rPr>
              <a:t>333,234</a:t>
            </a:r>
            <a:endParaRPr lang="en-US" sz="24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9E39FD52-0BAD-7622-9AEA-66F39974902D}"/>
              </a:ext>
            </a:extLst>
          </p:cNvPr>
          <p:cNvSpPr/>
          <p:nvPr/>
        </p:nvSpPr>
        <p:spPr>
          <a:xfrm>
            <a:off x="702854" y="3745130"/>
            <a:ext cx="3788083" cy="1022811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9072D8A4-A7BA-7015-3324-B3CE5CDEDE9D}"/>
              </a:ext>
            </a:extLst>
          </p:cNvPr>
          <p:cNvSpPr/>
          <p:nvPr/>
        </p:nvSpPr>
        <p:spPr>
          <a:xfrm>
            <a:off x="1581912" y="4393637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94A3B8"/>
                </a:solidFill>
              </a:rPr>
              <a:t>Transform Stages</a:t>
            </a:r>
            <a:endParaRPr lang="en-US" sz="14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F449EE48-0B36-E508-6290-9B7D1449DF91}"/>
              </a:ext>
            </a:extLst>
          </p:cNvPr>
          <p:cNvSpPr/>
          <p:nvPr/>
        </p:nvSpPr>
        <p:spPr>
          <a:xfrm>
            <a:off x="1581912" y="402859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40847E"/>
                </a:solidFill>
              </a:rPr>
              <a:t>6 Steps</a:t>
            </a:r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B193424F-4A75-AB3F-84AC-B44AB1EE431D}"/>
              </a:ext>
            </a:extLst>
          </p:cNvPr>
          <p:cNvSpPr/>
          <p:nvPr/>
        </p:nvSpPr>
        <p:spPr>
          <a:xfrm>
            <a:off x="4781079" y="3745129"/>
            <a:ext cx="3788083" cy="1022811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25EDB591-0FCB-8EFC-5DD8-A7CFF0695CED}"/>
              </a:ext>
            </a:extLst>
          </p:cNvPr>
          <p:cNvSpPr/>
          <p:nvPr/>
        </p:nvSpPr>
        <p:spPr>
          <a:xfrm>
            <a:off x="5567535" y="438855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94A3B8"/>
                </a:solidFill>
              </a:rPr>
              <a:t>Data Quality</a:t>
            </a:r>
            <a:endParaRPr lang="en-US" sz="140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FDCD38F2-D28A-DE60-06C4-B61BD6951D09}"/>
              </a:ext>
            </a:extLst>
          </p:cNvPr>
          <p:cNvSpPr/>
          <p:nvPr/>
        </p:nvSpPr>
        <p:spPr>
          <a:xfrm>
            <a:off x="5567535" y="4023515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D9488"/>
                </a:solidFill>
              </a:rPr>
              <a:t>98.4%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&amp; VALIDATE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7F5"/>
                </a:solidFill>
              </a:rPr>
              <a:t>Downloading from Kaggle via kagglehub  |  Data quality audit across 4 dimensions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914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EXTRACT — Data Source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4160520" cy="246888"/>
          </a:xfrm>
          <a:prstGeom prst="rect">
            <a:avLst/>
          </a:prstGeom>
          <a:solidFill>
            <a:srgbClr val="F1F5F9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4996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Source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14996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Kaggle — mathchi/online-retail-ii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746504"/>
            <a:ext cx="4160520" cy="246888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17647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Method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3040" y="17647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kagglehub.dataset_download()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11680"/>
            <a:ext cx="4160520" cy="246888"/>
          </a:xfrm>
          <a:prstGeom prst="rect">
            <a:avLst/>
          </a:prstGeom>
          <a:solidFill>
            <a:srgbClr val="F1F5F9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1F5F9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84048" y="20299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File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63040" y="2029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Year 2010-2011.csv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276856"/>
            <a:ext cx="4160520" cy="246888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22951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Encoding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22951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ISO-8859-1 (Latin-1)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42032"/>
            <a:ext cx="4160520" cy="246888"/>
          </a:xfrm>
          <a:prstGeom prst="rect">
            <a:avLst/>
          </a:prstGeom>
          <a:solidFill>
            <a:srgbClr val="F1F5F9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25603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Rows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63040" y="2560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541,910 records  |  8 columns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05156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1051560"/>
            <a:ext cx="41605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1051560"/>
            <a:ext cx="914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VALIDATE — Quality Audit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1481328"/>
            <a:ext cx="4160520" cy="246888"/>
          </a:xfrm>
          <a:prstGeom prst="rect">
            <a:avLst/>
          </a:prstGeom>
          <a:solidFill>
            <a:srgbClr val="F1F5F9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1481328"/>
            <a:ext cx="64008" cy="246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28032" y="14996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Missing Customer ID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14996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135,080  (24.93%)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1746504"/>
            <a:ext cx="4160520" cy="246888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1746504"/>
            <a:ext cx="64008" cy="246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28032" y="17647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Cancellation invoices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1764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9,288  (prefix 'C')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011680"/>
            <a:ext cx="4160520" cy="246888"/>
          </a:xfrm>
          <a:prstGeom prst="rect">
            <a:avLst/>
          </a:prstGeom>
          <a:solidFill>
            <a:srgbClr val="F1F5F9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09160" y="2011680"/>
            <a:ext cx="64008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28032" y="2029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Negative Quantity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0" y="2029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10,624 rows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2276856"/>
            <a:ext cx="4160520" cy="246888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09160" y="2276856"/>
            <a:ext cx="64008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28032" y="22951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Zero / neg. Price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0" y="2295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2,517 rows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2542032"/>
            <a:ext cx="4160520" cy="246888"/>
          </a:xfrm>
          <a:prstGeom prst="rect">
            <a:avLst/>
          </a:prstGeom>
          <a:solidFill>
            <a:srgbClr val="F1F5F9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09160" y="2542032"/>
            <a:ext cx="64008" cy="2468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28032" y="2560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Exact duplicates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132320" y="25603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5,268 rows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035808"/>
            <a:ext cx="859536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5720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1F5F9"/>
                </a:solidFill>
              </a:rPr>
              <a:t>DATA DICTIONARY — 8 Original Columns</a:t>
            </a:r>
            <a:endParaRPr lang="en-US" sz="1000" dirty="0">
              <a:solidFill>
                <a:srgbClr val="F1F5F9"/>
              </a:solidFill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84048" y="3456432"/>
            <a:ext cx="4096512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57200" y="349300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645920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Transaction ID  |  'C' prefix = cancellation</a:t>
            </a:r>
          </a:p>
        </p:txBody>
      </p:sp>
      <p:sp>
        <p:nvSpPr>
          <p:cNvPr id="53" name="Shape 51"/>
          <p:cNvSpPr/>
          <p:nvPr/>
        </p:nvSpPr>
        <p:spPr>
          <a:xfrm>
            <a:off x="384048" y="3803904"/>
            <a:ext cx="4096512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7200" y="384048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StockCode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645920" y="3840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5 digit product code</a:t>
            </a:r>
          </a:p>
        </p:txBody>
      </p:sp>
      <p:sp>
        <p:nvSpPr>
          <p:cNvPr id="56" name="Shape 54"/>
          <p:cNvSpPr/>
          <p:nvPr/>
        </p:nvSpPr>
        <p:spPr>
          <a:xfrm>
            <a:off x="384048" y="4151376"/>
            <a:ext cx="4096512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57200" y="418795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645920" y="4187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Product name  |  nullable (0.27% missing)</a:t>
            </a:r>
          </a:p>
        </p:txBody>
      </p:sp>
      <p:sp>
        <p:nvSpPr>
          <p:cNvPr id="59" name="Shape 57"/>
          <p:cNvSpPr/>
          <p:nvPr/>
        </p:nvSpPr>
        <p:spPr>
          <a:xfrm>
            <a:off x="384048" y="4498848"/>
            <a:ext cx="4096512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57200" y="453542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645920" y="45354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Units sold  |  negatives = returns</a:t>
            </a:r>
          </a:p>
        </p:txBody>
      </p:sp>
      <p:sp>
        <p:nvSpPr>
          <p:cNvPr id="62" name="Shape 60"/>
          <p:cNvSpPr/>
          <p:nvPr/>
        </p:nvSpPr>
        <p:spPr>
          <a:xfrm>
            <a:off x="4700016" y="3456432"/>
            <a:ext cx="4096512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773168" y="349300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InvoiceDate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961888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Timestamp  |  string → datetime64</a:t>
            </a:r>
          </a:p>
        </p:txBody>
      </p:sp>
      <p:sp>
        <p:nvSpPr>
          <p:cNvPr id="65" name="Shape 63"/>
          <p:cNvSpPr/>
          <p:nvPr/>
        </p:nvSpPr>
        <p:spPr>
          <a:xfrm>
            <a:off x="4700016" y="3803904"/>
            <a:ext cx="4096512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773168" y="384048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961888" y="3840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Unit price (GBP)</a:t>
            </a:r>
          </a:p>
        </p:txBody>
      </p:sp>
      <p:sp>
        <p:nvSpPr>
          <p:cNvPr id="68" name="Shape 66"/>
          <p:cNvSpPr/>
          <p:nvPr/>
        </p:nvSpPr>
        <p:spPr>
          <a:xfrm>
            <a:off x="4700016" y="4151376"/>
            <a:ext cx="4096512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773168" y="418795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ID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961888" y="4187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Customer key  |  24.93% missing — CRITICAL</a:t>
            </a:r>
          </a:p>
        </p:txBody>
      </p:sp>
      <p:sp>
        <p:nvSpPr>
          <p:cNvPr id="71" name="Shape 69"/>
          <p:cNvSpPr/>
          <p:nvPr/>
        </p:nvSpPr>
        <p:spPr>
          <a:xfrm>
            <a:off x="4700016" y="4498848"/>
            <a:ext cx="4096512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773168" y="453542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961888" y="45354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37 unique countries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TRANSFORM: 6-STEP CLEANING PIPELINE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Each step is independently justified, coded, and tracked for quantified impact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4279392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475488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46304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20700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Remove Cancellations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517904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Invoices prefixed 'C' are financial reversals — not real sales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1965960"/>
            <a:ext cx="219456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19659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Removed: 9,288 rows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414016"/>
            <a:ext cx="4279392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2414016"/>
            <a:ext cx="475488" cy="117043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" y="276148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505456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Remove Duplicates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816352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System logging errors inflate transaction counts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3264408"/>
            <a:ext cx="219456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32644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Removed: 5,231 rows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712464"/>
            <a:ext cx="4279392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3712464"/>
            <a:ext cx="47548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6032" y="405993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80390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Drop Null Customer ID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114800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Primary key for clustering — imputation invalid for identity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" y="4562856"/>
            <a:ext cx="219456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45628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Removed: 134,658 rows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1115568"/>
            <a:ext cx="4279392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46320" y="1115568"/>
            <a:ext cx="475488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146304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13248" y="120700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Filter Invalid Qty/Price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13248" y="1517904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Zero/negative values produce nonsensical revenue figures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13248" y="1965960"/>
            <a:ext cx="219456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13248" y="19659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Removed: 40 rows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2414016"/>
            <a:ext cx="4279392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2414016"/>
            <a:ext cx="475488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276148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13248" y="2505456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IQR Outlier Removal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13248" y="2816352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Tukey (1977) fence removes wholesale B2B anomalies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13248" y="3264408"/>
            <a:ext cx="219456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13248" y="32644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Removed: 59,459 rows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3712464"/>
            <a:ext cx="4279392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46320" y="3712464"/>
            <a:ext cx="475488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405993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13248" y="380390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13248" y="4114800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Year, Month, DayOfWeek, Hour, Total_Revenue added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13248" y="4562856"/>
            <a:ext cx="219456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413248" y="45628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Removed: 0 (adds cols) rows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IQR OUTLIER REMOVAL  |  LOAD &amp; VALIDATE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7F5"/>
                </a:solidFill>
              </a:rPr>
              <a:t>Tukey (1977) fence: Q1 − 1.5×IQR  to  Q3 + 1.5×IQR  |  Post-load integrity verification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</a:rPr>
              <a:t>IQR BOUNDS CALCULATED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481328"/>
            <a:ext cx="400507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5179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Fence = Q1 − 1.5×IQR   to   Q3 + 1.5×IQR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9385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Column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9385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Q1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19385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Q3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19385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IQR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19385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Lower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19385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Upper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9385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Removed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267712"/>
            <a:ext cx="4005072" cy="347472"/>
          </a:xfrm>
          <a:prstGeom prst="rect">
            <a:avLst/>
          </a:prstGeom>
          <a:solidFill>
            <a:srgbClr val="F1F5F9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23408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Quantity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23408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2.00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23408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12.00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0" y="23408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10.00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23408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−13.00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23408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27.00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46120" y="23408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59,459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2651760"/>
            <a:ext cx="4005072" cy="347472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2724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Price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2724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£1.25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7320" y="2724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£3.75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28800" y="2724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£2.50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0" y="2724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−£2.50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0" y="2724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£7.50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46120" y="2724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see above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3127248"/>
            <a:ext cx="4005072" cy="45720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02336" y="315468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0D1B2A"/>
                </a:solidFill>
              </a:rPr>
              <a:t>Why hard removal (not capping): Qty=80,995 units represent wholesale B2B orders — categorically different from consumer behaviour. Capping still distorts RFM metrics.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051560"/>
            <a:ext cx="4160520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09160" y="1051560"/>
            <a:ext cx="41605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28032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</a:rPr>
              <a:t>LOAD &amp; POST-LOAD VALIDATION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1508760"/>
            <a:ext cx="4023360" cy="292608"/>
          </a:xfrm>
          <a:prstGeom prst="rect">
            <a:avLst/>
          </a:prstGeom>
          <a:solidFill>
            <a:srgbClr val="F1F5F9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1554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Rows saved to CSV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06640" y="15544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2A"/>
                </a:solidFill>
              </a:rPr>
              <a:t>333,234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66760" y="15544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1847088"/>
            <a:ext cx="4023360" cy="292608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1892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Columns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06640" y="18928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2A"/>
                </a:solidFill>
              </a:rPr>
              <a:t>13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366760" y="189280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2185416"/>
            <a:ext cx="4023360" cy="292608"/>
          </a:xfrm>
          <a:prstGeom prst="rect">
            <a:avLst/>
          </a:prstGeom>
          <a:solidFill>
            <a:srgbClr val="F1F5F9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46320" y="22311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Null values remaining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06640" y="22311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2A"/>
                </a:solidFill>
              </a:rPr>
              <a:t>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366760" y="223113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54880" y="2523744"/>
            <a:ext cx="4023360" cy="292608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46320" y="25694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Negative Revenue rows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06640" y="2569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2A"/>
                </a:solidFill>
              </a:rPr>
              <a:t>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366760" y="25694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754880" y="2862072"/>
            <a:ext cx="4023360" cy="292608"/>
          </a:xfrm>
          <a:prstGeom prst="rect">
            <a:avLst/>
          </a:prstGeom>
          <a:solidFill>
            <a:srgbClr val="F1F5F9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46320" y="29077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Unique customers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06640" y="29077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2A"/>
                </a:solidFill>
              </a:rPr>
              <a:t>4,191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366760" y="290779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754880" y="3200400"/>
            <a:ext cx="4023360" cy="292608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46320" y="3246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Unique products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406640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2A"/>
                </a:solidFill>
              </a:rPr>
              <a:t>3,392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366760" y="32461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754880" y="3538728"/>
            <a:ext cx="4023360" cy="292608"/>
          </a:xfrm>
          <a:prstGeom prst="rect">
            <a:avLst/>
          </a:prstGeom>
          <a:solidFill>
            <a:srgbClr val="F1F5F9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846320" y="3584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406640" y="3584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2A"/>
                </a:solidFill>
              </a:rPr>
              <a:t>£4,299,476.18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366760" y="358444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754880" y="3877056"/>
            <a:ext cx="4023360" cy="292608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846320" y="39227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File encoding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406640" y="3922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2A"/>
                </a:solidFill>
              </a:rPr>
              <a:t>UTF-8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366760" y="39227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709160" y="4224528"/>
            <a:ext cx="416052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709160" y="42245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ALL VALIDATION CHECKS PASSED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/>
              <a:t>PIPELINE IMPACT SUMMARY &amp; DATA QUALITY SCORECARD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Quantified before-and-after impact across every transformation step</a:t>
            </a:r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59893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607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Step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88920" y="106070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Before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75888" y="106070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After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62856" y="10607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Removed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58968" y="106070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% Impact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389888"/>
            <a:ext cx="5989320" cy="420624"/>
          </a:xfrm>
          <a:prstGeom prst="rect">
            <a:avLst/>
          </a:prstGeom>
          <a:solidFill>
            <a:srgbClr val="0F2744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389888"/>
            <a:ext cx="64008" cy="4206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14813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 Remove Cancellations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148132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541,910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75888" y="148132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532,622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62856" y="14813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</a:rPr>
              <a:t>9,288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58968" y="14813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1.71%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1865376"/>
            <a:ext cx="5989320" cy="420624"/>
          </a:xfrm>
          <a:prstGeom prst="rect">
            <a:avLst/>
          </a:prstGeom>
          <a:solidFill>
            <a:srgbClr val="0D1E3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1865376"/>
            <a:ext cx="64008" cy="420624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19568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 Remove Duplicates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88920" y="195681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532,622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75888" y="195681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527,391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62856" y="195681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</a:rPr>
              <a:t>5,231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58968" y="195681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0.98%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340864"/>
            <a:ext cx="5989320" cy="420624"/>
          </a:xfrm>
          <a:prstGeom prst="rect">
            <a:avLst/>
          </a:prstGeom>
          <a:solidFill>
            <a:srgbClr val="0F2744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2340864"/>
            <a:ext cx="64008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" y="24323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3 Drop Null Customer ID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88920" y="243230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527,391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75888" y="243230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392,733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62856" y="243230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</a:rPr>
              <a:t>134,658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58968" y="243230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25.5%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2816352"/>
            <a:ext cx="5989320" cy="420624"/>
          </a:xfrm>
          <a:prstGeom prst="rect">
            <a:avLst/>
          </a:prstGeom>
          <a:solidFill>
            <a:srgbClr val="0D1E3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2816352"/>
            <a:ext cx="64008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4048" y="2907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4 Filter Qty/Price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88920" y="290779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392,733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75888" y="290779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392,693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62856" y="29077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</a:rPr>
              <a:t>40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58968" y="290779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0.01%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291840"/>
            <a:ext cx="5989320" cy="420624"/>
          </a:xfrm>
          <a:prstGeom prst="rect">
            <a:avLst/>
          </a:prstGeom>
          <a:solidFill>
            <a:srgbClr val="0F2744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4320" y="3291840"/>
            <a:ext cx="64008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84048" y="33832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5 IQR Outlier Removal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88920" y="33832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392,693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675888" y="33832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333,234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62856" y="33832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</a:rPr>
              <a:t>59,459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58968" y="33832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15.1%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3767328"/>
            <a:ext cx="5989320" cy="420624"/>
          </a:xfrm>
          <a:prstGeom prst="rect">
            <a:avLst/>
          </a:prstGeom>
          <a:solidFill>
            <a:srgbClr val="0F332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74320" y="3767328"/>
            <a:ext cx="64008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4048" y="38587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 Feature Engineering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88920" y="38587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333,234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675888" y="38587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</a:rPr>
              <a:t>333,234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62856" y="38587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</a:rPr>
              <a:t>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58968" y="385876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0%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4279392"/>
            <a:ext cx="59893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84048" y="43342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788920" y="43342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F7F5"/>
                </a:solidFill>
              </a:rPr>
              <a:t>541,910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675888" y="43342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333,234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62856" y="43342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208,676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458968" y="43342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38.5%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291072" y="1014984"/>
            <a:ext cx="2834640" cy="3648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73368" y="10424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0D9488"/>
                </a:solidFill>
              </a:rPr>
              <a:t>QUALITY SCORECARD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373368" y="14447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Completeness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373368" y="1719072"/>
            <a:ext cx="265176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373368" y="17190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75.1% → 100%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373368" y="2194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Validity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373368" y="2468880"/>
            <a:ext cx="26517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373368" y="2468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91.4% → 100%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373368" y="2944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Uniqueness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373368" y="3218688"/>
            <a:ext cx="26517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373368" y="32186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99.0% → 100%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373368" y="36941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Consistency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373368" y="3968496"/>
            <a:ext cx="265176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373368" y="39684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96.3% → 100%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336792" y="4279392"/>
            <a:ext cx="2788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053328" y="43342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OVERALL: 72.1% → 98.4%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/>
              <a:t>Output: cleaned_retail_data.csv  |  333,234 records  |  13 columns  |  UTF-8  |  Ready for EDA → Clustering → 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592</Words>
  <Application>Microsoft Office PowerPoint</Application>
  <PresentationFormat>On-screen Show (16:9)</PresentationFormat>
  <Paragraphs>189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ETL Pipeline — Online Retail II</dc:title>
  <dc:subject>PptxGenJS Presentation</dc:subject>
  <dc:creator>PptxGenJS</dc:creator>
  <cp:lastModifiedBy>KARUNARATHNA B D P A</cp:lastModifiedBy>
  <cp:revision>5</cp:revision>
  <dcterms:created xsi:type="dcterms:W3CDTF">2026-04-08T14:30:56Z</dcterms:created>
  <dcterms:modified xsi:type="dcterms:W3CDTF">2026-04-09T02:31:47Z</dcterms:modified>
</cp:coreProperties>
</file>