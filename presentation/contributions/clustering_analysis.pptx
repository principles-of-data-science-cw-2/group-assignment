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Analysis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02920" y="2240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· Demand Patterns · Service Performance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834640"/>
            <a:ext cx="4114800" cy="36576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3063240"/>
            <a:ext cx="3291840" cy="347472"/>
          </a:xfrm>
          <a:prstGeom prst="rect">
            <a:avLst/>
          </a:prstGeom>
          <a:solidFill>
            <a:srgbClr val="13204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30906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538728"/>
            <a:ext cx="3291840" cy="347472"/>
          </a:xfrm>
          <a:prstGeom prst="rect">
            <a:avLst/>
          </a:prstGeom>
          <a:solidFill>
            <a:srgbClr val="13204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3566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60520" y="3063240"/>
            <a:ext cx="3291840" cy="347472"/>
          </a:xfrm>
          <a:prstGeom prst="rect">
            <a:avLst/>
          </a:prstGeom>
          <a:solidFill>
            <a:srgbClr val="13204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51960" y="30906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Visualisation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60520" y="3538728"/>
            <a:ext cx="3291840" cy="347472"/>
          </a:xfrm>
          <a:prstGeom prst="rect">
            <a:avLst/>
          </a:prstGeom>
          <a:solidFill>
            <a:srgbClr val="13204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51960" y="3566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Analysis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32040"/>
          </a:solidFill>
          <a:ln w="12700">
            <a:solidFill>
              <a:srgbClr val="132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Transaction Data  |  4,191 Customers  ·  3,575 Products  ·  37 Countries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88920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15568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RFM-based K-Means &amp; Hierarchical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450592"/>
            <a:ext cx="2514600" cy="18288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032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4,124 customers (after outlier removal)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clusters: Loyal · Active · Occasional · Lapsed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= 0.762 — strong method agreement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18688" y="96012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960120"/>
            <a:ext cx="2788920" cy="10972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0128" y="1115568"/>
            <a:ext cx="457200" cy="45720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1430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55848" y="16642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Pattern 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55848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Product-Level RFM Clustering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55848" y="2450592"/>
            <a:ext cx="2514600" cy="18288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256032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3,575 products clustered into 3 tiers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Fast-moving · Steady · Slow-moving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analysis confirms product archetypes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63056" y="96012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63056" y="960120"/>
            <a:ext cx="2788920" cy="10972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54496" y="1115568"/>
            <a:ext cx="457200" cy="45720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11430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0216" y="16642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Performance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0216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K-Means &amp; Hierarchical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0216" y="2450592"/>
            <a:ext cx="2514600" cy="18288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0216" y="256032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countries across 3 performance tiers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· Growth · Developing markets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= 0.795 — strong method agreement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Applied:  K-Means  ·  Agglomerative / Ward  ·  StandardScaler  ·  PCA  ·  Silhouette Score  ·  ARI 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Customer Segmentation (RFM)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3474720" cy="1115568"/>
          </a:xfrm>
          <a:prstGeom prst="rect">
            <a:avLst/>
          </a:prstGeom>
          <a:solidFill>
            <a:srgbClr val="13204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078992"/>
            <a:ext cx="566928" cy="5669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9728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purchase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3474720" cy="1115568"/>
          </a:xfrm>
          <a:prstGeom prst="rect">
            <a:avLst/>
          </a:prstGeom>
          <a:solidFill>
            <a:srgbClr val="13204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" y="2377440"/>
            <a:ext cx="566928" cy="5669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39572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2395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7157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invoices placed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584448"/>
            <a:ext cx="3474720" cy="1115568"/>
          </a:xfrm>
          <a:prstGeom prst="rect">
            <a:avLst/>
          </a:prstGeom>
          <a:solidFill>
            <a:srgbClr val="13204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" y="3675888"/>
            <a:ext cx="566928" cy="5669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694176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36941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0142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generated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914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Profiles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298448"/>
          <a:ext cx="4754880" cy="2194560"/>
        </p:xfrm>
        <a:graphic>
          <a:graphicData uri="http://schemas.openxmlformats.org/drawingml/2006/table">
            <a:tbl>
              <a:tblPr/>
              <a:tblGrid>
                <a:gridCol w="502920"/>
                <a:gridCol w="1600200"/>
                <a:gridCol w="777240"/>
                <a:gridCol w="868680"/>
                <a:gridCol w="822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Cluster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Label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Recency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Frequency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Monetary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74F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Loyal High-Value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12.7d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14.5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74F"/>
                          </a:solidFill>
                        </a:rPr>
                        <a:t>£4,158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Active Regular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31.5d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6.6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£1,813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Occasional Buyers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50.0d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2.2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£457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Lapsed / At-Risk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250.8d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1.4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£285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114800" y="3703320"/>
            <a:ext cx="2194560" cy="1143000"/>
          </a:xfrm>
          <a:prstGeom prst="rect">
            <a:avLst/>
          </a:prstGeom>
          <a:solidFill>
            <a:srgbClr val="132040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114800" y="376732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3800" dirty="0"/>
          </a:p>
        </p:txBody>
      </p:sp>
      <p:sp>
        <p:nvSpPr>
          <p:cNvPr id="23" name="Text 20"/>
          <p:cNvSpPr/>
          <p:nvPr/>
        </p:nvSpPr>
        <p:spPr>
          <a:xfrm>
            <a:off x="4114800" y="43159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removed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(z-score &gt; 3)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675120" y="3703320"/>
            <a:ext cx="2194560" cy="1143000"/>
          </a:xfrm>
          <a:prstGeom prst="rect">
            <a:avLst/>
          </a:prstGeom>
          <a:solidFill>
            <a:srgbClr val="132040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675120" y="376732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0.762</a:t>
            </a:r>
            <a:endParaRPr lang="en-US" sz="3800" dirty="0"/>
          </a:p>
        </p:txBody>
      </p:sp>
      <p:sp>
        <p:nvSpPr>
          <p:cNvPr id="26" name="Text 23"/>
          <p:cNvSpPr/>
          <p:nvPr/>
        </p:nvSpPr>
        <p:spPr>
          <a:xfrm>
            <a:off x="6675120" y="43159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Rand Index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vs Hierarchical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1b — Hierarchical Clustering Validation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3931920" cy="91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Linkage Dendrogram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linkage minimises within-cluster variance at each merge step — the same objective as K-Means, making comparison meaningful.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34440" y="2423160"/>
            <a:ext cx="0" cy="41148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2423160"/>
            <a:ext cx="0" cy="41148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2423160"/>
            <a:ext cx="0" cy="41148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2423160"/>
            <a:ext cx="0" cy="91440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834640"/>
            <a:ext cx="13716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" y="2834640"/>
            <a:ext cx="137160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1992" y="2834640"/>
            <a:ext cx="146304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17320" y="3337560"/>
            <a:ext cx="1700784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72968"/>
            <a:ext cx="3657600" cy="0"/>
          </a:xfrm>
          <a:prstGeom prst="line">
            <a:avLst/>
          </a:prstGeom>
          <a:noFill/>
          <a:ln w="19050">
            <a:solidFill>
              <a:srgbClr val="E53935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383280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→ 4 clusters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3886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71016" y="3886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57984" y="3886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44952" y="3886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4160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dashed line shows the cut point producing 4 clusters — consistent with our K-Means k selection.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0" y="914400"/>
            <a:ext cx="43891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914400"/>
            <a:ext cx="4389120" cy="914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 Profiles (k=4)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481328"/>
          <a:ext cx="4114800" cy="155448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1005840"/>
                <a:gridCol w="1005840"/>
                <a:gridCol w="7315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Recency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Frequency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Monetary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14.5d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13.0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£3,658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309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49.9d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2.3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£517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2,082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241.6d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1.4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£267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1,064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25.8d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6.2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£1,609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74F"/>
                          </a:solidFill>
                        </a:rPr>
                        <a:t>669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2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4617720" y="3246120"/>
            <a:ext cx="4114800" cy="43891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09160" y="3273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= 0.762 — both methods agree on the core customer structure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617720" y="3776472"/>
            <a:ext cx="4114800" cy="43891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09160" y="38039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&amp; loyal segment is isolated consistently by both approaches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617720" y="4306824"/>
            <a:ext cx="4114800" cy="43891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09160" y="43342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preferred for scale; Hierarchical used as one-time validator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Demand Pattern Analysis (Product-Level)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960120"/>
            <a:ext cx="2798064" cy="3931920"/>
          </a:xfrm>
          <a:prstGeom prst="rect">
            <a:avLst/>
          </a:prstGeom>
          <a:solidFill>
            <a:srgbClr val="132040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60120"/>
            <a:ext cx="2798064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784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10512" y="9784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444752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High-Demand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Fast-Moving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1214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99032" y="21214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days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50545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99032" y="250545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475.8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88950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99032" y="288950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£7,698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10128"/>
            <a:ext cx="2578608" cy="18288"/>
          </a:xfrm>
          <a:prstGeom prst="rect">
            <a:avLst/>
          </a:prstGeom>
          <a:solidFill>
            <a:srgbClr val="2A4A7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64992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Keywords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56616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· JUMBO · LUNCH · RETROSPOT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895344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stock levels; prioritise with suppliers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960120"/>
            <a:ext cx="2798064" cy="3931920"/>
          </a:xfrm>
          <a:prstGeom prst="rect">
            <a:avLst/>
          </a:prstGeom>
          <a:solidFill>
            <a:srgbClr val="13204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960120"/>
            <a:ext cx="2798064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9784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9784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74.8%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310128" y="1444752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310128" y="21214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43400" y="21214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 days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10128" y="250545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43400" y="250545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10128" y="288950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43400" y="288950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£799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10128" y="3310128"/>
            <a:ext cx="2578608" cy="18288"/>
          </a:xfrm>
          <a:prstGeom prst="rect">
            <a:avLst/>
          </a:prstGeom>
          <a:solidFill>
            <a:srgbClr val="2A4A7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3364992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Keywords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10128" y="356616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HOLDER · DECORATION · VINTAGE · CANDLE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10128" y="3895344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Monitor; bundle with fast-movers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44768" y="960120"/>
            <a:ext cx="2798064" cy="3931920"/>
          </a:xfrm>
          <a:prstGeom prst="rect">
            <a:avLst/>
          </a:prstGeom>
          <a:solidFill>
            <a:srgbClr val="132040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44768" y="960120"/>
            <a:ext cx="2798064" cy="411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9784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99248" y="9784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17.7%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254496" y="1444752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Low-Demand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Slow-Moving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254496" y="21214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287768" y="21214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234.7 days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54496" y="250545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87768" y="250545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54496" y="288950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287768" y="288950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£157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54496" y="3310128"/>
            <a:ext cx="2578608" cy="18288"/>
          </a:xfrm>
          <a:prstGeom prst="rect">
            <a:avLst/>
          </a:prstGeom>
          <a:solidFill>
            <a:srgbClr val="2A4A7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54496" y="3364992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Keywords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54496" y="356616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· BRACELET · EASTER · GARDEN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54496" y="3895344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for markdown or discontinuation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Service Performance (Country-Level)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572768" cy="301752"/>
          </a:xfrm>
          <a:prstGeom prst="roundRect">
            <a:avLst>
              <a:gd name="adj" fmla="val 15152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52728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38528" y="1234440"/>
            <a:ext cx="1572768" cy="301752"/>
          </a:xfrm>
          <a:prstGeom prst="roundRect">
            <a:avLst>
              <a:gd name="adj" fmla="val 15152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84248" y="1252728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Orders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618488"/>
            <a:ext cx="1572768" cy="301752"/>
          </a:xfrm>
          <a:prstGeom prst="roundRect">
            <a:avLst>
              <a:gd name="adj" fmla="val 15152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36776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Customers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38528" y="1618488"/>
            <a:ext cx="1572768" cy="301752"/>
          </a:xfrm>
          <a:prstGeom prst="roundRect">
            <a:avLst>
              <a:gd name="adj" fmla="val 15152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4248" y="1636776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002536"/>
            <a:ext cx="1572768" cy="301752"/>
          </a:xfrm>
          <a:prstGeom prst="roundRect">
            <a:avLst>
              <a:gd name="adj" fmla="val 15152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020824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Basket Value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938528" y="2002536"/>
            <a:ext cx="1572768" cy="301752"/>
          </a:xfrm>
          <a:prstGeom prst="roundRect">
            <a:avLst>
              <a:gd name="adj" fmla="val 15152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84248" y="2020824"/>
            <a:ext cx="14813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Diversity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66160" y="914400"/>
            <a:ext cx="5303520" cy="126187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66160" y="914400"/>
            <a:ext cx="109728" cy="1261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67328" y="9875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 ·  Core Market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67328" y="12801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67328" y="1536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£3,680,989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1536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Orders: 15,144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42048" y="1536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Customers: 3,784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67328" y="18105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Dominant revenue; protect &amp; grow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66160" y="2304288"/>
            <a:ext cx="5303520" cy="1261872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66160" y="2304288"/>
            <a:ext cx="109728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67328" y="23774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  ·  Growth Markets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67328" y="267004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countries incl. Germany, France, EIRE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67328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£21,653 avg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04688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Orders: 61.7 avg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42048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Customers: 14 avg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67328" y="32004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Increase basket size; localise product-market fit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566160" y="3694176"/>
            <a:ext cx="5303520" cy="1261872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566160" y="3694176"/>
            <a:ext cx="109728" cy="12618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67328" y="37673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 ·  Developing Markets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767328" y="405993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countries incl. USA, Switzerland, Brazil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767328" y="43159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£5,550 avg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04688" y="43159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Orders: 7.9 avg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42048" y="43159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Customers: 4.5 avg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767328" y="45902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Investigate shipping/localisation barriers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3520440"/>
            <a:ext cx="3200400" cy="1371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74320" y="35844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0.795</a:t>
            </a:r>
            <a:endParaRPr lang="en-US" sz="4200" dirty="0"/>
          </a:p>
        </p:txBody>
      </p:sp>
      <p:sp>
        <p:nvSpPr>
          <p:cNvPr id="43" name="Text 41"/>
          <p:cNvSpPr/>
          <p:nvPr/>
        </p:nvSpPr>
        <p:spPr>
          <a:xfrm>
            <a:off x="27432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Rand Index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vs Hierarchical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Selection &amp; Validation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 Selection Summary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98448"/>
          <a:ext cx="8595360" cy="146304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463040"/>
                <a:gridCol w="1005840"/>
                <a:gridCol w="28346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Analysis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Silhouette Peak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Silhouette Score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Chosen 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Rationale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Customer Segmentation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k =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0.518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BCD4"/>
                          </a:solidFill>
                        </a:rPr>
                        <a:t>k = 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4 actionable segments for CRM strategy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Demand Patterns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k =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0.648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BCD4"/>
                          </a:solidFill>
                        </a:rPr>
                        <a:t>k =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3 demand tiers for inventory management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Service Performance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k =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EC5"/>
                          </a:solidFill>
                        </a:rPr>
                        <a:t>0.852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BCD4"/>
                          </a:solidFill>
                        </a:rPr>
                        <a:t>k =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3 market tiers for regional strategy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14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Agreement — Adjusted Rand Index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" y="3337560"/>
            <a:ext cx="2743200" cy="1508760"/>
          </a:xfrm>
          <a:prstGeom prst="rect">
            <a:avLst/>
          </a:prstGeom>
          <a:solidFill>
            <a:srgbClr val="132040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74320" y="34290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0.762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27432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" y="4407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agreement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18688" y="3337560"/>
            <a:ext cx="2743200" cy="1508760"/>
          </a:xfrm>
          <a:prstGeom prst="rect">
            <a:avLst/>
          </a:prstGeom>
          <a:solidFill>
            <a:srgbClr val="132040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18688" y="34290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0.795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3218688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Performance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18688" y="4407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agreement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63056" y="3337560"/>
            <a:ext cx="2743200" cy="1508760"/>
          </a:xfrm>
          <a:prstGeom prst="rect">
            <a:avLst/>
          </a:prstGeom>
          <a:solidFill>
            <a:srgbClr val="132040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163056" y="34290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0.7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6163056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for strong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63056" y="4407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analyses pass ✓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2070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09728" cy="1207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33272"/>
            <a:ext cx="109728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91640" y="1051560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VIP loyalty programme for Cluster 2 (Loyal High-Value — £4,158 avg spend)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campaigns targeting Cluster 1 lapsed customers (&gt;250 day recency)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313432"/>
            <a:ext cx="8595360" cy="1207008"/>
          </a:xfrm>
          <a:prstGeom prst="rect">
            <a:avLst/>
          </a:prstGeom>
          <a:solidFill>
            <a:srgbClr val="E0F2F1"/>
          </a:solidFill>
          <a:ln w="12700">
            <a:solidFill>
              <a:srgbClr val="80CB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313432"/>
            <a:ext cx="109728" cy="1207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386584"/>
            <a:ext cx="1097280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04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91640" y="2404872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higher supplier allocation for Cluster 1 fast-movers (BAG, JUMBO, LUNCH)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91640" y="2862072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slow-mover (Cluster 2) stock to free working capital &amp; improve cash flow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666744"/>
            <a:ext cx="8595360" cy="1207008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66744"/>
            <a:ext cx="109728" cy="1207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739896"/>
            <a:ext cx="1097280" cy="3200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581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91640" y="3758184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basket-size campaigns in Cluster 2 growth markets (26 countries)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91640" y="4215384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localisation barriers in Cluster 0 developing markets (10 countries)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analyses  ·  2 techniques per analysis  ·  4,124 customers  ·  3,575 products  ·  37 countries  ·  ARI validated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98064" cy="3200400"/>
          </a:xfrm>
          <a:prstGeom prst="rect">
            <a:avLst/>
          </a:prstGeom>
          <a:solidFill>
            <a:srgbClr val="132040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61872" y="1508760"/>
            <a:ext cx="822960" cy="82296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1872" y="1536192"/>
            <a:ext cx="822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45059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907792"/>
            <a:ext cx="2340864" cy="27432"/>
          </a:xfrm>
          <a:prstGeom prst="rect">
            <a:avLst/>
          </a:prstGeom>
          <a:solidFill>
            <a:srgbClr val="2A4A7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99232"/>
            <a:ext cx="2523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&amp; Hierarchical (k=4) identified 4 RFM archetypes — Loyal, Active, Occasional, Lapsed — validated by ARI 0.762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1417320"/>
            <a:ext cx="2798064" cy="3200400"/>
          </a:xfrm>
          <a:prstGeom prst="rect">
            <a:avLst/>
          </a:prstGeom>
          <a:solidFill>
            <a:srgbClr val="132040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0" y="1508760"/>
            <a:ext cx="822960" cy="82296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536192"/>
            <a:ext cx="822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55848" y="245059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Pattern Analysis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47288" y="2907792"/>
            <a:ext cx="2340864" cy="27432"/>
          </a:xfrm>
          <a:prstGeom prst="rect">
            <a:avLst/>
          </a:prstGeom>
          <a:solidFill>
            <a:srgbClr val="2A4A7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2999232"/>
            <a:ext cx="2523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(k=3) tiered 3,575 products into fast-moving, steady, and slow-moving — confirmed by product keyword analysis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63056" y="1417320"/>
            <a:ext cx="2798064" cy="3200400"/>
          </a:xfrm>
          <a:prstGeom prst="rect">
            <a:avLst/>
          </a:prstGeom>
          <a:solidFill>
            <a:srgbClr val="132040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50608" y="1508760"/>
            <a:ext cx="822960" cy="82296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0608" y="1536192"/>
            <a:ext cx="822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00216" y="245059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Performance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91656" y="2907792"/>
            <a:ext cx="2340864" cy="27432"/>
          </a:xfrm>
          <a:prstGeom prst="rect">
            <a:avLst/>
          </a:prstGeom>
          <a:solidFill>
            <a:srgbClr val="2A4A7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0216" y="2999232"/>
            <a:ext cx="2523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&amp; Hierarchical (k=3) grouped 37 countries into Core, Growth, and Developing tiers — validated by ARI 0.795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K-Means and Hierarchical Clustering were applied to all three analyses, with ARI validation confirming the robustness of the segmentation.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Clustering Analysis</dc:title>
  <dc:subject>PptxGenJS Presentation</dc:subject>
  <dc:creator>PptxGenJS</dc:creator>
  <cp:lastModifiedBy>PptxGenJS</cp:lastModifiedBy>
  <cp:revision>1</cp:revision>
  <dcterms:created xsi:type="dcterms:W3CDTF">2026-04-07T21:08:10Z</dcterms:created>
  <dcterms:modified xsi:type="dcterms:W3CDTF">2026-04-07T21:08:10Z</dcterms:modified>
</cp:coreProperties>
</file>