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127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</a:rPr>
              <a:t>PRINCIPLES OF DATA SCIENCE — 7144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0C4D8"/>
                </a:solidFill>
              </a:rPr>
              <a:t>Online Retail II Dataset  |  Dec 2010 – Dec 2011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3657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920240" cy="1188720"/>
          </a:xfrm>
          <a:prstGeom prst="rect">
            <a:avLst/>
          </a:prstGeom>
          <a:solidFill>
            <a:srgbClr val="102840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9077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333K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D8"/>
                </a:solidFill>
              </a:rPr>
              <a:t>Transactions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2834640"/>
            <a:ext cx="1920240" cy="1188720"/>
          </a:xfrm>
          <a:prstGeom prst="rect">
            <a:avLst/>
          </a:prstGeom>
          <a:solidFill>
            <a:srgbClr val="102840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29077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£4.3M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1460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D8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1920240" cy="1188720"/>
          </a:xfrm>
          <a:prstGeom prst="rect">
            <a:avLst/>
          </a:prstGeom>
          <a:solidFill>
            <a:srgbClr val="102840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9077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37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D8"/>
                </a:solidFill>
              </a:rPr>
              <a:t>Countries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2834640"/>
            <a:ext cx="1920240" cy="1188720"/>
          </a:xfrm>
          <a:prstGeom prst="rect">
            <a:avLst/>
          </a:prstGeom>
          <a:solidFill>
            <a:srgbClr val="102840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290779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4,300+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1228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D8"/>
                </a:solidFill>
              </a:rPr>
              <a:t>Customers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8A"/>
                </a:solidFill>
              </a:rPr>
              <a:t>Coventry University — NIBM Campus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EDA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0292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0332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Descriptive Statistics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Central tendency, spread, skew &amp; kurtosis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50292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371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94760" y="10332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Revenue Trends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4760" y="14630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Monthly &amp; seasonal time-series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868680"/>
            <a:ext cx="50292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3716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10332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Product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14630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Top products by revenue &amp; units sold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50292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2918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295351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Customer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3832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RFM framework &amp; purchase frequency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7889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2788920"/>
            <a:ext cx="50292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0" y="32918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94760" y="295351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Geographic Analysis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94760" y="33832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UK dominance &amp; international markets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7889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2788920"/>
            <a:ext cx="50292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26480" y="32918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20840" y="295351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Correlation &amp; Anomalies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33832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Feature relationships &amp; outlier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Section 2 — Descriptive Statistics</a:t>
            </a:r>
            <a:endParaRPr lang="en-US" sz="2200" dirty="0"/>
          </a:p>
        </p:txBody>
      </p:sp>
      <p:pic>
        <p:nvPicPr>
          <p:cNvPr id="4" name="Image 0" descr="/home/claude/eda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303520" cy="329184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760720" y="804672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60720" y="804672"/>
            <a:ext cx="73152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0" y="841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7.55 units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0" y="12252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Mean Quantity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1810512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60720" y="1810512"/>
            <a:ext cx="73152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0" y="18470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£2.19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0" y="22311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Mean Price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816352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60720" y="2816352"/>
            <a:ext cx="73152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43600" y="2852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£12.90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43600" y="3236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Mean Revenue/Txn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3822192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760720" y="3822192"/>
            <a:ext cx="73152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43600" y="38587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All 3 variables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943600" y="42428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Right Skew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Histograms show right-skewed distributions — most transactions are small value with few high-value outliers.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Section 3 — Revenue Trends</a:t>
            </a:r>
            <a:endParaRPr lang="en-US" sz="2200" dirty="0"/>
          </a:p>
        </p:txBody>
      </p:sp>
      <p:pic>
        <p:nvPicPr>
          <p:cNvPr id="4" name="Image 0" descr="/home/claude/eda_monthly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8595360" cy="274320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5" name="Image 1" descr="/home/claude/eda_orders_vs_re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611880"/>
            <a:ext cx="8595360" cy="137160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Peak: £642,985 in November 2011  |  3-Month Rolling Average confirms sustained Q4 growth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Temporal Demand Patterns</a:t>
            </a:r>
            <a:endParaRPr lang="en-US" sz="2200" dirty="0"/>
          </a:p>
        </p:txBody>
      </p:sp>
      <p:pic>
        <p:nvPicPr>
          <p:cNvPr id="4" name="Image 0" descr="/home/claude/eda_temporal_patte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8595360" cy="320040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4069080"/>
            <a:ext cx="27432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20040" y="4160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📅  Thursday is peak revenue day — £0.93M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00400" y="4069080"/>
            <a:ext cx="27432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46120" y="4160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⏰  Peak hour: 12:00 noon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4069080"/>
            <a:ext cx="27432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72200" y="4160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📉  Saturday shows zero — B2B wholesale pattern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Section 4 — Product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By Revenue</a:t>
            </a:r>
            <a:endParaRPr lang="en-US" sz="1200" dirty="0"/>
          </a:p>
        </p:txBody>
      </p:sp>
      <p:pic>
        <p:nvPicPr>
          <p:cNvPr id="5" name="Image 0" descr="/home/claude/eda_top_products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4480560" cy="256032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84632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By Units Sold</a:t>
            </a:r>
            <a:endParaRPr lang="en-US" sz="1200" dirty="0"/>
          </a:p>
        </p:txBody>
      </p:sp>
      <p:pic>
        <p:nvPicPr>
          <p:cNvPr id="7" name="Image 1" descr="/home/claude/eda_top_products_quant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60120"/>
            <a:ext cx="4114800" cy="256032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8" name="Image 2" descr="/home/claude/eda_price_b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611880"/>
            <a:ext cx="8595360" cy="137160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PARTY BUNTING tops revenue (£34,953)  |  PACK OF 72 RETROSPOT CAKE CASES leads by units  |  £1–3 band drives highest volume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Section 5 — Customer Analysis</a:t>
            </a:r>
            <a:endParaRPr lang="en-US" sz="2200" dirty="0"/>
          </a:p>
        </p:txBody>
      </p:sp>
      <p:pic>
        <p:nvPicPr>
          <p:cNvPr id="4" name="Image 0" descr="/home/claude/eda_top_custom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4206240" cy="228600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5" name="Image 1" descr="/home/claude/eda_customer_frequ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749808"/>
            <a:ext cx="4206240" cy="228600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6" name="Image 2" descr="/home/claude/eda_rfm_distribu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108960"/>
            <a:ext cx="8595360" cy="182880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7" name="Text 2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Customer 14911 alone generates £85K+  |  45% of customers place 2–5 orders  |  Mean Recency: 93 days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Section 6 — Geographic Analysis</a:t>
            </a:r>
            <a:endParaRPr lang="en-US" sz="2200" dirty="0"/>
          </a:p>
        </p:txBody>
      </p:sp>
      <p:pic>
        <p:nvPicPr>
          <p:cNvPr id="4" name="Image 0" descr="/home/claude/eda_ge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5669280" cy="260604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5" name="Image 1" descr="/home/claude/eda_market_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749808"/>
            <a:ext cx="2834640" cy="301752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274320" y="3474720"/>
            <a:ext cx="1737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274320" y="35478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85.6%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274320" y="4133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</a:rPr>
              <a:t>UK Revenue Share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194560" y="3474720"/>
            <a:ext cx="1737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2194560" y="35478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Germany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194560" y="4133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</a:rPr>
              <a:t>Top Intl Market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0" y="3474720"/>
            <a:ext cx="1737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114800" y="35478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37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114800" y="4133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C4D8"/>
                </a:solidFill>
              </a:rPr>
              <a:t>Total Countries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UK dominates at 85.6% — Germany, France &amp; EIRE are the key international growth markets.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Section 7 — Correlation Analysis</a:t>
            </a:r>
            <a:endParaRPr lang="en-US" sz="2200" dirty="0"/>
          </a:p>
        </p:txBody>
      </p:sp>
      <p:pic>
        <p:nvPicPr>
          <p:cNvPr id="4" name="Image 0" descr="/home/claude/eda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3200400" cy="283464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5" name="Image 1" descr="/home/claude/eda_scatter_relationshi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749808"/>
            <a:ext cx="5303520" cy="228600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6" name="Image 2" descr="/home/claude/eda_pair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108960"/>
            <a:ext cx="5303520" cy="182880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7" name="Shape 2"/>
          <p:cNvSpPr/>
          <p:nvPr/>
        </p:nvSpPr>
        <p:spPr>
          <a:xfrm>
            <a:off x="274320" y="3703320"/>
            <a:ext cx="3200400" cy="347472"/>
          </a:xfrm>
          <a:prstGeom prst="rect">
            <a:avLst/>
          </a:prstGeom>
          <a:solidFill>
            <a:srgbClr val="EAF3FA"/>
          </a:solidFill>
          <a:ln w="12700">
            <a:solidFill>
              <a:srgbClr val="D1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/>
          <p:nvPr/>
        </p:nvSpPr>
        <p:spPr>
          <a:xfrm>
            <a:off x="365760" y="37216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Qty ↔ Revenue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2606040" y="37216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5A82"/>
                </a:solidFill>
              </a:rPr>
              <a:t>0.513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274320" y="4142232"/>
            <a:ext cx="3200400" cy="347472"/>
          </a:xfrm>
          <a:prstGeom prst="rect">
            <a:avLst/>
          </a:prstGeom>
          <a:solidFill>
            <a:srgbClr val="EAF3FA"/>
          </a:solidFill>
          <a:ln w="12700">
            <a:solidFill>
              <a:srgbClr val="D1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365760" y="4160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Price ↔ Revenue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2606040" y="4160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7293"/>
                </a:solidFill>
              </a:rPr>
              <a:t>0.358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274320" y="4581144"/>
            <a:ext cx="3200400" cy="347472"/>
          </a:xfrm>
          <a:prstGeom prst="rect">
            <a:avLst/>
          </a:prstGeom>
          <a:solidFill>
            <a:srgbClr val="EAF3FA"/>
          </a:solidFill>
          <a:ln w="12700">
            <a:solidFill>
              <a:srgbClr val="D1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365760" y="4599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Month ↔ Revenue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2606040" y="45994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-0.027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Section 8 — Anomaly Detection &amp; Pareto Analysis</a:t>
            </a:r>
            <a:endParaRPr lang="en-US" sz="2200" dirty="0"/>
          </a:p>
        </p:txBody>
      </p:sp>
      <p:pic>
        <p:nvPicPr>
          <p:cNvPr id="4" name="Image 0" descr="/home/claude/eda_anomal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8595360" cy="219456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pic>
        <p:nvPicPr>
          <p:cNvPr id="5" name="Image 1" descr="/home/claude/eda_pare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063240"/>
            <a:ext cx="8595360" cy="192024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Threshold: Mean + 3σ = £53  |  Pareto: Top 20% customers → ~65% of revenue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EDA Summary Dashboard</a:t>
            </a:r>
            <a:endParaRPr lang="en-US" sz="2200" dirty="0"/>
          </a:p>
        </p:txBody>
      </p:sp>
      <p:pic>
        <p:nvPicPr>
          <p:cNvPr id="4" name="Image 0" descr="/home/claude/eda_summary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8595360" cy="416052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All 6 key dimensions captured: Revenue Trend | Top Products | Day Pattern | Customer Frequency | Geography | Correlation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Insights &amp; 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64008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778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📈 Q4 Peak Demand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Revenue spikes in Oct–Nov. Focus marketing budget on this window for maximum ROI.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64008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778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👑 Pareto Customer Base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6187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Top 20% customers generate ~65% of revenue. Prioritise VIP retention programs.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2199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221992"/>
            <a:ext cx="64008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2951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🌍 UK Dominance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67919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UK = 85.6% of revenue. Germany, France &amp; EIRE are highest-potential intl. markets.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22199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221992"/>
            <a:ext cx="64008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22951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⏰ Peak Hours &amp; Days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67919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Thursday 12pm is peak. Schedule promotions &amp; emails around this window.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3931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64008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7124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📦 Mid-Range Price Sweet Spot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09651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£1–3 items drive volume. PARTY BUNTING leads revenue — stock &amp; promote heavily.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3931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639312"/>
            <a:ext cx="64008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71246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🔍 Anomaly Investigation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09651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Q4 bulk orders (&gt;£53 threshold) may indicate B2B segment — worth separate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2743200" y="2535174"/>
            <a:ext cx="3657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</Words>
  <Application>Microsoft Office PowerPoint</Application>
  <PresentationFormat>On-screen Show (16:9)</PresentationFormat>
  <Paragraphs>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— Online Retail II</dc:title>
  <dc:subject>PptxGenJS Presentation</dc:subject>
  <dc:creator>Anuradha</dc:creator>
  <cp:lastModifiedBy>DHANANJANEE D A</cp:lastModifiedBy>
  <cp:revision>3</cp:revision>
  <dcterms:created xsi:type="dcterms:W3CDTF">2026-03-21T18:59:08Z</dcterms:created>
  <dcterms:modified xsi:type="dcterms:W3CDTF">2026-04-09T16:26:20Z</dcterms:modified>
</cp:coreProperties>
</file>