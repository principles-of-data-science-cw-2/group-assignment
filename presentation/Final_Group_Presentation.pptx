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 name="Google Shape;4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4" name="Google Shape;4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 name="Google Shape;112;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3" name="Google Shape;113;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3" name="Google Shape;163;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32" name="Google Shape;23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9" name="Google Shape;289;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0" name="Google Shape;290;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3" name="Google Shape;34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1" name="Google Shape;421;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22" name="Google Shape;422;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1" name="Google Shape;491;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92" name="Google Shape;492;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2" name="Google Shape;55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53" name="Google Shape;553;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1" name="Google Shape;64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2" name="Google Shape;642;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8" name="Google Shape;768;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9" name="Google Shape;769;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3" name="Google Shape;81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14" name="Google Shape;814;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60" name="Google Shape;860;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0" name="Google Shape;95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51" name="Google Shape;95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9" name="Google Shape;99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00" name="Google Shape;1000;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3" name="Google Shape;1073;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74" name="Google Shape;1074;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0" name="Google Shape;1130;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31" name="Google Shape;1131;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6" name="Google Shape;117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77" name="Google Shape;1177;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8" name="Google Shape;1248;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49" name="Google Shape;1249;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1" name="Google Shape;1281;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82" name="Google Shape;1282;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1"/>
        <p:cNvGrpSpPr/>
        <p:nvPr/>
      </p:nvGrpSpPr>
      <p:grpSpPr>
        <a:xfrm>
          <a:off x="0" y="0"/>
          <a:ext cx="0" cy="0"/>
          <a:chOff x="0" y="0"/>
          <a:chExt cx="0" cy="0"/>
        </a:xfrm>
      </p:grpSpPr>
      <p:sp>
        <p:nvSpPr>
          <p:cNvPr id="12" name="Google Shape;12;p3"/>
          <p:cNvSpPr/>
          <p:nvPr/>
        </p:nvSpPr>
        <p:spPr>
          <a:xfrm>
            <a:off x="5943600" y="-731520"/>
            <a:ext cx="4572000" cy="4572000"/>
          </a:xfrm>
          <a:prstGeom prst="ellipse">
            <a:avLst/>
          </a:prstGeom>
          <a:solidFill>
            <a:srgbClr val="0D9488">
              <a:alpha val="10196"/>
            </a:srgbClr>
          </a:solidFill>
          <a:ln w="12700" cap="flat" cmpd="sng">
            <a:solidFill>
              <a:srgbClr val="0D9488">
                <a:alpha val="14901"/>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3"/>
          <p:cNvSpPr/>
          <p:nvPr/>
        </p:nvSpPr>
        <p:spPr>
          <a:xfrm>
            <a:off x="7315200" y="2926080"/>
            <a:ext cx="2743200" cy="2743200"/>
          </a:xfrm>
          <a:prstGeom prst="ellipse">
            <a:avLst/>
          </a:prstGeom>
          <a:solidFill>
            <a:srgbClr val="06B6D4">
              <a:alpha val="7843"/>
            </a:srgbClr>
          </a:solidFill>
          <a:ln w="12700" cap="flat" cmpd="sng">
            <a:solidFill>
              <a:srgbClr val="06B6D4">
                <a:alpha val="1215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3"/>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3"/>
          <p:cNvSpPr/>
          <p:nvPr/>
        </p:nvSpPr>
        <p:spPr>
          <a:xfrm>
            <a:off x="365760" y="640080"/>
            <a:ext cx="3200400" cy="2926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3"/>
          <p:cNvSpPr/>
          <p:nvPr/>
        </p:nvSpPr>
        <p:spPr>
          <a:xfrm>
            <a:off x="365760" y="640080"/>
            <a:ext cx="320040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GROUP ASSIGNMENT — PRINCIPLES OF DATA SCIENCE 7144</a:t>
            </a:r>
            <a:endParaRPr sz="750">
              <a:solidFill>
                <a:schemeClr val="dk1"/>
              </a:solidFill>
              <a:latin typeface="Calibri"/>
              <a:ea typeface="Calibri"/>
              <a:cs typeface="Calibri"/>
              <a:sym typeface="Calibri"/>
            </a:endParaRPr>
          </a:p>
        </p:txBody>
      </p:sp>
      <p:sp>
        <p:nvSpPr>
          <p:cNvPr id="17" name="Google Shape;17;p3"/>
          <p:cNvSpPr/>
          <p:nvPr/>
        </p:nvSpPr>
        <p:spPr>
          <a:xfrm>
            <a:off x="365760" y="1078992"/>
            <a:ext cx="73152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200"/>
              <a:buFont typeface="Calibri"/>
              <a:buNone/>
            </a:pPr>
            <a:r>
              <a:rPr lang="en-US" sz="5200" b="1">
                <a:solidFill>
                  <a:srgbClr val="FFFFFF"/>
                </a:solidFill>
                <a:latin typeface="Calibri"/>
                <a:ea typeface="Calibri"/>
                <a:cs typeface="Calibri"/>
                <a:sym typeface="Calibri"/>
              </a:rPr>
              <a:t>Online Retail II</a:t>
            </a:r>
            <a:endParaRPr sz="5200">
              <a:solidFill>
                <a:schemeClr val="dk1"/>
              </a:solidFill>
              <a:latin typeface="Calibri"/>
              <a:ea typeface="Calibri"/>
              <a:cs typeface="Calibri"/>
              <a:sym typeface="Calibri"/>
            </a:endParaRPr>
          </a:p>
        </p:txBody>
      </p:sp>
      <p:sp>
        <p:nvSpPr>
          <p:cNvPr id="18" name="Google Shape;18;p3"/>
          <p:cNvSpPr/>
          <p:nvPr/>
        </p:nvSpPr>
        <p:spPr>
          <a:xfrm>
            <a:off x="365760" y="1920240"/>
            <a:ext cx="7315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F3FC"/>
              </a:buClr>
              <a:buSzPts val="2000"/>
              <a:buFont typeface="Calibri"/>
              <a:buNone/>
            </a:pPr>
            <a:r>
              <a:rPr lang="en-US" sz="2000">
                <a:solidFill>
                  <a:srgbClr val="A5F3FC"/>
                </a:solidFill>
                <a:latin typeface="Calibri"/>
                <a:ea typeface="Calibri"/>
                <a:cs typeface="Calibri"/>
                <a:sym typeface="Calibri"/>
              </a:rPr>
              <a:t>Data Analysis &amp; Operations Improvement Pipeline</a:t>
            </a:r>
            <a:endParaRPr sz="2000">
              <a:solidFill>
                <a:schemeClr val="dk1"/>
              </a:solidFill>
              <a:latin typeface="Calibri"/>
              <a:ea typeface="Calibri"/>
              <a:cs typeface="Calibri"/>
              <a:sym typeface="Calibri"/>
            </a:endParaRPr>
          </a:p>
        </p:txBody>
      </p:sp>
      <p:sp>
        <p:nvSpPr>
          <p:cNvPr id="19" name="Google Shape;19;p3"/>
          <p:cNvSpPr/>
          <p:nvPr/>
        </p:nvSpPr>
        <p:spPr>
          <a:xfrm>
            <a:off x="365760" y="2542032"/>
            <a:ext cx="4114800" cy="36576"/>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3"/>
          <p:cNvSpPr/>
          <p:nvPr/>
        </p:nvSpPr>
        <p:spPr>
          <a:xfrm>
            <a:off x="365760" y="2706624"/>
            <a:ext cx="12801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00"/>
              <a:buFont typeface="Calibri"/>
              <a:buNone/>
            </a:pPr>
            <a:r>
              <a:rPr lang="en-US" sz="800" b="1">
                <a:solidFill>
                  <a:srgbClr val="0D9488"/>
                </a:solidFill>
                <a:latin typeface="Calibri"/>
                <a:ea typeface="Calibri"/>
                <a:cs typeface="Calibri"/>
                <a:sym typeface="Calibri"/>
              </a:rPr>
              <a:t>MODULE</a:t>
            </a:r>
            <a:endParaRPr sz="800">
              <a:solidFill>
                <a:schemeClr val="dk1"/>
              </a:solidFill>
              <a:latin typeface="Calibri"/>
              <a:ea typeface="Calibri"/>
              <a:cs typeface="Calibri"/>
              <a:sym typeface="Calibri"/>
            </a:endParaRPr>
          </a:p>
        </p:txBody>
      </p:sp>
      <p:sp>
        <p:nvSpPr>
          <p:cNvPr id="21" name="Google Shape;21;p3"/>
          <p:cNvSpPr/>
          <p:nvPr/>
        </p:nvSpPr>
        <p:spPr>
          <a:xfrm>
            <a:off x="1691640" y="2706624"/>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Principles of Data Science (7144)</a:t>
            </a:r>
            <a:endParaRPr sz="1150">
              <a:solidFill>
                <a:schemeClr val="dk1"/>
              </a:solidFill>
              <a:latin typeface="Calibri"/>
              <a:ea typeface="Calibri"/>
              <a:cs typeface="Calibri"/>
              <a:sym typeface="Calibri"/>
            </a:endParaRPr>
          </a:p>
        </p:txBody>
      </p:sp>
      <p:sp>
        <p:nvSpPr>
          <p:cNvPr id="22" name="Google Shape;22;p3"/>
          <p:cNvSpPr/>
          <p:nvPr/>
        </p:nvSpPr>
        <p:spPr>
          <a:xfrm>
            <a:off x="365760" y="3044952"/>
            <a:ext cx="12801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00"/>
              <a:buFont typeface="Calibri"/>
              <a:buNone/>
            </a:pPr>
            <a:r>
              <a:rPr lang="en-US" sz="800" b="1">
                <a:solidFill>
                  <a:srgbClr val="0D9488"/>
                </a:solidFill>
                <a:latin typeface="Calibri"/>
                <a:ea typeface="Calibri"/>
                <a:cs typeface="Calibri"/>
                <a:sym typeface="Calibri"/>
              </a:rPr>
              <a:t>INSTITUTION</a:t>
            </a:r>
            <a:endParaRPr sz="800">
              <a:solidFill>
                <a:schemeClr val="dk1"/>
              </a:solidFill>
              <a:latin typeface="Calibri"/>
              <a:ea typeface="Calibri"/>
              <a:cs typeface="Calibri"/>
              <a:sym typeface="Calibri"/>
            </a:endParaRPr>
          </a:p>
        </p:txBody>
      </p:sp>
      <p:sp>
        <p:nvSpPr>
          <p:cNvPr id="23" name="Google Shape;23;p3"/>
          <p:cNvSpPr/>
          <p:nvPr/>
        </p:nvSpPr>
        <p:spPr>
          <a:xfrm>
            <a:off x="1691640" y="3044952"/>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Coventry University — NIBM Campus</a:t>
            </a:r>
            <a:endParaRPr sz="1150">
              <a:solidFill>
                <a:schemeClr val="dk1"/>
              </a:solidFill>
              <a:latin typeface="Calibri"/>
              <a:ea typeface="Calibri"/>
              <a:cs typeface="Calibri"/>
              <a:sym typeface="Calibri"/>
            </a:endParaRPr>
          </a:p>
        </p:txBody>
      </p:sp>
      <p:sp>
        <p:nvSpPr>
          <p:cNvPr id="24" name="Google Shape;24;p3"/>
          <p:cNvSpPr/>
          <p:nvPr/>
        </p:nvSpPr>
        <p:spPr>
          <a:xfrm>
            <a:off x="365760" y="3383280"/>
            <a:ext cx="12801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00"/>
              <a:buFont typeface="Calibri"/>
              <a:buNone/>
            </a:pPr>
            <a:r>
              <a:rPr lang="en-US" sz="800" b="1">
                <a:solidFill>
                  <a:srgbClr val="0D9488"/>
                </a:solidFill>
                <a:latin typeface="Calibri"/>
                <a:ea typeface="Calibri"/>
                <a:cs typeface="Calibri"/>
                <a:sym typeface="Calibri"/>
              </a:rPr>
              <a:t>DATASET</a:t>
            </a:r>
            <a:endParaRPr sz="800">
              <a:solidFill>
                <a:schemeClr val="dk1"/>
              </a:solidFill>
              <a:latin typeface="Calibri"/>
              <a:ea typeface="Calibri"/>
              <a:cs typeface="Calibri"/>
              <a:sym typeface="Calibri"/>
            </a:endParaRPr>
          </a:p>
        </p:txBody>
      </p:sp>
      <p:sp>
        <p:nvSpPr>
          <p:cNvPr id="25" name="Google Shape;25;p3"/>
          <p:cNvSpPr/>
          <p:nvPr/>
        </p:nvSpPr>
        <p:spPr>
          <a:xfrm>
            <a:off x="1691640" y="3383280"/>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Online Retail II  |  Kaggle  |  Dec 2010 – Dec 2011</a:t>
            </a:r>
            <a:endParaRPr sz="1150">
              <a:solidFill>
                <a:schemeClr val="dk1"/>
              </a:solidFill>
              <a:latin typeface="Calibri"/>
              <a:ea typeface="Calibri"/>
              <a:cs typeface="Calibri"/>
              <a:sym typeface="Calibri"/>
            </a:endParaRPr>
          </a:p>
        </p:txBody>
      </p:sp>
      <p:sp>
        <p:nvSpPr>
          <p:cNvPr id="26" name="Google Shape;26;p3"/>
          <p:cNvSpPr/>
          <p:nvPr/>
        </p:nvSpPr>
        <p:spPr>
          <a:xfrm>
            <a:off x="292608" y="4315968"/>
            <a:ext cx="1600200" cy="658368"/>
          </a:xfrm>
          <a:prstGeom prst="rect">
            <a:avLst/>
          </a:prstGeom>
          <a:solidFill>
            <a:srgbClr val="FFFFFF">
              <a:alpha val="7843"/>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27;p3"/>
          <p:cNvSpPr/>
          <p:nvPr/>
        </p:nvSpPr>
        <p:spPr>
          <a:xfrm>
            <a:off x="292608" y="4361688"/>
            <a:ext cx="1600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500"/>
              <a:buFont typeface="Calibri"/>
              <a:buNone/>
            </a:pPr>
            <a:r>
              <a:rPr lang="en-US" sz="1500" b="1">
                <a:solidFill>
                  <a:srgbClr val="0D9488"/>
                </a:solidFill>
                <a:latin typeface="Calibri"/>
                <a:ea typeface="Calibri"/>
                <a:cs typeface="Calibri"/>
                <a:sym typeface="Calibri"/>
              </a:rPr>
              <a:t>541,910</a:t>
            </a:r>
            <a:endParaRPr sz="1500">
              <a:solidFill>
                <a:schemeClr val="dk1"/>
              </a:solidFill>
              <a:latin typeface="Calibri"/>
              <a:ea typeface="Calibri"/>
              <a:cs typeface="Calibri"/>
              <a:sym typeface="Calibri"/>
            </a:endParaRPr>
          </a:p>
        </p:txBody>
      </p:sp>
      <p:sp>
        <p:nvSpPr>
          <p:cNvPr id="28" name="Google Shape;28;p3"/>
          <p:cNvSpPr/>
          <p:nvPr/>
        </p:nvSpPr>
        <p:spPr>
          <a:xfrm>
            <a:off x="292608" y="4672584"/>
            <a:ext cx="16002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Raw Records</a:t>
            </a:r>
            <a:endParaRPr sz="900">
              <a:solidFill>
                <a:schemeClr val="dk1"/>
              </a:solidFill>
              <a:latin typeface="Calibri"/>
              <a:ea typeface="Calibri"/>
              <a:cs typeface="Calibri"/>
              <a:sym typeface="Calibri"/>
            </a:endParaRPr>
          </a:p>
        </p:txBody>
      </p:sp>
      <p:sp>
        <p:nvSpPr>
          <p:cNvPr id="29" name="Google Shape;29;p3"/>
          <p:cNvSpPr/>
          <p:nvPr/>
        </p:nvSpPr>
        <p:spPr>
          <a:xfrm>
            <a:off x="2011680" y="4315968"/>
            <a:ext cx="1600200" cy="658368"/>
          </a:xfrm>
          <a:prstGeom prst="rect">
            <a:avLst/>
          </a:prstGeom>
          <a:solidFill>
            <a:srgbClr val="FFFFFF">
              <a:alpha val="7843"/>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3"/>
          <p:cNvSpPr/>
          <p:nvPr/>
        </p:nvSpPr>
        <p:spPr>
          <a:xfrm>
            <a:off x="2011680" y="4361688"/>
            <a:ext cx="1600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500"/>
              <a:buFont typeface="Calibri"/>
              <a:buNone/>
            </a:pPr>
            <a:r>
              <a:rPr lang="en-US" sz="1500" b="1">
                <a:solidFill>
                  <a:srgbClr val="0D9488"/>
                </a:solidFill>
                <a:latin typeface="Calibri"/>
                <a:ea typeface="Calibri"/>
                <a:cs typeface="Calibri"/>
                <a:sym typeface="Calibri"/>
              </a:rPr>
              <a:t>333,234</a:t>
            </a:r>
            <a:endParaRPr sz="1500">
              <a:solidFill>
                <a:schemeClr val="dk1"/>
              </a:solidFill>
              <a:latin typeface="Calibri"/>
              <a:ea typeface="Calibri"/>
              <a:cs typeface="Calibri"/>
              <a:sym typeface="Calibri"/>
            </a:endParaRPr>
          </a:p>
        </p:txBody>
      </p:sp>
      <p:sp>
        <p:nvSpPr>
          <p:cNvPr id="31" name="Google Shape;31;p3"/>
          <p:cNvSpPr/>
          <p:nvPr/>
        </p:nvSpPr>
        <p:spPr>
          <a:xfrm>
            <a:off x="2011680" y="4672584"/>
            <a:ext cx="16002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Clean Records</a:t>
            </a:r>
            <a:endParaRPr sz="900">
              <a:solidFill>
                <a:schemeClr val="dk1"/>
              </a:solidFill>
              <a:latin typeface="Calibri"/>
              <a:ea typeface="Calibri"/>
              <a:cs typeface="Calibri"/>
              <a:sym typeface="Calibri"/>
            </a:endParaRPr>
          </a:p>
        </p:txBody>
      </p:sp>
      <p:sp>
        <p:nvSpPr>
          <p:cNvPr id="32" name="Google Shape;32;p3"/>
          <p:cNvSpPr/>
          <p:nvPr/>
        </p:nvSpPr>
        <p:spPr>
          <a:xfrm>
            <a:off x="3730752" y="4315968"/>
            <a:ext cx="1600200" cy="658368"/>
          </a:xfrm>
          <a:prstGeom prst="rect">
            <a:avLst/>
          </a:prstGeom>
          <a:solidFill>
            <a:srgbClr val="FFFFFF">
              <a:alpha val="7843"/>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3"/>
          <p:cNvSpPr/>
          <p:nvPr/>
        </p:nvSpPr>
        <p:spPr>
          <a:xfrm>
            <a:off x="3730752" y="4361688"/>
            <a:ext cx="1600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500"/>
              <a:buFont typeface="Calibri"/>
              <a:buNone/>
            </a:pPr>
            <a:r>
              <a:rPr lang="en-US" sz="1500" b="1">
                <a:solidFill>
                  <a:srgbClr val="0D9488"/>
                </a:solidFill>
                <a:latin typeface="Calibri"/>
                <a:ea typeface="Calibri"/>
                <a:cs typeface="Calibri"/>
                <a:sym typeface="Calibri"/>
              </a:rPr>
              <a:t>£4.3M</a:t>
            </a:r>
            <a:endParaRPr sz="1500">
              <a:solidFill>
                <a:schemeClr val="dk1"/>
              </a:solidFill>
              <a:latin typeface="Calibri"/>
              <a:ea typeface="Calibri"/>
              <a:cs typeface="Calibri"/>
              <a:sym typeface="Calibri"/>
            </a:endParaRPr>
          </a:p>
        </p:txBody>
      </p:sp>
      <p:sp>
        <p:nvSpPr>
          <p:cNvPr id="34" name="Google Shape;34;p3"/>
          <p:cNvSpPr/>
          <p:nvPr/>
        </p:nvSpPr>
        <p:spPr>
          <a:xfrm>
            <a:off x="3730752" y="4672584"/>
            <a:ext cx="16002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Total Revenue</a:t>
            </a:r>
            <a:endParaRPr sz="900">
              <a:solidFill>
                <a:schemeClr val="dk1"/>
              </a:solidFill>
              <a:latin typeface="Calibri"/>
              <a:ea typeface="Calibri"/>
              <a:cs typeface="Calibri"/>
              <a:sym typeface="Calibri"/>
            </a:endParaRPr>
          </a:p>
        </p:txBody>
      </p:sp>
      <p:sp>
        <p:nvSpPr>
          <p:cNvPr id="35" name="Google Shape;35;p3"/>
          <p:cNvSpPr/>
          <p:nvPr/>
        </p:nvSpPr>
        <p:spPr>
          <a:xfrm>
            <a:off x="5449824" y="4315968"/>
            <a:ext cx="1600200" cy="658368"/>
          </a:xfrm>
          <a:prstGeom prst="rect">
            <a:avLst/>
          </a:prstGeom>
          <a:solidFill>
            <a:srgbClr val="FFFFFF">
              <a:alpha val="7843"/>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p:cNvSpPr/>
          <p:nvPr/>
        </p:nvSpPr>
        <p:spPr>
          <a:xfrm>
            <a:off x="5449824" y="4361688"/>
            <a:ext cx="1600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500"/>
              <a:buFont typeface="Calibri"/>
              <a:buNone/>
            </a:pPr>
            <a:r>
              <a:rPr lang="en-US" sz="1500" b="1">
                <a:solidFill>
                  <a:srgbClr val="0D9488"/>
                </a:solidFill>
                <a:latin typeface="Calibri"/>
                <a:ea typeface="Calibri"/>
                <a:cs typeface="Calibri"/>
                <a:sym typeface="Calibri"/>
              </a:rPr>
              <a:t>4,191</a:t>
            </a:r>
            <a:endParaRPr sz="1500">
              <a:solidFill>
                <a:schemeClr val="dk1"/>
              </a:solidFill>
              <a:latin typeface="Calibri"/>
              <a:ea typeface="Calibri"/>
              <a:cs typeface="Calibri"/>
              <a:sym typeface="Calibri"/>
            </a:endParaRPr>
          </a:p>
        </p:txBody>
      </p:sp>
      <p:sp>
        <p:nvSpPr>
          <p:cNvPr id="37" name="Google Shape;37;p3"/>
          <p:cNvSpPr/>
          <p:nvPr/>
        </p:nvSpPr>
        <p:spPr>
          <a:xfrm>
            <a:off x="5449824" y="4672584"/>
            <a:ext cx="16002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Customers</a:t>
            </a:r>
            <a:endParaRPr sz="900">
              <a:solidFill>
                <a:schemeClr val="dk1"/>
              </a:solidFill>
              <a:latin typeface="Calibri"/>
              <a:ea typeface="Calibri"/>
              <a:cs typeface="Calibri"/>
              <a:sym typeface="Calibri"/>
            </a:endParaRPr>
          </a:p>
        </p:txBody>
      </p:sp>
      <p:sp>
        <p:nvSpPr>
          <p:cNvPr id="38" name="Google Shape;38;p3"/>
          <p:cNvSpPr/>
          <p:nvPr/>
        </p:nvSpPr>
        <p:spPr>
          <a:xfrm>
            <a:off x="7168896" y="4315968"/>
            <a:ext cx="1600200" cy="658368"/>
          </a:xfrm>
          <a:prstGeom prst="rect">
            <a:avLst/>
          </a:prstGeom>
          <a:solidFill>
            <a:srgbClr val="FFFFFF">
              <a:alpha val="7843"/>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3"/>
          <p:cNvSpPr/>
          <p:nvPr/>
        </p:nvSpPr>
        <p:spPr>
          <a:xfrm>
            <a:off x="7168896" y="4361688"/>
            <a:ext cx="1600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500"/>
              <a:buFont typeface="Calibri"/>
              <a:buNone/>
            </a:pPr>
            <a:r>
              <a:rPr lang="en-US" sz="1500" b="1">
                <a:solidFill>
                  <a:srgbClr val="0D9488"/>
                </a:solidFill>
                <a:latin typeface="Calibri"/>
                <a:ea typeface="Calibri"/>
                <a:cs typeface="Calibri"/>
                <a:sym typeface="Calibri"/>
              </a:rPr>
              <a:t>37</a:t>
            </a:r>
            <a:endParaRPr sz="1500">
              <a:solidFill>
                <a:schemeClr val="dk1"/>
              </a:solidFill>
              <a:latin typeface="Calibri"/>
              <a:ea typeface="Calibri"/>
              <a:cs typeface="Calibri"/>
              <a:sym typeface="Calibri"/>
            </a:endParaRPr>
          </a:p>
        </p:txBody>
      </p:sp>
      <p:sp>
        <p:nvSpPr>
          <p:cNvPr id="40" name="Google Shape;40;p3"/>
          <p:cNvSpPr/>
          <p:nvPr/>
        </p:nvSpPr>
        <p:spPr>
          <a:xfrm>
            <a:off x="7168896" y="4672584"/>
            <a:ext cx="16002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Countries</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45"/>
        <p:cNvGrpSpPr/>
        <p:nvPr/>
      </p:nvGrpSpPr>
      <p:grpSpPr>
        <a:xfrm>
          <a:off x="0" y="0"/>
          <a:ext cx="0" cy="0"/>
          <a:chOff x="0" y="0"/>
          <a:chExt cx="0" cy="0"/>
        </a:xfrm>
      </p:grpSpPr>
      <p:sp>
        <p:nvSpPr>
          <p:cNvPr id="46" name="Google Shape;46;p4"/>
          <p:cNvSpPr/>
          <p:nvPr/>
        </p:nvSpPr>
        <p:spPr>
          <a:xfrm>
            <a:off x="0" y="0"/>
            <a:ext cx="9144000" cy="914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47;p4"/>
          <p:cNvSpPr/>
          <p:nvPr/>
        </p:nvSpPr>
        <p:spPr>
          <a:xfrm>
            <a:off x="6217920" y="-457200"/>
            <a:ext cx="4114800" cy="4114800"/>
          </a:xfrm>
          <a:prstGeom prst="ellipse">
            <a:avLst/>
          </a:prstGeom>
          <a:solidFill>
            <a:srgbClr val="0D9488">
              <a:alpha val="7843"/>
            </a:srgbClr>
          </a:solidFill>
          <a:ln w="12700" cap="flat" cmpd="sng">
            <a:solidFill>
              <a:srgbClr val="0D9488">
                <a:alpha val="1215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 name="Google Shape;48;p4"/>
          <p:cNvSpPr/>
          <p:nvPr/>
        </p:nvSpPr>
        <p:spPr>
          <a:xfrm>
            <a:off x="7315200" y="3200400"/>
            <a:ext cx="2560320" cy="2560320"/>
          </a:xfrm>
          <a:prstGeom prst="ellipse">
            <a:avLst/>
          </a:prstGeom>
          <a:solidFill>
            <a:srgbClr val="06B6D4">
              <a:alpha val="7058"/>
            </a:srgbClr>
          </a:solidFill>
          <a:ln w="12700" cap="flat" cmpd="sng">
            <a:solidFill>
              <a:srgbClr val="06B6D4">
                <a:alpha val="1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 name="Google Shape;49;p4"/>
          <p:cNvSpPr/>
          <p:nvPr/>
        </p:nvSpPr>
        <p:spPr>
          <a:xfrm>
            <a:off x="0" y="91440"/>
            <a:ext cx="164592" cy="50292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4"/>
          <p:cNvSpPr/>
          <p:nvPr/>
        </p:nvSpPr>
        <p:spPr>
          <a:xfrm>
            <a:off x="347472" y="256032"/>
            <a:ext cx="54864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GROUP MEMBERS &amp; WORK DIVISION</a:t>
            </a:r>
            <a:endParaRPr sz="1100">
              <a:solidFill>
                <a:schemeClr val="dk1"/>
              </a:solidFill>
              <a:latin typeface="Calibri"/>
              <a:ea typeface="Calibri"/>
              <a:cs typeface="Calibri"/>
              <a:sym typeface="Calibri"/>
            </a:endParaRPr>
          </a:p>
        </p:txBody>
      </p:sp>
      <p:sp>
        <p:nvSpPr>
          <p:cNvPr id="51" name="Google Shape;51;p4"/>
          <p:cNvSpPr/>
          <p:nvPr/>
        </p:nvSpPr>
        <p:spPr>
          <a:xfrm>
            <a:off x="347472" y="621792"/>
            <a:ext cx="77724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Principles of Data Science 7144  |  Group Assignment  |  MSc Data Science 2025  |  Coventry University — NIBM</a:t>
            </a:r>
            <a:endParaRPr sz="950">
              <a:solidFill>
                <a:schemeClr val="dk1"/>
              </a:solidFill>
              <a:latin typeface="Calibri"/>
              <a:ea typeface="Calibri"/>
              <a:cs typeface="Calibri"/>
              <a:sym typeface="Calibri"/>
            </a:endParaRPr>
          </a:p>
        </p:txBody>
      </p:sp>
      <p:sp>
        <p:nvSpPr>
          <p:cNvPr id="52" name="Google Shape;52;p4"/>
          <p:cNvSpPr/>
          <p:nvPr/>
        </p:nvSpPr>
        <p:spPr>
          <a:xfrm>
            <a:off x="274320" y="1005840"/>
            <a:ext cx="8595360" cy="841248"/>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4"/>
          <p:cNvSpPr/>
          <p:nvPr/>
        </p:nvSpPr>
        <p:spPr>
          <a:xfrm>
            <a:off x="274320" y="1005840"/>
            <a:ext cx="566928" cy="84124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4"/>
          <p:cNvSpPr/>
          <p:nvPr/>
        </p:nvSpPr>
        <p:spPr>
          <a:xfrm>
            <a:off x="274320" y="1243584"/>
            <a:ext cx="56692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55" name="Google Shape;55;p4"/>
          <p:cNvSpPr/>
          <p:nvPr/>
        </p:nvSpPr>
        <p:spPr>
          <a:xfrm>
            <a:off x="960120" y="1097280"/>
            <a:ext cx="32918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Task 1 — ETL Pipeline</a:t>
            </a:r>
            <a:endParaRPr sz="1300">
              <a:solidFill>
                <a:schemeClr val="dk1"/>
              </a:solidFill>
              <a:latin typeface="Calibri"/>
              <a:ea typeface="Calibri"/>
              <a:cs typeface="Calibri"/>
              <a:sym typeface="Calibri"/>
            </a:endParaRPr>
          </a:p>
        </p:txBody>
      </p:sp>
      <p:sp>
        <p:nvSpPr>
          <p:cNvPr id="56" name="Google Shape;56;p4"/>
          <p:cNvSpPr/>
          <p:nvPr/>
        </p:nvSpPr>
        <p:spPr>
          <a:xfrm>
            <a:off x="960120" y="1481328"/>
            <a:ext cx="10058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Student ID</a:t>
            </a:r>
            <a:endParaRPr sz="900">
              <a:solidFill>
                <a:schemeClr val="dk1"/>
              </a:solidFill>
              <a:latin typeface="Calibri"/>
              <a:ea typeface="Calibri"/>
              <a:cs typeface="Calibri"/>
              <a:sym typeface="Calibri"/>
            </a:endParaRPr>
          </a:p>
        </p:txBody>
      </p:sp>
      <p:sp>
        <p:nvSpPr>
          <p:cNvPr id="57" name="Google Shape;57;p4"/>
          <p:cNvSpPr/>
          <p:nvPr/>
        </p:nvSpPr>
        <p:spPr>
          <a:xfrm>
            <a:off x="1993392" y="1481328"/>
            <a:ext cx="2194560" cy="256032"/>
          </a:xfrm>
          <a:prstGeom prst="rect">
            <a:avLst/>
          </a:prstGeom>
          <a:solidFill>
            <a:srgbClr val="0D1B2A"/>
          </a:solidFill>
          <a:ln w="9525"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4"/>
          <p:cNvSpPr/>
          <p:nvPr/>
        </p:nvSpPr>
        <p:spPr>
          <a:xfrm>
            <a:off x="2029968" y="1508760"/>
            <a:ext cx="21214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COMScDS251P-001</a:t>
            </a:r>
            <a:endParaRPr sz="950">
              <a:solidFill>
                <a:schemeClr val="dk1"/>
              </a:solidFill>
              <a:latin typeface="Calibri"/>
              <a:ea typeface="Calibri"/>
              <a:cs typeface="Calibri"/>
              <a:sym typeface="Calibri"/>
            </a:endParaRPr>
          </a:p>
        </p:txBody>
      </p:sp>
      <p:sp>
        <p:nvSpPr>
          <p:cNvPr id="59" name="Google Shape;59;p4"/>
          <p:cNvSpPr/>
          <p:nvPr/>
        </p:nvSpPr>
        <p:spPr>
          <a:xfrm>
            <a:off x="4343400" y="1097280"/>
            <a:ext cx="685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60" name="Google Shape;60;p4"/>
          <p:cNvSpPr/>
          <p:nvPr/>
        </p:nvSpPr>
        <p:spPr>
          <a:xfrm>
            <a:off x="5074920" y="109728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Pasindu Ashan</a:t>
            </a:r>
            <a:endParaRPr sz="1200">
              <a:solidFill>
                <a:schemeClr val="dk1"/>
              </a:solidFill>
              <a:latin typeface="Calibri"/>
              <a:ea typeface="Calibri"/>
              <a:cs typeface="Calibri"/>
              <a:sym typeface="Calibri"/>
            </a:endParaRPr>
          </a:p>
        </p:txBody>
      </p:sp>
      <p:sp>
        <p:nvSpPr>
          <p:cNvPr id="61" name="Google Shape;61;p4"/>
          <p:cNvSpPr/>
          <p:nvPr/>
        </p:nvSpPr>
        <p:spPr>
          <a:xfrm>
            <a:off x="4343400" y="1481328"/>
            <a:ext cx="685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Branch</a:t>
            </a:r>
            <a:endParaRPr sz="900">
              <a:solidFill>
                <a:schemeClr val="dk1"/>
              </a:solidFill>
              <a:latin typeface="Calibri"/>
              <a:ea typeface="Calibri"/>
              <a:cs typeface="Calibri"/>
              <a:sym typeface="Calibri"/>
            </a:endParaRPr>
          </a:p>
        </p:txBody>
      </p:sp>
      <p:sp>
        <p:nvSpPr>
          <p:cNvPr id="62" name="Google Shape;62;p4"/>
          <p:cNvSpPr/>
          <p:nvPr/>
        </p:nvSpPr>
        <p:spPr>
          <a:xfrm>
            <a:off x="5074920" y="1481328"/>
            <a:ext cx="3639312" cy="256032"/>
          </a:xfrm>
          <a:prstGeom prst="rect">
            <a:avLst/>
          </a:prstGeom>
          <a:solidFill>
            <a:srgbClr val="0D9488">
              <a:alpha val="12156"/>
            </a:srgbClr>
          </a:solidFill>
          <a:ln w="9525"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4"/>
          <p:cNvSpPr/>
          <p:nvPr/>
        </p:nvSpPr>
        <p:spPr>
          <a:xfrm>
            <a:off x="5138928" y="1508760"/>
            <a:ext cx="34930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ourier New"/>
              <a:buNone/>
            </a:pPr>
            <a:r>
              <a:rPr lang="en-US" sz="900" b="1" dirty="0">
                <a:solidFill>
                  <a:srgbClr val="0D9488"/>
                </a:solidFill>
                <a:latin typeface="Courier New"/>
                <a:ea typeface="Courier New"/>
                <a:cs typeface="Courier New"/>
                <a:sym typeface="Courier New"/>
              </a:rPr>
              <a:t>feature-</a:t>
            </a:r>
            <a:r>
              <a:rPr lang="en-US" sz="900" b="1" dirty="0" err="1">
                <a:solidFill>
                  <a:srgbClr val="0D9488"/>
                </a:solidFill>
                <a:latin typeface="Courier New"/>
                <a:ea typeface="Courier New"/>
                <a:cs typeface="Courier New"/>
                <a:sym typeface="Courier New"/>
              </a:rPr>
              <a:t>pasindu</a:t>
            </a:r>
            <a:r>
              <a:rPr lang="en-US" sz="900" b="1">
                <a:solidFill>
                  <a:srgbClr val="0D9488"/>
                </a:solidFill>
                <a:latin typeface="Courier New"/>
                <a:ea typeface="Courier New"/>
                <a:cs typeface="Courier New"/>
                <a:sym typeface="Courier New"/>
              </a:rPr>
              <a:t>-ETL</a:t>
            </a:r>
            <a:endParaRPr sz="900">
              <a:solidFill>
                <a:schemeClr val="dk1"/>
              </a:solidFill>
              <a:latin typeface="Calibri"/>
              <a:ea typeface="Calibri"/>
              <a:cs typeface="Calibri"/>
              <a:sym typeface="Calibri"/>
            </a:endParaRPr>
          </a:p>
        </p:txBody>
      </p:sp>
      <p:sp>
        <p:nvSpPr>
          <p:cNvPr id="64" name="Google Shape;64;p4"/>
          <p:cNvSpPr/>
          <p:nvPr/>
        </p:nvSpPr>
        <p:spPr>
          <a:xfrm>
            <a:off x="4251960" y="1097280"/>
            <a:ext cx="27432" cy="658368"/>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4"/>
          <p:cNvSpPr/>
          <p:nvPr/>
        </p:nvSpPr>
        <p:spPr>
          <a:xfrm>
            <a:off x="274320" y="1993392"/>
            <a:ext cx="8595360" cy="841248"/>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66;p4"/>
          <p:cNvSpPr/>
          <p:nvPr/>
        </p:nvSpPr>
        <p:spPr>
          <a:xfrm>
            <a:off x="274320" y="1993392"/>
            <a:ext cx="566928" cy="84124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4"/>
          <p:cNvSpPr/>
          <p:nvPr/>
        </p:nvSpPr>
        <p:spPr>
          <a:xfrm>
            <a:off x="274320" y="2231136"/>
            <a:ext cx="56692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02</a:t>
            </a:r>
            <a:endParaRPr sz="1400">
              <a:solidFill>
                <a:schemeClr val="dk1"/>
              </a:solidFill>
              <a:latin typeface="Calibri"/>
              <a:ea typeface="Calibri"/>
              <a:cs typeface="Calibri"/>
              <a:sym typeface="Calibri"/>
            </a:endParaRPr>
          </a:p>
        </p:txBody>
      </p:sp>
      <p:sp>
        <p:nvSpPr>
          <p:cNvPr id="68" name="Google Shape;68;p4"/>
          <p:cNvSpPr/>
          <p:nvPr/>
        </p:nvSpPr>
        <p:spPr>
          <a:xfrm>
            <a:off x="960120" y="2084832"/>
            <a:ext cx="32918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Task 2 — Exploratory Data Analysis</a:t>
            </a:r>
            <a:endParaRPr sz="1300">
              <a:solidFill>
                <a:schemeClr val="dk1"/>
              </a:solidFill>
              <a:latin typeface="Calibri"/>
              <a:ea typeface="Calibri"/>
              <a:cs typeface="Calibri"/>
              <a:sym typeface="Calibri"/>
            </a:endParaRPr>
          </a:p>
        </p:txBody>
      </p:sp>
      <p:sp>
        <p:nvSpPr>
          <p:cNvPr id="69" name="Google Shape;69;p4"/>
          <p:cNvSpPr/>
          <p:nvPr/>
        </p:nvSpPr>
        <p:spPr>
          <a:xfrm>
            <a:off x="960120" y="2468880"/>
            <a:ext cx="10058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Student ID</a:t>
            </a:r>
            <a:endParaRPr sz="900">
              <a:solidFill>
                <a:schemeClr val="dk1"/>
              </a:solidFill>
              <a:latin typeface="Calibri"/>
              <a:ea typeface="Calibri"/>
              <a:cs typeface="Calibri"/>
              <a:sym typeface="Calibri"/>
            </a:endParaRPr>
          </a:p>
        </p:txBody>
      </p:sp>
      <p:sp>
        <p:nvSpPr>
          <p:cNvPr id="70" name="Google Shape;70;p4"/>
          <p:cNvSpPr/>
          <p:nvPr/>
        </p:nvSpPr>
        <p:spPr>
          <a:xfrm>
            <a:off x="1993392" y="2468880"/>
            <a:ext cx="2194560" cy="256032"/>
          </a:xfrm>
          <a:prstGeom prst="rect">
            <a:avLst/>
          </a:prstGeom>
          <a:solidFill>
            <a:srgbClr val="0D1B2A"/>
          </a:solidFill>
          <a:ln w="9525"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4"/>
          <p:cNvSpPr/>
          <p:nvPr/>
        </p:nvSpPr>
        <p:spPr>
          <a:xfrm>
            <a:off x="2029968" y="2496312"/>
            <a:ext cx="21214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COMScDS252P-005</a:t>
            </a:r>
            <a:endParaRPr sz="950">
              <a:solidFill>
                <a:schemeClr val="dk1"/>
              </a:solidFill>
              <a:latin typeface="Calibri"/>
              <a:ea typeface="Calibri"/>
              <a:cs typeface="Calibri"/>
              <a:sym typeface="Calibri"/>
            </a:endParaRPr>
          </a:p>
        </p:txBody>
      </p:sp>
      <p:sp>
        <p:nvSpPr>
          <p:cNvPr id="72" name="Google Shape;72;p4"/>
          <p:cNvSpPr/>
          <p:nvPr/>
        </p:nvSpPr>
        <p:spPr>
          <a:xfrm>
            <a:off x="4343400" y="2084832"/>
            <a:ext cx="685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73" name="Google Shape;73;p4"/>
          <p:cNvSpPr/>
          <p:nvPr/>
        </p:nvSpPr>
        <p:spPr>
          <a:xfrm>
            <a:off x="5074920" y="2084832"/>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Anuradha Dhananjanee</a:t>
            </a:r>
            <a:endParaRPr sz="1200">
              <a:solidFill>
                <a:schemeClr val="dk1"/>
              </a:solidFill>
              <a:latin typeface="Calibri"/>
              <a:ea typeface="Calibri"/>
              <a:cs typeface="Calibri"/>
              <a:sym typeface="Calibri"/>
            </a:endParaRPr>
          </a:p>
        </p:txBody>
      </p:sp>
      <p:sp>
        <p:nvSpPr>
          <p:cNvPr id="74" name="Google Shape;74;p4"/>
          <p:cNvSpPr/>
          <p:nvPr/>
        </p:nvSpPr>
        <p:spPr>
          <a:xfrm>
            <a:off x="4343400" y="2468880"/>
            <a:ext cx="685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Branch</a:t>
            </a:r>
            <a:endParaRPr sz="900">
              <a:solidFill>
                <a:schemeClr val="dk1"/>
              </a:solidFill>
              <a:latin typeface="Calibri"/>
              <a:ea typeface="Calibri"/>
              <a:cs typeface="Calibri"/>
              <a:sym typeface="Calibri"/>
            </a:endParaRPr>
          </a:p>
        </p:txBody>
      </p:sp>
      <p:sp>
        <p:nvSpPr>
          <p:cNvPr id="75" name="Google Shape;75;p4"/>
          <p:cNvSpPr/>
          <p:nvPr/>
        </p:nvSpPr>
        <p:spPr>
          <a:xfrm>
            <a:off x="5074920" y="2468880"/>
            <a:ext cx="3639312" cy="256032"/>
          </a:xfrm>
          <a:prstGeom prst="rect">
            <a:avLst/>
          </a:prstGeom>
          <a:solidFill>
            <a:srgbClr val="06B6D4">
              <a:alpha val="12156"/>
            </a:srgbClr>
          </a:solidFill>
          <a:ln w="9525" cap="flat" cmpd="sng">
            <a:solidFill>
              <a:srgbClr val="06B6D4">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4"/>
          <p:cNvSpPr/>
          <p:nvPr/>
        </p:nvSpPr>
        <p:spPr>
          <a:xfrm>
            <a:off x="5138928" y="2496312"/>
            <a:ext cx="34930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900"/>
              <a:buFont typeface="Courier New"/>
              <a:buNone/>
            </a:pPr>
            <a:r>
              <a:rPr lang="en-US" sz="900" b="1">
                <a:solidFill>
                  <a:srgbClr val="06B6D4"/>
                </a:solidFill>
                <a:latin typeface="Courier New"/>
                <a:ea typeface="Courier New"/>
                <a:cs typeface="Courier New"/>
                <a:sym typeface="Courier New"/>
              </a:rPr>
              <a:t>feature-anuradha-EDA</a:t>
            </a:r>
            <a:endParaRPr sz="900">
              <a:solidFill>
                <a:schemeClr val="dk1"/>
              </a:solidFill>
              <a:latin typeface="Calibri"/>
              <a:ea typeface="Calibri"/>
              <a:cs typeface="Calibri"/>
              <a:sym typeface="Calibri"/>
            </a:endParaRPr>
          </a:p>
        </p:txBody>
      </p:sp>
      <p:sp>
        <p:nvSpPr>
          <p:cNvPr id="77" name="Google Shape;77;p4"/>
          <p:cNvSpPr/>
          <p:nvPr/>
        </p:nvSpPr>
        <p:spPr>
          <a:xfrm>
            <a:off x="4251960" y="2084832"/>
            <a:ext cx="27432" cy="658368"/>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78;p4"/>
          <p:cNvSpPr/>
          <p:nvPr/>
        </p:nvSpPr>
        <p:spPr>
          <a:xfrm>
            <a:off x="274320" y="2980944"/>
            <a:ext cx="8595360" cy="841248"/>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4"/>
          <p:cNvSpPr/>
          <p:nvPr/>
        </p:nvSpPr>
        <p:spPr>
          <a:xfrm>
            <a:off x="274320" y="2980944"/>
            <a:ext cx="566928" cy="84124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80;p4"/>
          <p:cNvSpPr/>
          <p:nvPr/>
        </p:nvSpPr>
        <p:spPr>
          <a:xfrm>
            <a:off x="274320" y="3218688"/>
            <a:ext cx="56692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81" name="Google Shape;81;p4"/>
          <p:cNvSpPr/>
          <p:nvPr/>
        </p:nvSpPr>
        <p:spPr>
          <a:xfrm>
            <a:off x="960120" y="3072384"/>
            <a:ext cx="32918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Task 3 — Clustering Analysis</a:t>
            </a:r>
            <a:endParaRPr sz="1300">
              <a:solidFill>
                <a:schemeClr val="dk1"/>
              </a:solidFill>
              <a:latin typeface="Calibri"/>
              <a:ea typeface="Calibri"/>
              <a:cs typeface="Calibri"/>
              <a:sym typeface="Calibri"/>
            </a:endParaRPr>
          </a:p>
        </p:txBody>
      </p:sp>
      <p:sp>
        <p:nvSpPr>
          <p:cNvPr id="82" name="Google Shape;82;p4"/>
          <p:cNvSpPr/>
          <p:nvPr/>
        </p:nvSpPr>
        <p:spPr>
          <a:xfrm>
            <a:off x="960120" y="3456432"/>
            <a:ext cx="10058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Student ID</a:t>
            </a:r>
            <a:endParaRPr sz="900">
              <a:solidFill>
                <a:schemeClr val="dk1"/>
              </a:solidFill>
              <a:latin typeface="Calibri"/>
              <a:ea typeface="Calibri"/>
              <a:cs typeface="Calibri"/>
              <a:sym typeface="Calibri"/>
            </a:endParaRPr>
          </a:p>
        </p:txBody>
      </p:sp>
      <p:sp>
        <p:nvSpPr>
          <p:cNvPr id="83" name="Google Shape;83;p4"/>
          <p:cNvSpPr/>
          <p:nvPr/>
        </p:nvSpPr>
        <p:spPr>
          <a:xfrm>
            <a:off x="1993392" y="3456432"/>
            <a:ext cx="2194560" cy="256032"/>
          </a:xfrm>
          <a:prstGeom prst="rect">
            <a:avLst/>
          </a:prstGeom>
          <a:solidFill>
            <a:srgbClr val="182C45"/>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 name="Google Shape;84;p4"/>
          <p:cNvSpPr/>
          <p:nvPr/>
        </p:nvSpPr>
        <p:spPr>
          <a:xfrm>
            <a:off x="2029968" y="3483864"/>
            <a:ext cx="21214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ourier New"/>
              <a:buNone/>
            </a:pPr>
            <a:r>
              <a:rPr lang="en-US" sz="950" i="1">
                <a:solidFill>
                  <a:srgbClr val="475569"/>
                </a:solidFill>
                <a:latin typeface="Courier New"/>
                <a:ea typeface="Courier New"/>
                <a:cs typeface="Courier New"/>
                <a:sym typeface="Courier New"/>
              </a:rPr>
              <a:t>(to be added)</a:t>
            </a:r>
            <a:endParaRPr sz="950">
              <a:solidFill>
                <a:schemeClr val="dk1"/>
              </a:solidFill>
              <a:latin typeface="Calibri"/>
              <a:ea typeface="Calibri"/>
              <a:cs typeface="Calibri"/>
              <a:sym typeface="Calibri"/>
            </a:endParaRPr>
          </a:p>
        </p:txBody>
      </p:sp>
      <p:sp>
        <p:nvSpPr>
          <p:cNvPr id="85" name="Google Shape;85;p4"/>
          <p:cNvSpPr/>
          <p:nvPr/>
        </p:nvSpPr>
        <p:spPr>
          <a:xfrm>
            <a:off x="4343400" y="3072384"/>
            <a:ext cx="685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86" name="Google Shape;86;p4"/>
          <p:cNvSpPr/>
          <p:nvPr/>
        </p:nvSpPr>
        <p:spPr>
          <a:xfrm>
            <a:off x="5074920" y="3072384"/>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i="1">
                <a:solidFill>
                  <a:srgbClr val="475569"/>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87" name="Google Shape;87;p4"/>
          <p:cNvSpPr/>
          <p:nvPr/>
        </p:nvSpPr>
        <p:spPr>
          <a:xfrm>
            <a:off x="4343400" y="3456432"/>
            <a:ext cx="685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Branch</a:t>
            </a:r>
            <a:endParaRPr sz="900">
              <a:solidFill>
                <a:schemeClr val="dk1"/>
              </a:solidFill>
              <a:latin typeface="Calibri"/>
              <a:ea typeface="Calibri"/>
              <a:cs typeface="Calibri"/>
              <a:sym typeface="Calibri"/>
            </a:endParaRPr>
          </a:p>
        </p:txBody>
      </p:sp>
      <p:sp>
        <p:nvSpPr>
          <p:cNvPr id="88" name="Google Shape;88;p4"/>
          <p:cNvSpPr/>
          <p:nvPr/>
        </p:nvSpPr>
        <p:spPr>
          <a:xfrm>
            <a:off x="5074920" y="3456432"/>
            <a:ext cx="3639312" cy="256032"/>
          </a:xfrm>
          <a:prstGeom prst="rect">
            <a:avLst/>
          </a:prstGeom>
          <a:solidFill>
            <a:srgbClr val="8B5CF6">
              <a:alpha val="12156"/>
            </a:srgbClr>
          </a:solidFill>
          <a:ln w="9525" cap="flat" cmpd="sng">
            <a:solidFill>
              <a:srgbClr val="8B5CF6">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89;p4"/>
          <p:cNvSpPr/>
          <p:nvPr/>
        </p:nvSpPr>
        <p:spPr>
          <a:xfrm>
            <a:off x="5138928" y="3483864"/>
            <a:ext cx="34930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CF6"/>
              </a:buClr>
              <a:buSzPts val="900"/>
              <a:buFont typeface="Courier New"/>
              <a:buNone/>
            </a:pPr>
            <a:r>
              <a:rPr lang="en-US" sz="900" b="1">
                <a:solidFill>
                  <a:srgbClr val="8B5CF6"/>
                </a:solidFill>
                <a:latin typeface="Courier New"/>
                <a:ea typeface="Courier New"/>
                <a:cs typeface="Courier New"/>
                <a:sym typeface="Courier New"/>
              </a:rPr>
              <a:t>feature-chamika-cluster-analysis</a:t>
            </a:r>
            <a:endParaRPr sz="900">
              <a:solidFill>
                <a:schemeClr val="dk1"/>
              </a:solidFill>
              <a:latin typeface="Calibri"/>
              <a:ea typeface="Calibri"/>
              <a:cs typeface="Calibri"/>
              <a:sym typeface="Calibri"/>
            </a:endParaRPr>
          </a:p>
        </p:txBody>
      </p:sp>
      <p:sp>
        <p:nvSpPr>
          <p:cNvPr id="90" name="Google Shape;90;p4"/>
          <p:cNvSpPr/>
          <p:nvPr/>
        </p:nvSpPr>
        <p:spPr>
          <a:xfrm>
            <a:off x="4251960" y="3072384"/>
            <a:ext cx="27432" cy="658368"/>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4"/>
          <p:cNvSpPr/>
          <p:nvPr/>
        </p:nvSpPr>
        <p:spPr>
          <a:xfrm>
            <a:off x="274320" y="3968496"/>
            <a:ext cx="8595360" cy="841248"/>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4"/>
          <p:cNvSpPr/>
          <p:nvPr/>
        </p:nvSpPr>
        <p:spPr>
          <a:xfrm>
            <a:off x="274320" y="3968496"/>
            <a:ext cx="566928" cy="84124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4"/>
          <p:cNvSpPr/>
          <p:nvPr/>
        </p:nvSpPr>
        <p:spPr>
          <a:xfrm>
            <a:off x="274320" y="4206240"/>
            <a:ext cx="56692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04</a:t>
            </a:r>
            <a:endParaRPr sz="1400">
              <a:solidFill>
                <a:schemeClr val="dk1"/>
              </a:solidFill>
              <a:latin typeface="Calibri"/>
              <a:ea typeface="Calibri"/>
              <a:cs typeface="Calibri"/>
              <a:sym typeface="Calibri"/>
            </a:endParaRPr>
          </a:p>
        </p:txBody>
      </p:sp>
      <p:sp>
        <p:nvSpPr>
          <p:cNvPr id="94" name="Google Shape;94;p4"/>
          <p:cNvSpPr/>
          <p:nvPr/>
        </p:nvSpPr>
        <p:spPr>
          <a:xfrm>
            <a:off x="960120" y="4059936"/>
            <a:ext cx="32918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Task 4 — Forecasting Model</a:t>
            </a:r>
            <a:endParaRPr sz="1300">
              <a:solidFill>
                <a:schemeClr val="dk1"/>
              </a:solidFill>
              <a:latin typeface="Calibri"/>
              <a:ea typeface="Calibri"/>
              <a:cs typeface="Calibri"/>
              <a:sym typeface="Calibri"/>
            </a:endParaRPr>
          </a:p>
        </p:txBody>
      </p:sp>
      <p:sp>
        <p:nvSpPr>
          <p:cNvPr id="95" name="Google Shape;95;p4"/>
          <p:cNvSpPr/>
          <p:nvPr/>
        </p:nvSpPr>
        <p:spPr>
          <a:xfrm>
            <a:off x="960120" y="4443984"/>
            <a:ext cx="10058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Student ID</a:t>
            </a:r>
            <a:endParaRPr sz="900">
              <a:solidFill>
                <a:schemeClr val="dk1"/>
              </a:solidFill>
              <a:latin typeface="Calibri"/>
              <a:ea typeface="Calibri"/>
              <a:cs typeface="Calibri"/>
              <a:sym typeface="Calibri"/>
            </a:endParaRPr>
          </a:p>
        </p:txBody>
      </p:sp>
      <p:sp>
        <p:nvSpPr>
          <p:cNvPr id="96" name="Google Shape;96;p4"/>
          <p:cNvSpPr/>
          <p:nvPr/>
        </p:nvSpPr>
        <p:spPr>
          <a:xfrm>
            <a:off x="1993392" y="4443984"/>
            <a:ext cx="2194560" cy="256032"/>
          </a:xfrm>
          <a:prstGeom prst="rect">
            <a:avLst/>
          </a:prstGeom>
          <a:solidFill>
            <a:srgbClr val="0D1B2A"/>
          </a:solidFill>
          <a:ln w="9525"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4"/>
          <p:cNvSpPr/>
          <p:nvPr/>
        </p:nvSpPr>
        <p:spPr>
          <a:xfrm>
            <a:off x="2029968" y="4471416"/>
            <a:ext cx="21214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COMScDS252P-002</a:t>
            </a:r>
            <a:endParaRPr sz="950">
              <a:solidFill>
                <a:schemeClr val="dk1"/>
              </a:solidFill>
              <a:latin typeface="Calibri"/>
              <a:ea typeface="Calibri"/>
              <a:cs typeface="Calibri"/>
              <a:sym typeface="Calibri"/>
            </a:endParaRPr>
          </a:p>
        </p:txBody>
      </p:sp>
      <p:sp>
        <p:nvSpPr>
          <p:cNvPr id="98" name="Google Shape;98;p4"/>
          <p:cNvSpPr/>
          <p:nvPr/>
        </p:nvSpPr>
        <p:spPr>
          <a:xfrm>
            <a:off x="4343400" y="4059936"/>
            <a:ext cx="685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99" name="Google Shape;99;p4"/>
          <p:cNvSpPr/>
          <p:nvPr/>
        </p:nvSpPr>
        <p:spPr>
          <a:xfrm>
            <a:off x="5074920" y="4059936"/>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Madushika Pramod Senevirathna</a:t>
            </a:r>
            <a:endParaRPr sz="1200">
              <a:solidFill>
                <a:schemeClr val="dk1"/>
              </a:solidFill>
              <a:latin typeface="Calibri"/>
              <a:ea typeface="Calibri"/>
              <a:cs typeface="Calibri"/>
              <a:sym typeface="Calibri"/>
            </a:endParaRPr>
          </a:p>
        </p:txBody>
      </p:sp>
      <p:sp>
        <p:nvSpPr>
          <p:cNvPr id="100" name="Google Shape;100;p4"/>
          <p:cNvSpPr/>
          <p:nvPr/>
        </p:nvSpPr>
        <p:spPr>
          <a:xfrm>
            <a:off x="4343400" y="4443984"/>
            <a:ext cx="685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Branch</a:t>
            </a:r>
            <a:endParaRPr sz="900">
              <a:solidFill>
                <a:schemeClr val="dk1"/>
              </a:solidFill>
              <a:latin typeface="Calibri"/>
              <a:ea typeface="Calibri"/>
              <a:cs typeface="Calibri"/>
              <a:sym typeface="Calibri"/>
            </a:endParaRPr>
          </a:p>
        </p:txBody>
      </p:sp>
      <p:sp>
        <p:nvSpPr>
          <p:cNvPr id="101" name="Google Shape;101;p4"/>
          <p:cNvSpPr/>
          <p:nvPr/>
        </p:nvSpPr>
        <p:spPr>
          <a:xfrm>
            <a:off x="5074920" y="4443984"/>
            <a:ext cx="3639312" cy="256032"/>
          </a:xfrm>
          <a:prstGeom prst="rect">
            <a:avLst/>
          </a:prstGeom>
          <a:solidFill>
            <a:srgbClr val="F59E0B">
              <a:alpha val="12156"/>
            </a:srgbClr>
          </a:solidFill>
          <a:ln w="9525" cap="flat" cmpd="sng">
            <a:solidFill>
              <a:srgbClr val="F59E0B">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4"/>
          <p:cNvSpPr/>
          <p:nvPr/>
        </p:nvSpPr>
        <p:spPr>
          <a:xfrm>
            <a:off x="5138928" y="4471416"/>
            <a:ext cx="34930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00"/>
              <a:buFont typeface="Courier New"/>
              <a:buNone/>
            </a:pPr>
            <a:r>
              <a:rPr lang="en-US" sz="900" b="1">
                <a:solidFill>
                  <a:srgbClr val="F59E0B"/>
                </a:solidFill>
                <a:latin typeface="Courier New"/>
                <a:ea typeface="Courier New"/>
                <a:cs typeface="Courier New"/>
                <a:sym typeface="Courier New"/>
              </a:rPr>
              <a:t>feature-madushika-forecasting-model</a:t>
            </a:r>
            <a:endParaRPr sz="900">
              <a:solidFill>
                <a:schemeClr val="dk1"/>
              </a:solidFill>
              <a:latin typeface="Calibri"/>
              <a:ea typeface="Calibri"/>
              <a:cs typeface="Calibri"/>
              <a:sym typeface="Calibri"/>
            </a:endParaRPr>
          </a:p>
        </p:txBody>
      </p:sp>
      <p:sp>
        <p:nvSpPr>
          <p:cNvPr id="103" name="Google Shape;103;p4"/>
          <p:cNvSpPr/>
          <p:nvPr/>
        </p:nvSpPr>
        <p:spPr>
          <a:xfrm>
            <a:off x="4251960" y="4059936"/>
            <a:ext cx="27432" cy="658368"/>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4"/>
          <p:cNvSpPr/>
          <p:nvPr/>
        </p:nvSpPr>
        <p:spPr>
          <a:xfrm>
            <a:off x="0" y="4846320"/>
            <a:ext cx="9144000" cy="274320"/>
          </a:xfrm>
          <a:prstGeom prst="rect">
            <a:avLst/>
          </a:prstGeom>
          <a:solidFill>
            <a:srgbClr val="0A1628"/>
          </a:solidFill>
          <a:ln w="12700" cap="flat" cmpd="sng">
            <a:solidFill>
              <a:srgbClr val="0A162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4"/>
          <p:cNvSpPr/>
          <p:nvPr/>
        </p:nvSpPr>
        <p:spPr>
          <a:xfrm>
            <a:off x="0" y="4846320"/>
            <a:ext cx="9144000" cy="4572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4"/>
          <p:cNvSpPr/>
          <p:nvPr/>
        </p:nvSpPr>
        <p:spPr>
          <a:xfrm>
            <a:off x="320040" y="4901184"/>
            <a:ext cx="850392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github.com/principles-of-data-science-cw-2/group-assignment  |  4 members  ·  4 tasks  ·  Equal contribution  ·  Feature branches per member</a:t>
            </a:r>
            <a:endParaRPr sz="900">
              <a:solidFill>
                <a:schemeClr val="dk1"/>
              </a:solidFill>
              <a:latin typeface="Calibri"/>
              <a:ea typeface="Calibri"/>
              <a:cs typeface="Calibri"/>
              <a:sym typeface="Calibri"/>
            </a:endParaRPr>
          </a:p>
        </p:txBody>
      </p:sp>
      <p:sp>
        <p:nvSpPr>
          <p:cNvPr id="107" name="Google Shape;107;p4"/>
          <p:cNvSpPr/>
          <p:nvPr/>
        </p:nvSpPr>
        <p:spPr>
          <a:xfrm>
            <a:off x="2002536" y="3444240"/>
            <a:ext cx="2194560" cy="256032"/>
          </a:xfrm>
          <a:prstGeom prst="rect">
            <a:avLst/>
          </a:prstGeom>
          <a:solidFill>
            <a:srgbClr val="0D1B2A"/>
          </a:solidFill>
          <a:ln w="9525"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4"/>
          <p:cNvSpPr/>
          <p:nvPr/>
        </p:nvSpPr>
        <p:spPr>
          <a:xfrm>
            <a:off x="2057400" y="3478706"/>
            <a:ext cx="2121408"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COMScDS252P-001</a:t>
            </a:r>
            <a:endParaRPr sz="950">
              <a:solidFill>
                <a:schemeClr val="dk1"/>
              </a:solidFill>
              <a:latin typeface="Calibri"/>
              <a:ea typeface="Calibri"/>
              <a:cs typeface="Calibri"/>
              <a:sym typeface="Calibri"/>
            </a:endParaRPr>
          </a:p>
        </p:txBody>
      </p:sp>
      <p:sp>
        <p:nvSpPr>
          <p:cNvPr id="109" name="Google Shape;109;p4"/>
          <p:cNvSpPr/>
          <p:nvPr/>
        </p:nvSpPr>
        <p:spPr>
          <a:xfrm>
            <a:off x="5074920" y="310896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b="1">
                <a:solidFill>
                  <a:srgbClr val="FFFFFF"/>
                </a:solidFill>
                <a:latin typeface="Calibri"/>
                <a:ea typeface="Calibri"/>
                <a:cs typeface="Calibri"/>
                <a:sym typeface="Calibri"/>
              </a:rPr>
              <a:t>Chamika Subashinie</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14"/>
        <p:cNvGrpSpPr/>
        <p:nvPr/>
      </p:nvGrpSpPr>
      <p:grpSpPr>
        <a:xfrm>
          <a:off x="0" y="0"/>
          <a:ext cx="0" cy="0"/>
          <a:chOff x="0" y="0"/>
          <a:chExt cx="0" cy="0"/>
        </a:xfrm>
      </p:grpSpPr>
      <p:sp>
        <p:nvSpPr>
          <p:cNvPr id="115" name="Google Shape;115;p5"/>
          <p:cNvSpPr/>
          <p:nvPr/>
        </p:nvSpPr>
        <p:spPr>
          <a:xfrm>
            <a:off x="0" y="0"/>
            <a:ext cx="9144000" cy="20116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 name="Google Shape;116;p5"/>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PROJECT OVERVIEW</a:t>
            </a:r>
            <a:endParaRPr sz="900">
              <a:solidFill>
                <a:schemeClr val="dk1"/>
              </a:solidFill>
              <a:latin typeface="Calibri"/>
              <a:ea typeface="Calibri"/>
              <a:cs typeface="Calibri"/>
              <a:sym typeface="Calibri"/>
            </a:endParaRPr>
          </a:p>
        </p:txBody>
      </p:sp>
      <p:sp>
        <p:nvSpPr>
          <p:cNvPr id="117" name="Google Shape;117;p5"/>
          <p:cNvSpPr/>
          <p:nvPr/>
        </p:nvSpPr>
        <p:spPr>
          <a:xfrm>
            <a:off x="0" y="201168"/>
            <a:ext cx="164592" cy="493776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5"/>
          <p:cNvSpPr/>
          <p:nvPr/>
        </p:nvSpPr>
        <p:spPr>
          <a:xfrm>
            <a:off x="320040" y="347472"/>
            <a:ext cx="4572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Project Structure</a:t>
            </a:r>
            <a:endParaRPr sz="2200">
              <a:solidFill>
                <a:schemeClr val="dk1"/>
              </a:solidFill>
              <a:latin typeface="Calibri"/>
              <a:ea typeface="Calibri"/>
              <a:cs typeface="Calibri"/>
              <a:sym typeface="Calibri"/>
            </a:endParaRPr>
          </a:p>
        </p:txBody>
      </p:sp>
      <p:sp>
        <p:nvSpPr>
          <p:cNvPr id="119" name="Google Shape;119;p5"/>
          <p:cNvSpPr/>
          <p:nvPr/>
        </p:nvSpPr>
        <p:spPr>
          <a:xfrm>
            <a:off x="320040" y="777240"/>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Four analytical tasks covering the full data science lifecycle</a:t>
            </a:r>
            <a:endParaRPr sz="1100">
              <a:solidFill>
                <a:schemeClr val="dk1"/>
              </a:solidFill>
              <a:latin typeface="Calibri"/>
              <a:ea typeface="Calibri"/>
              <a:cs typeface="Calibri"/>
              <a:sym typeface="Calibri"/>
            </a:endParaRPr>
          </a:p>
        </p:txBody>
      </p:sp>
      <p:sp>
        <p:nvSpPr>
          <p:cNvPr id="120" name="Google Shape;120;p5"/>
          <p:cNvSpPr/>
          <p:nvPr/>
        </p:nvSpPr>
        <p:spPr>
          <a:xfrm>
            <a:off x="274320" y="1143000"/>
            <a:ext cx="5029200" cy="868680"/>
          </a:xfrm>
          <a:prstGeom prst="rect">
            <a:avLst/>
          </a:prstGeom>
          <a:solidFill>
            <a:srgbClr val="0F2744"/>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 name="Google Shape;121;p5"/>
          <p:cNvSpPr/>
          <p:nvPr/>
        </p:nvSpPr>
        <p:spPr>
          <a:xfrm>
            <a:off x="274320" y="1143000"/>
            <a:ext cx="502920" cy="8686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5"/>
          <p:cNvSpPr/>
          <p:nvPr/>
        </p:nvSpPr>
        <p:spPr>
          <a:xfrm>
            <a:off x="274320" y="1362456"/>
            <a:ext cx="502920"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01</a:t>
            </a:r>
            <a:endParaRPr sz="1600">
              <a:solidFill>
                <a:schemeClr val="dk1"/>
              </a:solidFill>
              <a:latin typeface="Calibri"/>
              <a:ea typeface="Calibri"/>
              <a:cs typeface="Calibri"/>
              <a:sym typeface="Calibri"/>
            </a:endParaRPr>
          </a:p>
        </p:txBody>
      </p:sp>
      <p:sp>
        <p:nvSpPr>
          <p:cNvPr id="123" name="Google Shape;123;p5"/>
          <p:cNvSpPr/>
          <p:nvPr/>
        </p:nvSpPr>
        <p:spPr>
          <a:xfrm>
            <a:off x="877824" y="1234440"/>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ETL Pipeline</a:t>
            </a:r>
            <a:endParaRPr sz="1300">
              <a:solidFill>
                <a:schemeClr val="dk1"/>
              </a:solidFill>
              <a:latin typeface="Calibri"/>
              <a:ea typeface="Calibri"/>
              <a:cs typeface="Calibri"/>
              <a:sym typeface="Calibri"/>
            </a:endParaRPr>
          </a:p>
        </p:txBody>
      </p:sp>
      <p:sp>
        <p:nvSpPr>
          <p:cNvPr id="124" name="Google Shape;124;p5"/>
          <p:cNvSpPr/>
          <p:nvPr/>
        </p:nvSpPr>
        <p:spPr>
          <a:xfrm>
            <a:off x="877824" y="1527048"/>
            <a:ext cx="4297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Extract → Validate → Transform → Load</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6-step cleaning | 98.4% quality score</a:t>
            </a:r>
            <a:endParaRPr sz="950">
              <a:solidFill>
                <a:schemeClr val="dk1"/>
              </a:solidFill>
              <a:latin typeface="Calibri"/>
              <a:ea typeface="Calibri"/>
              <a:cs typeface="Calibri"/>
              <a:sym typeface="Calibri"/>
            </a:endParaRPr>
          </a:p>
        </p:txBody>
      </p:sp>
      <p:sp>
        <p:nvSpPr>
          <p:cNvPr id="125" name="Google Shape;125;p5"/>
          <p:cNvSpPr/>
          <p:nvPr/>
        </p:nvSpPr>
        <p:spPr>
          <a:xfrm>
            <a:off x="274320" y="2130552"/>
            <a:ext cx="5029200" cy="868680"/>
          </a:xfrm>
          <a:prstGeom prst="rect">
            <a:avLst/>
          </a:prstGeom>
          <a:solidFill>
            <a:srgbClr val="0F2744"/>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5"/>
          <p:cNvSpPr/>
          <p:nvPr/>
        </p:nvSpPr>
        <p:spPr>
          <a:xfrm>
            <a:off x="274320" y="2130552"/>
            <a:ext cx="502920" cy="868680"/>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5"/>
          <p:cNvSpPr/>
          <p:nvPr/>
        </p:nvSpPr>
        <p:spPr>
          <a:xfrm>
            <a:off x="274320" y="2350008"/>
            <a:ext cx="502920"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02</a:t>
            </a:r>
            <a:endParaRPr sz="1600">
              <a:solidFill>
                <a:schemeClr val="dk1"/>
              </a:solidFill>
              <a:latin typeface="Calibri"/>
              <a:ea typeface="Calibri"/>
              <a:cs typeface="Calibri"/>
              <a:sym typeface="Calibri"/>
            </a:endParaRPr>
          </a:p>
        </p:txBody>
      </p:sp>
      <p:sp>
        <p:nvSpPr>
          <p:cNvPr id="128" name="Google Shape;128;p5"/>
          <p:cNvSpPr/>
          <p:nvPr/>
        </p:nvSpPr>
        <p:spPr>
          <a:xfrm>
            <a:off x="877824" y="2221992"/>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Exploratory Data Analysis</a:t>
            </a:r>
            <a:endParaRPr sz="1300">
              <a:solidFill>
                <a:schemeClr val="dk1"/>
              </a:solidFill>
              <a:latin typeface="Calibri"/>
              <a:ea typeface="Calibri"/>
              <a:cs typeface="Calibri"/>
              <a:sym typeface="Calibri"/>
            </a:endParaRPr>
          </a:p>
        </p:txBody>
      </p:sp>
      <p:sp>
        <p:nvSpPr>
          <p:cNvPr id="129" name="Google Shape;129;p5"/>
          <p:cNvSpPr/>
          <p:nvPr/>
        </p:nvSpPr>
        <p:spPr>
          <a:xfrm>
            <a:off x="877824" y="2514600"/>
            <a:ext cx="4297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Revenue trends | Customer behaviour</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Geographic | Correlation | Anomalies</a:t>
            </a:r>
            <a:endParaRPr sz="950">
              <a:solidFill>
                <a:schemeClr val="dk1"/>
              </a:solidFill>
              <a:latin typeface="Calibri"/>
              <a:ea typeface="Calibri"/>
              <a:cs typeface="Calibri"/>
              <a:sym typeface="Calibri"/>
            </a:endParaRPr>
          </a:p>
        </p:txBody>
      </p:sp>
      <p:sp>
        <p:nvSpPr>
          <p:cNvPr id="130" name="Google Shape;130;p5"/>
          <p:cNvSpPr/>
          <p:nvPr/>
        </p:nvSpPr>
        <p:spPr>
          <a:xfrm>
            <a:off x="274320" y="3118104"/>
            <a:ext cx="5029200" cy="868680"/>
          </a:xfrm>
          <a:prstGeom prst="rect">
            <a:avLst/>
          </a:prstGeom>
          <a:solidFill>
            <a:srgbClr val="0F2744"/>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5"/>
          <p:cNvSpPr/>
          <p:nvPr/>
        </p:nvSpPr>
        <p:spPr>
          <a:xfrm>
            <a:off x="274320" y="3118104"/>
            <a:ext cx="502920" cy="868680"/>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5"/>
          <p:cNvSpPr/>
          <p:nvPr/>
        </p:nvSpPr>
        <p:spPr>
          <a:xfrm>
            <a:off x="274320" y="3337560"/>
            <a:ext cx="502920"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03</a:t>
            </a:r>
            <a:endParaRPr sz="1600">
              <a:solidFill>
                <a:schemeClr val="dk1"/>
              </a:solidFill>
              <a:latin typeface="Calibri"/>
              <a:ea typeface="Calibri"/>
              <a:cs typeface="Calibri"/>
              <a:sym typeface="Calibri"/>
            </a:endParaRPr>
          </a:p>
        </p:txBody>
      </p:sp>
      <p:sp>
        <p:nvSpPr>
          <p:cNvPr id="133" name="Google Shape;133;p5"/>
          <p:cNvSpPr/>
          <p:nvPr/>
        </p:nvSpPr>
        <p:spPr>
          <a:xfrm>
            <a:off x="877824" y="3209544"/>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Clustering Analysis</a:t>
            </a:r>
            <a:endParaRPr sz="1300">
              <a:solidFill>
                <a:schemeClr val="dk1"/>
              </a:solidFill>
              <a:latin typeface="Calibri"/>
              <a:ea typeface="Calibri"/>
              <a:cs typeface="Calibri"/>
              <a:sym typeface="Calibri"/>
            </a:endParaRPr>
          </a:p>
        </p:txBody>
      </p:sp>
      <p:sp>
        <p:nvSpPr>
          <p:cNvPr id="134" name="Google Shape;134;p5"/>
          <p:cNvSpPr/>
          <p:nvPr/>
        </p:nvSpPr>
        <p:spPr>
          <a:xfrm>
            <a:off x="877824" y="3502152"/>
            <a:ext cx="4297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K-Means + Hierarchical | RFM segments</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Customers · Products · Countries | ARI validated</a:t>
            </a:r>
            <a:endParaRPr sz="950">
              <a:solidFill>
                <a:schemeClr val="dk1"/>
              </a:solidFill>
              <a:latin typeface="Calibri"/>
              <a:ea typeface="Calibri"/>
              <a:cs typeface="Calibri"/>
              <a:sym typeface="Calibri"/>
            </a:endParaRPr>
          </a:p>
        </p:txBody>
      </p:sp>
      <p:sp>
        <p:nvSpPr>
          <p:cNvPr id="135" name="Google Shape;135;p5"/>
          <p:cNvSpPr/>
          <p:nvPr/>
        </p:nvSpPr>
        <p:spPr>
          <a:xfrm>
            <a:off x="274320" y="4105656"/>
            <a:ext cx="5029200" cy="868680"/>
          </a:xfrm>
          <a:prstGeom prst="rect">
            <a:avLst/>
          </a:prstGeom>
          <a:solidFill>
            <a:srgbClr val="0F2744"/>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5"/>
          <p:cNvSpPr/>
          <p:nvPr/>
        </p:nvSpPr>
        <p:spPr>
          <a:xfrm>
            <a:off x="274320" y="4105656"/>
            <a:ext cx="502920" cy="86868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5"/>
          <p:cNvSpPr/>
          <p:nvPr/>
        </p:nvSpPr>
        <p:spPr>
          <a:xfrm>
            <a:off x="274320" y="4325112"/>
            <a:ext cx="502920"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04</a:t>
            </a:r>
            <a:endParaRPr sz="1600">
              <a:solidFill>
                <a:schemeClr val="dk1"/>
              </a:solidFill>
              <a:latin typeface="Calibri"/>
              <a:ea typeface="Calibri"/>
              <a:cs typeface="Calibri"/>
              <a:sym typeface="Calibri"/>
            </a:endParaRPr>
          </a:p>
        </p:txBody>
      </p:sp>
      <p:sp>
        <p:nvSpPr>
          <p:cNvPr id="138" name="Google Shape;138;p5"/>
          <p:cNvSpPr/>
          <p:nvPr/>
        </p:nvSpPr>
        <p:spPr>
          <a:xfrm>
            <a:off x="877824" y="4197096"/>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Forecasting Model</a:t>
            </a:r>
            <a:endParaRPr sz="1300">
              <a:solidFill>
                <a:schemeClr val="dk1"/>
              </a:solidFill>
              <a:latin typeface="Calibri"/>
              <a:ea typeface="Calibri"/>
              <a:cs typeface="Calibri"/>
              <a:sym typeface="Calibri"/>
            </a:endParaRPr>
          </a:p>
        </p:txBody>
      </p:sp>
      <p:sp>
        <p:nvSpPr>
          <p:cNvPr id="139" name="Google Shape;139;p5"/>
          <p:cNvSpPr/>
          <p:nvPr/>
        </p:nvSpPr>
        <p:spPr>
          <a:xfrm>
            <a:off x="877824" y="4489704"/>
            <a:ext cx="4297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Seasonal Naive vs Gradient Boosting</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30-day revenue &amp; order volume forecast</a:t>
            </a:r>
            <a:endParaRPr sz="950">
              <a:solidFill>
                <a:schemeClr val="dk1"/>
              </a:solidFill>
              <a:latin typeface="Calibri"/>
              <a:ea typeface="Calibri"/>
              <a:cs typeface="Calibri"/>
              <a:sym typeface="Calibri"/>
            </a:endParaRPr>
          </a:p>
        </p:txBody>
      </p:sp>
      <p:sp>
        <p:nvSpPr>
          <p:cNvPr id="140" name="Google Shape;140;p5"/>
          <p:cNvSpPr/>
          <p:nvPr/>
        </p:nvSpPr>
        <p:spPr>
          <a:xfrm>
            <a:off x="5532120" y="1078992"/>
            <a:ext cx="3337560" cy="3858768"/>
          </a:xfrm>
          <a:prstGeom prst="rect">
            <a:avLst/>
          </a:prstGeom>
          <a:solidFill>
            <a:srgbClr val="0A1628"/>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5"/>
          <p:cNvSpPr/>
          <p:nvPr/>
        </p:nvSpPr>
        <p:spPr>
          <a:xfrm>
            <a:off x="5623560" y="1170432"/>
            <a:ext cx="31546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KEY OUTCOMES</a:t>
            </a:r>
            <a:endParaRPr sz="1000">
              <a:solidFill>
                <a:schemeClr val="dk1"/>
              </a:solidFill>
              <a:latin typeface="Calibri"/>
              <a:ea typeface="Calibri"/>
              <a:cs typeface="Calibri"/>
              <a:sym typeface="Calibri"/>
            </a:endParaRPr>
          </a:p>
        </p:txBody>
      </p:sp>
      <p:sp>
        <p:nvSpPr>
          <p:cNvPr id="142" name="Google Shape;142;p5"/>
          <p:cNvSpPr/>
          <p:nvPr/>
        </p:nvSpPr>
        <p:spPr>
          <a:xfrm>
            <a:off x="5623560" y="1554480"/>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43" name="Google Shape;143;p5"/>
          <p:cNvSpPr/>
          <p:nvPr/>
        </p:nvSpPr>
        <p:spPr>
          <a:xfrm>
            <a:off x="5925312" y="1572768"/>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541,910 raw records cleaned to 333,234 (98.4% quality)</a:t>
            </a:r>
            <a:endParaRPr sz="880">
              <a:solidFill>
                <a:schemeClr val="dk1"/>
              </a:solidFill>
              <a:latin typeface="Calibri"/>
              <a:ea typeface="Calibri"/>
              <a:cs typeface="Calibri"/>
              <a:sym typeface="Calibri"/>
            </a:endParaRPr>
          </a:p>
        </p:txBody>
      </p:sp>
      <p:sp>
        <p:nvSpPr>
          <p:cNvPr id="144" name="Google Shape;144;p5"/>
          <p:cNvSpPr/>
          <p:nvPr/>
        </p:nvSpPr>
        <p:spPr>
          <a:xfrm>
            <a:off x="5623560" y="1892808"/>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45" name="Google Shape;145;p5"/>
          <p:cNvSpPr/>
          <p:nvPr/>
        </p:nvSpPr>
        <p:spPr>
          <a:xfrm>
            <a:off x="5925312" y="1911096"/>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4 RFM customer segments identified (ARI = 0.762)</a:t>
            </a:r>
            <a:endParaRPr sz="880">
              <a:solidFill>
                <a:schemeClr val="dk1"/>
              </a:solidFill>
              <a:latin typeface="Calibri"/>
              <a:ea typeface="Calibri"/>
              <a:cs typeface="Calibri"/>
              <a:sym typeface="Calibri"/>
            </a:endParaRPr>
          </a:p>
        </p:txBody>
      </p:sp>
      <p:sp>
        <p:nvSpPr>
          <p:cNvPr id="146" name="Google Shape;146;p5"/>
          <p:cNvSpPr/>
          <p:nvPr/>
        </p:nvSpPr>
        <p:spPr>
          <a:xfrm>
            <a:off x="5623560" y="2231136"/>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47" name="Google Shape;147;p5"/>
          <p:cNvSpPr/>
          <p:nvPr/>
        </p:nvSpPr>
        <p:spPr>
          <a:xfrm>
            <a:off x="5925312" y="2249424"/>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3 product demand tiers for inventory strategy</a:t>
            </a:r>
            <a:endParaRPr sz="880">
              <a:solidFill>
                <a:schemeClr val="dk1"/>
              </a:solidFill>
              <a:latin typeface="Calibri"/>
              <a:ea typeface="Calibri"/>
              <a:cs typeface="Calibri"/>
              <a:sym typeface="Calibri"/>
            </a:endParaRPr>
          </a:p>
        </p:txBody>
      </p:sp>
      <p:sp>
        <p:nvSpPr>
          <p:cNvPr id="148" name="Google Shape;148;p5"/>
          <p:cNvSpPr/>
          <p:nvPr/>
        </p:nvSpPr>
        <p:spPr>
          <a:xfrm>
            <a:off x="5623560" y="2569464"/>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49" name="Google Shape;149;p5"/>
          <p:cNvSpPr/>
          <p:nvPr/>
        </p:nvSpPr>
        <p:spPr>
          <a:xfrm>
            <a:off x="5925312" y="2587752"/>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3 market performance tiers across 37 countries</a:t>
            </a:r>
            <a:endParaRPr sz="880">
              <a:solidFill>
                <a:schemeClr val="dk1"/>
              </a:solidFill>
              <a:latin typeface="Calibri"/>
              <a:ea typeface="Calibri"/>
              <a:cs typeface="Calibri"/>
              <a:sym typeface="Calibri"/>
            </a:endParaRPr>
          </a:p>
        </p:txBody>
      </p:sp>
      <p:sp>
        <p:nvSpPr>
          <p:cNvPr id="150" name="Google Shape;150;p5"/>
          <p:cNvSpPr/>
          <p:nvPr/>
        </p:nvSpPr>
        <p:spPr>
          <a:xfrm>
            <a:off x="5623560" y="2907792"/>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51" name="Google Shape;151;p5"/>
          <p:cNvSpPr/>
          <p:nvPr/>
        </p:nvSpPr>
        <p:spPr>
          <a:xfrm>
            <a:off x="5925312" y="2926080"/>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GB model: RMSE £5,987 vs Naive £8,048 on revenue</a:t>
            </a:r>
            <a:endParaRPr sz="880">
              <a:solidFill>
                <a:schemeClr val="dk1"/>
              </a:solidFill>
              <a:latin typeface="Calibri"/>
              <a:ea typeface="Calibri"/>
              <a:cs typeface="Calibri"/>
              <a:sym typeface="Calibri"/>
            </a:endParaRPr>
          </a:p>
        </p:txBody>
      </p:sp>
      <p:sp>
        <p:nvSpPr>
          <p:cNvPr id="152" name="Google Shape;152;p5"/>
          <p:cNvSpPr/>
          <p:nvPr/>
        </p:nvSpPr>
        <p:spPr>
          <a:xfrm>
            <a:off x="5623560" y="3246120"/>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1100"/>
              <a:buFont typeface="Calibri"/>
              <a:buNone/>
            </a:pPr>
            <a:r>
              <a:rPr lang="en-US" sz="1100" b="1">
                <a:solidFill>
                  <a:srgbClr val="22C55E"/>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53" name="Google Shape;153;p5"/>
          <p:cNvSpPr/>
          <p:nvPr/>
        </p:nvSpPr>
        <p:spPr>
          <a:xfrm>
            <a:off x="5925312" y="3264408"/>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30-day forecast: £540K revenue, 2,090 orders</a:t>
            </a:r>
            <a:endParaRPr sz="880">
              <a:solidFill>
                <a:schemeClr val="dk1"/>
              </a:solidFill>
              <a:latin typeface="Calibri"/>
              <a:ea typeface="Calibri"/>
              <a:cs typeface="Calibri"/>
              <a:sym typeface="Calibri"/>
            </a:endParaRPr>
          </a:p>
        </p:txBody>
      </p:sp>
      <p:sp>
        <p:nvSpPr>
          <p:cNvPr id="154" name="Google Shape;154;p5"/>
          <p:cNvSpPr/>
          <p:nvPr/>
        </p:nvSpPr>
        <p:spPr>
          <a:xfrm>
            <a:off x="5623560" y="3584448"/>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55" name="Google Shape;155;p5"/>
          <p:cNvSpPr/>
          <p:nvPr/>
        </p:nvSpPr>
        <p:spPr>
          <a:xfrm>
            <a:off x="5925312" y="3602736"/>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VIP loyalty for Loyal cluster (£4,158 avg spend)</a:t>
            </a:r>
            <a:endParaRPr sz="880">
              <a:solidFill>
                <a:schemeClr val="dk1"/>
              </a:solidFill>
              <a:latin typeface="Calibri"/>
              <a:ea typeface="Calibri"/>
              <a:cs typeface="Calibri"/>
              <a:sym typeface="Calibri"/>
            </a:endParaRPr>
          </a:p>
        </p:txBody>
      </p:sp>
      <p:sp>
        <p:nvSpPr>
          <p:cNvPr id="156" name="Google Shape;156;p5"/>
          <p:cNvSpPr/>
          <p:nvPr/>
        </p:nvSpPr>
        <p:spPr>
          <a:xfrm>
            <a:off x="5623560" y="3922776"/>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57" name="Google Shape;157;p5"/>
          <p:cNvSpPr/>
          <p:nvPr/>
        </p:nvSpPr>
        <p:spPr>
          <a:xfrm>
            <a:off x="5925312" y="3941064"/>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Q4 marketing: Nov peaks £642K in a single month</a:t>
            </a:r>
            <a:endParaRPr sz="880">
              <a:solidFill>
                <a:schemeClr val="dk1"/>
              </a:solidFill>
              <a:latin typeface="Calibri"/>
              <a:ea typeface="Calibri"/>
              <a:cs typeface="Calibri"/>
              <a:sym typeface="Calibri"/>
            </a:endParaRPr>
          </a:p>
        </p:txBody>
      </p:sp>
      <p:sp>
        <p:nvSpPr>
          <p:cNvPr id="158" name="Google Shape;158;p5"/>
          <p:cNvSpPr/>
          <p:nvPr/>
        </p:nvSpPr>
        <p:spPr>
          <a:xfrm>
            <a:off x="5623560" y="4261104"/>
            <a:ext cx="274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59" name="Google Shape;159;p5"/>
          <p:cNvSpPr/>
          <p:nvPr/>
        </p:nvSpPr>
        <p:spPr>
          <a:xfrm>
            <a:off x="5925312" y="4279392"/>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80"/>
              <a:buFont typeface="Calibri"/>
              <a:buNone/>
            </a:pPr>
            <a:r>
              <a:rPr lang="en-US" sz="880">
                <a:solidFill>
                  <a:srgbClr val="CBD5E1"/>
                </a:solidFill>
                <a:latin typeface="Calibri"/>
                <a:ea typeface="Calibri"/>
                <a:cs typeface="Calibri"/>
                <a:sym typeface="Calibri"/>
              </a:rPr>
              <a:t>Thursday 12pm: schedule promotions for peak ROI</a:t>
            </a:r>
            <a:endParaRPr sz="88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164"/>
        <p:cNvGrpSpPr/>
        <p:nvPr/>
      </p:nvGrpSpPr>
      <p:grpSpPr>
        <a:xfrm>
          <a:off x="0" y="0"/>
          <a:ext cx="0" cy="0"/>
          <a:chOff x="0" y="0"/>
          <a:chExt cx="0" cy="0"/>
        </a:xfrm>
      </p:grpSpPr>
      <p:sp>
        <p:nvSpPr>
          <p:cNvPr id="165" name="Google Shape;165;p6"/>
          <p:cNvSpPr/>
          <p:nvPr/>
        </p:nvSpPr>
        <p:spPr>
          <a:xfrm>
            <a:off x="0" y="0"/>
            <a:ext cx="9144000" cy="20116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6"/>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1 — ETL  |  DATASET OVERVIEW</a:t>
            </a:r>
            <a:endParaRPr sz="900">
              <a:solidFill>
                <a:schemeClr val="dk1"/>
              </a:solidFill>
              <a:latin typeface="Calibri"/>
              <a:ea typeface="Calibri"/>
              <a:cs typeface="Calibri"/>
              <a:sym typeface="Calibri"/>
            </a:endParaRPr>
          </a:p>
        </p:txBody>
      </p:sp>
      <p:sp>
        <p:nvSpPr>
          <p:cNvPr id="167" name="Google Shape;167;p6"/>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6"/>
          <p:cNvSpPr/>
          <p:nvPr/>
        </p:nvSpPr>
        <p:spPr>
          <a:xfrm>
            <a:off x="0" y="960120"/>
            <a:ext cx="914400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6"/>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Dataset Overview</a:t>
            </a:r>
            <a:endParaRPr sz="2000">
              <a:solidFill>
                <a:schemeClr val="dk1"/>
              </a:solidFill>
              <a:latin typeface="Calibri"/>
              <a:ea typeface="Calibri"/>
              <a:cs typeface="Calibri"/>
              <a:sym typeface="Calibri"/>
            </a:endParaRPr>
          </a:p>
        </p:txBody>
      </p:sp>
      <p:sp>
        <p:nvSpPr>
          <p:cNvPr id="170" name="Google Shape;170;p6"/>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Online Retail II — Source, Scope &amp; Data Dictionary</a:t>
            </a:r>
            <a:endParaRPr sz="1100">
              <a:solidFill>
                <a:schemeClr val="dk1"/>
              </a:solidFill>
              <a:latin typeface="Calibri"/>
              <a:ea typeface="Calibri"/>
              <a:cs typeface="Calibri"/>
              <a:sym typeface="Calibri"/>
            </a:endParaRPr>
          </a:p>
        </p:txBody>
      </p:sp>
      <p:sp>
        <p:nvSpPr>
          <p:cNvPr id="171" name="Google Shape;171;p6"/>
          <p:cNvSpPr/>
          <p:nvPr/>
        </p:nvSpPr>
        <p:spPr>
          <a:xfrm>
            <a:off x="274320" y="1170432"/>
            <a:ext cx="1828800" cy="393192"/>
          </a:xfrm>
          <a:prstGeom prst="rect">
            <a:avLst/>
          </a:prstGeom>
          <a:solidFill>
            <a:srgbClr val="0D1B2A"/>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6"/>
          <p:cNvSpPr/>
          <p:nvPr/>
        </p:nvSpPr>
        <p:spPr>
          <a:xfrm>
            <a:off x="274320" y="1170432"/>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Source</a:t>
            </a:r>
            <a:endParaRPr sz="950">
              <a:solidFill>
                <a:schemeClr val="dk1"/>
              </a:solidFill>
              <a:latin typeface="Calibri"/>
              <a:ea typeface="Calibri"/>
              <a:cs typeface="Calibri"/>
              <a:sym typeface="Calibri"/>
            </a:endParaRPr>
          </a:p>
        </p:txBody>
      </p:sp>
      <p:sp>
        <p:nvSpPr>
          <p:cNvPr id="173" name="Google Shape;173;p6"/>
          <p:cNvSpPr/>
          <p:nvPr/>
        </p:nvSpPr>
        <p:spPr>
          <a:xfrm>
            <a:off x="2103120" y="1170432"/>
            <a:ext cx="4069080" cy="39319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6"/>
          <p:cNvSpPr/>
          <p:nvPr/>
        </p:nvSpPr>
        <p:spPr>
          <a:xfrm>
            <a:off x="2194560" y="1170432"/>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Kaggle — mathchi/online-retail-ii-data-set-from-ml-repository</a:t>
            </a:r>
            <a:endParaRPr sz="1000">
              <a:solidFill>
                <a:schemeClr val="dk1"/>
              </a:solidFill>
              <a:latin typeface="Calibri"/>
              <a:ea typeface="Calibri"/>
              <a:cs typeface="Calibri"/>
              <a:sym typeface="Calibri"/>
            </a:endParaRPr>
          </a:p>
        </p:txBody>
      </p:sp>
      <p:sp>
        <p:nvSpPr>
          <p:cNvPr id="175" name="Google Shape;175;p6"/>
          <p:cNvSpPr/>
          <p:nvPr/>
        </p:nvSpPr>
        <p:spPr>
          <a:xfrm>
            <a:off x="274320" y="1618488"/>
            <a:ext cx="1828800" cy="39319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6"/>
          <p:cNvSpPr/>
          <p:nvPr/>
        </p:nvSpPr>
        <p:spPr>
          <a:xfrm>
            <a:off x="274320" y="1618488"/>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Time Period</a:t>
            </a:r>
            <a:endParaRPr sz="950">
              <a:solidFill>
                <a:schemeClr val="dk1"/>
              </a:solidFill>
              <a:latin typeface="Calibri"/>
              <a:ea typeface="Calibri"/>
              <a:cs typeface="Calibri"/>
              <a:sym typeface="Calibri"/>
            </a:endParaRPr>
          </a:p>
        </p:txBody>
      </p:sp>
      <p:sp>
        <p:nvSpPr>
          <p:cNvPr id="177" name="Google Shape;177;p6"/>
          <p:cNvSpPr/>
          <p:nvPr/>
        </p:nvSpPr>
        <p:spPr>
          <a:xfrm>
            <a:off x="2103120" y="1618488"/>
            <a:ext cx="4069080" cy="393192"/>
          </a:xfrm>
          <a:prstGeom prst="rect">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6"/>
          <p:cNvSpPr/>
          <p:nvPr/>
        </p:nvSpPr>
        <p:spPr>
          <a:xfrm>
            <a:off x="2194560" y="1618488"/>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December 2010 – December 2011 (12 months)</a:t>
            </a:r>
            <a:endParaRPr sz="1000">
              <a:solidFill>
                <a:schemeClr val="dk1"/>
              </a:solidFill>
              <a:latin typeface="Calibri"/>
              <a:ea typeface="Calibri"/>
              <a:cs typeface="Calibri"/>
              <a:sym typeface="Calibri"/>
            </a:endParaRPr>
          </a:p>
        </p:txBody>
      </p:sp>
      <p:sp>
        <p:nvSpPr>
          <p:cNvPr id="179" name="Google Shape;179;p6"/>
          <p:cNvSpPr/>
          <p:nvPr/>
        </p:nvSpPr>
        <p:spPr>
          <a:xfrm>
            <a:off x="274320" y="2066544"/>
            <a:ext cx="1828800" cy="393192"/>
          </a:xfrm>
          <a:prstGeom prst="rect">
            <a:avLst/>
          </a:prstGeom>
          <a:solidFill>
            <a:srgbClr val="0D1B2A"/>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6"/>
          <p:cNvSpPr/>
          <p:nvPr/>
        </p:nvSpPr>
        <p:spPr>
          <a:xfrm>
            <a:off x="274320" y="2066544"/>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Geography</a:t>
            </a:r>
            <a:endParaRPr sz="950">
              <a:solidFill>
                <a:schemeClr val="dk1"/>
              </a:solidFill>
              <a:latin typeface="Calibri"/>
              <a:ea typeface="Calibri"/>
              <a:cs typeface="Calibri"/>
              <a:sym typeface="Calibri"/>
            </a:endParaRPr>
          </a:p>
        </p:txBody>
      </p:sp>
      <p:sp>
        <p:nvSpPr>
          <p:cNvPr id="181" name="Google Shape;181;p6"/>
          <p:cNvSpPr/>
          <p:nvPr/>
        </p:nvSpPr>
        <p:spPr>
          <a:xfrm>
            <a:off x="2103120" y="2066544"/>
            <a:ext cx="4069080" cy="39319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6"/>
          <p:cNvSpPr/>
          <p:nvPr/>
        </p:nvSpPr>
        <p:spPr>
          <a:xfrm>
            <a:off x="2194560" y="2066544"/>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United Kingdom (primary) — 37 countries total</a:t>
            </a:r>
            <a:endParaRPr sz="1000">
              <a:solidFill>
                <a:schemeClr val="dk1"/>
              </a:solidFill>
              <a:latin typeface="Calibri"/>
              <a:ea typeface="Calibri"/>
              <a:cs typeface="Calibri"/>
              <a:sym typeface="Calibri"/>
            </a:endParaRPr>
          </a:p>
        </p:txBody>
      </p:sp>
      <p:sp>
        <p:nvSpPr>
          <p:cNvPr id="183" name="Google Shape;183;p6"/>
          <p:cNvSpPr/>
          <p:nvPr/>
        </p:nvSpPr>
        <p:spPr>
          <a:xfrm>
            <a:off x="274320" y="2514600"/>
            <a:ext cx="1828800" cy="39319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6"/>
          <p:cNvSpPr/>
          <p:nvPr/>
        </p:nvSpPr>
        <p:spPr>
          <a:xfrm>
            <a:off x="274320" y="2514600"/>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Business Type</a:t>
            </a:r>
            <a:endParaRPr sz="950">
              <a:solidFill>
                <a:schemeClr val="dk1"/>
              </a:solidFill>
              <a:latin typeface="Calibri"/>
              <a:ea typeface="Calibri"/>
              <a:cs typeface="Calibri"/>
              <a:sym typeface="Calibri"/>
            </a:endParaRPr>
          </a:p>
        </p:txBody>
      </p:sp>
      <p:sp>
        <p:nvSpPr>
          <p:cNvPr id="185" name="Google Shape;185;p6"/>
          <p:cNvSpPr/>
          <p:nvPr/>
        </p:nvSpPr>
        <p:spPr>
          <a:xfrm>
            <a:off x="2103120" y="2514600"/>
            <a:ext cx="4069080" cy="393192"/>
          </a:xfrm>
          <a:prstGeom prst="rect">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6"/>
          <p:cNvSpPr/>
          <p:nvPr/>
        </p:nvSpPr>
        <p:spPr>
          <a:xfrm>
            <a:off x="2194560" y="2514600"/>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Non-store B2C &amp; B2B online retail (giftware)</a:t>
            </a:r>
            <a:endParaRPr sz="1000">
              <a:solidFill>
                <a:schemeClr val="dk1"/>
              </a:solidFill>
              <a:latin typeface="Calibri"/>
              <a:ea typeface="Calibri"/>
              <a:cs typeface="Calibri"/>
              <a:sym typeface="Calibri"/>
            </a:endParaRPr>
          </a:p>
        </p:txBody>
      </p:sp>
      <p:sp>
        <p:nvSpPr>
          <p:cNvPr id="187" name="Google Shape;187;p6"/>
          <p:cNvSpPr/>
          <p:nvPr/>
        </p:nvSpPr>
        <p:spPr>
          <a:xfrm>
            <a:off x="274320" y="2962656"/>
            <a:ext cx="1828800" cy="393192"/>
          </a:xfrm>
          <a:prstGeom prst="rect">
            <a:avLst/>
          </a:prstGeom>
          <a:solidFill>
            <a:srgbClr val="0D1B2A"/>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6"/>
          <p:cNvSpPr/>
          <p:nvPr/>
        </p:nvSpPr>
        <p:spPr>
          <a:xfrm>
            <a:off x="274320" y="2962656"/>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Raw Records</a:t>
            </a:r>
            <a:endParaRPr sz="950">
              <a:solidFill>
                <a:schemeClr val="dk1"/>
              </a:solidFill>
              <a:latin typeface="Calibri"/>
              <a:ea typeface="Calibri"/>
              <a:cs typeface="Calibri"/>
              <a:sym typeface="Calibri"/>
            </a:endParaRPr>
          </a:p>
        </p:txBody>
      </p:sp>
      <p:sp>
        <p:nvSpPr>
          <p:cNvPr id="189" name="Google Shape;189;p6"/>
          <p:cNvSpPr/>
          <p:nvPr/>
        </p:nvSpPr>
        <p:spPr>
          <a:xfrm>
            <a:off x="2103120" y="2962656"/>
            <a:ext cx="4069080" cy="39319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6"/>
          <p:cNvSpPr/>
          <p:nvPr/>
        </p:nvSpPr>
        <p:spPr>
          <a:xfrm>
            <a:off x="2194560" y="2962656"/>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541,910 invoice-line records</a:t>
            </a:r>
            <a:endParaRPr sz="1000">
              <a:solidFill>
                <a:schemeClr val="dk1"/>
              </a:solidFill>
              <a:latin typeface="Calibri"/>
              <a:ea typeface="Calibri"/>
              <a:cs typeface="Calibri"/>
              <a:sym typeface="Calibri"/>
            </a:endParaRPr>
          </a:p>
        </p:txBody>
      </p:sp>
      <p:sp>
        <p:nvSpPr>
          <p:cNvPr id="191" name="Google Shape;191;p6"/>
          <p:cNvSpPr/>
          <p:nvPr/>
        </p:nvSpPr>
        <p:spPr>
          <a:xfrm>
            <a:off x="274320" y="3410712"/>
            <a:ext cx="1828800" cy="39319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6"/>
          <p:cNvSpPr/>
          <p:nvPr/>
        </p:nvSpPr>
        <p:spPr>
          <a:xfrm>
            <a:off x="274320" y="3410712"/>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Columns</a:t>
            </a:r>
            <a:endParaRPr sz="950">
              <a:solidFill>
                <a:schemeClr val="dk1"/>
              </a:solidFill>
              <a:latin typeface="Calibri"/>
              <a:ea typeface="Calibri"/>
              <a:cs typeface="Calibri"/>
              <a:sym typeface="Calibri"/>
            </a:endParaRPr>
          </a:p>
        </p:txBody>
      </p:sp>
      <p:sp>
        <p:nvSpPr>
          <p:cNvPr id="193" name="Google Shape;193;p6"/>
          <p:cNvSpPr/>
          <p:nvPr/>
        </p:nvSpPr>
        <p:spPr>
          <a:xfrm>
            <a:off x="2103120" y="3410712"/>
            <a:ext cx="4069080" cy="393192"/>
          </a:xfrm>
          <a:prstGeom prst="rect">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6"/>
          <p:cNvSpPr/>
          <p:nvPr/>
        </p:nvSpPr>
        <p:spPr>
          <a:xfrm>
            <a:off x="2194560" y="3410712"/>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8 original features</a:t>
            </a:r>
            <a:endParaRPr sz="1000">
              <a:solidFill>
                <a:schemeClr val="dk1"/>
              </a:solidFill>
              <a:latin typeface="Calibri"/>
              <a:ea typeface="Calibri"/>
              <a:cs typeface="Calibri"/>
              <a:sym typeface="Calibri"/>
            </a:endParaRPr>
          </a:p>
        </p:txBody>
      </p:sp>
      <p:sp>
        <p:nvSpPr>
          <p:cNvPr id="195" name="Google Shape;195;p6"/>
          <p:cNvSpPr/>
          <p:nvPr/>
        </p:nvSpPr>
        <p:spPr>
          <a:xfrm>
            <a:off x="274320" y="3858768"/>
            <a:ext cx="1828800" cy="393192"/>
          </a:xfrm>
          <a:prstGeom prst="rect">
            <a:avLst/>
          </a:prstGeom>
          <a:solidFill>
            <a:srgbClr val="0D1B2A"/>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6"/>
          <p:cNvSpPr/>
          <p:nvPr/>
        </p:nvSpPr>
        <p:spPr>
          <a:xfrm>
            <a:off x="274320" y="3858768"/>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Download</a:t>
            </a:r>
            <a:endParaRPr sz="950">
              <a:solidFill>
                <a:schemeClr val="dk1"/>
              </a:solidFill>
              <a:latin typeface="Calibri"/>
              <a:ea typeface="Calibri"/>
              <a:cs typeface="Calibri"/>
              <a:sym typeface="Calibri"/>
            </a:endParaRPr>
          </a:p>
        </p:txBody>
      </p:sp>
      <p:sp>
        <p:nvSpPr>
          <p:cNvPr id="197" name="Google Shape;197;p6"/>
          <p:cNvSpPr/>
          <p:nvPr/>
        </p:nvSpPr>
        <p:spPr>
          <a:xfrm>
            <a:off x="2103120" y="3858768"/>
            <a:ext cx="4069080" cy="39319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6"/>
          <p:cNvSpPr/>
          <p:nvPr/>
        </p:nvSpPr>
        <p:spPr>
          <a:xfrm>
            <a:off x="2194560" y="3858768"/>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kagglehub.dataset_download() — automatic v3</a:t>
            </a:r>
            <a:endParaRPr sz="1000">
              <a:solidFill>
                <a:schemeClr val="dk1"/>
              </a:solidFill>
              <a:latin typeface="Calibri"/>
              <a:ea typeface="Calibri"/>
              <a:cs typeface="Calibri"/>
              <a:sym typeface="Calibri"/>
            </a:endParaRPr>
          </a:p>
        </p:txBody>
      </p:sp>
      <p:sp>
        <p:nvSpPr>
          <p:cNvPr id="199" name="Google Shape;199;p6"/>
          <p:cNvSpPr/>
          <p:nvPr/>
        </p:nvSpPr>
        <p:spPr>
          <a:xfrm>
            <a:off x="274320" y="4306824"/>
            <a:ext cx="1828800" cy="39319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6"/>
          <p:cNvSpPr/>
          <p:nvPr/>
        </p:nvSpPr>
        <p:spPr>
          <a:xfrm>
            <a:off x="274320" y="4306824"/>
            <a:ext cx="1828800" cy="3931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Licence</a:t>
            </a:r>
            <a:endParaRPr sz="950">
              <a:solidFill>
                <a:schemeClr val="dk1"/>
              </a:solidFill>
              <a:latin typeface="Calibri"/>
              <a:ea typeface="Calibri"/>
              <a:cs typeface="Calibri"/>
              <a:sym typeface="Calibri"/>
            </a:endParaRPr>
          </a:p>
        </p:txBody>
      </p:sp>
      <p:sp>
        <p:nvSpPr>
          <p:cNvPr id="201" name="Google Shape;201;p6"/>
          <p:cNvSpPr/>
          <p:nvPr/>
        </p:nvSpPr>
        <p:spPr>
          <a:xfrm>
            <a:off x="2103120" y="4306824"/>
            <a:ext cx="4069080" cy="393192"/>
          </a:xfrm>
          <a:prstGeom prst="rect">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6"/>
          <p:cNvSpPr/>
          <p:nvPr/>
        </p:nvSpPr>
        <p:spPr>
          <a:xfrm>
            <a:off x="2194560" y="4306824"/>
            <a:ext cx="3886200" cy="3931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CC BY 4.0 — Open for academic use</a:t>
            </a:r>
            <a:endParaRPr sz="1000">
              <a:solidFill>
                <a:schemeClr val="dk1"/>
              </a:solidFill>
              <a:latin typeface="Calibri"/>
              <a:ea typeface="Calibri"/>
              <a:cs typeface="Calibri"/>
              <a:sym typeface="Calibri"/>
            </a:endParaRPr>
          </a:p>
        </p:txBody>
      </p:sp>
      <p:sp>
        <p:nvSpPr>
          <p:cNvPr id="203" name="Google Shape;203;p6"/>
          <p:cNvSpPr/>
          <p:nvPr/>
        </p:nvSpPr>
        <p:spPr>
          <a:xfrm>
            <a:off x="6400800" y="1115568"/>
            <a:ext cx="2514600" cy="3767328"/>
          </a:xfrm>
          <a:prstGeom prst="rect">
            <a:avLst/>
          </a:prstGeom>
          <a:solidFill>
            <a:srgbClr val="0D1B2A"/>
          </a:solidFill>
          <a:ln>
            <a:noFill/>
          </a:ln>
          <a:effectLst>
            <a:outerShdw blurRad="190500" dist="228600" dir="2700000" algn="ctr">
              <a:srgbClr val="000000">
                <a:alpha val="3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6"/>
          <p:cNvSpPr/>
          <p:nvPr/>
        </p:nvSpPr>
        <p:spPr>
          <a:xfrm>
            <a:off x="6400800" y="1188720"/>
            <a:ext cx="25146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DATA DICTIONARY</a:t>
            </a:r>
            <a:endParaRPr sz="900">
              <a:solidFill>
                <a:schemeClr val="dk1"/>
              </a:solidFill>
              <a:latin typeface="Calibri"/>
              <a:ea typeface="Calibri"/>
              <a:cs typeface="Calibri"/>
              <a:sym typeface="Calibri"/>
            </a:endParaRPr>
          </a:p>
        </p:txBody>
      </p:sp>
      <p:sp>
        <p:nvSpPr>
          <p:cNvPr id="205" name="Google Shape;205;p6"/>
          <p:cNvSpPr/>
          <p:nvPr/>
        </p:nvSpPr>
        <p:spPr>
          <a:xfrm>
            <a:off x="6446520" y="1600200"/>
            <a:ext cx="2423160" cy="34747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6"/>
          <p:cNvSpPr/>
          <p:nvPr/>
        </p:nvSpPr>
        <p:spPr>
          <a:xfrm>
            <a:off x="6492240" y="1618488"/>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Invoice</a:t>
            </a:r>
            <a:endParaRPr sz="950">
              <a:solidFill>
                <a:schemeClr val="dk1"/>
              </a:solidFill>
              <a:latin typeface="Calibri"/>
              <a:ea typeface="Calibri"/>
              <a:cs typeface="Calibri"/>
              <a:sym typeface="Calibri"/>
            </a:endParaRPr>
          </a:p>
        </p:txBody>
      </p:sp>
      <p:sp>
        <p:nvSpPr>
          <p:cNvPr id="207" name="Google Shape;207;p6"/>
          <p:cNvSpPr/>
          <p:nvPr/>
        </p:nvSpPr>
        <p:spPr>
          <a:xfrm>
            <a:off x="6492240" y="1783080"/>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ID — 'C' = cancellation</a:t>
            </a:r>
            <a:endParaRPr sz="800">
              <a:solidFill>
                <a:schemeClr val="dk1"/>
              </a:solidFill>
              <a:latin typeface="Calibri"/>
              <a:ea typeface="Calibri"/>
              <a:cs typeface="Calibri"/>
              <a:sym typeface="Calibri"/>
            </a:endParaRPr>
          </a:p>
        </p:txBody>
      </p:sp>
      <p:sp>
        <p:nvSpPr>
          <p:cNvPr id="208" name="Google Shape;208;p6"/>
          <p:cNvSpPr/>
          <p:nvPr/>
        </p:nvSpPr>
        <p:spPr>
          <a:xfrm>
            <a:off x="6446520" y="2002536"/>
            <a:ext cx="2423160" cy="347472"/>
          </a:xfrm>
          <a:prstGeom prst="rect">
            <a:avLst/>
          </a:prstGeom>
          <a:solidFill>
            <a:srgbClr val="182C45"/>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6"/>
          <p:cNvSpPr/>
          <p:nvPr/>
        </p:nvSpPr>
        <p:spPr>
          <a:xfrm>
            <a:off x="6492240" y="2020824"/>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StockCode</a:t>
            </a:r>
            <a:endParaRPr sz="950">
              <a:solidFill>
                <a:schemeClr val="dk1"/>
              </a:solidFill>
              <a:latin typeface="Calibri"/>
              <a:ea typeface="Calibri"/>
              <a:cs typeface="Calibri"/>
              <a:sym typeface="Calibri"/>
            </a:endParaRPr>
          </a:p>
        </p:txBody>
      </p:sp>
      <p:sp>
        <p:nvSpPr>
          <p:cNvPr id="210" name="Google Shape;210;p6"/>
          <p:cNvSpPr/>
          <p:nvPr/>
        </p:nvSpPr>
        <p:spPr>
          <a:xfrm>
            <a:off x="6492240" y="2185416"/>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Product code</a:t>
            </a:r>
            <a:endParaRPr sz="800">
              <a:solidFill>
                <a:schemeClr val="dk1"/>
              </a:solidFill>
              <a:latin typeface="Calibri"/>
              <a:ea typeface="Calibri"/>
              <a:cs typeface="Calibri"/>
              <a:sym typeface="Calibri"/>
            </a:endParaRPr>
          </a:p>
        </p:txBody>
      </p:sp>
      <p:sp>
        <p:nvSpPr>
          <p:cNvPr id="211" name="Google Shape;211;p6"/>
          <p:cNvSpPr/>
          <p:nvPr/>
        </p:nvSpPr>
        <p:spPr>
          <a:xfrm>
            <a:off x="6446520" y="2404872"/>
            <a:ext cx="2423160" cy="34747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6"/>
          <p:cNvSpPr/>
          <p:nvPr/>
        </p:nvSpPr>
        <p:spPr>
          <a:xfrm>
            <a:off x="6492240" y="2423160"/>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Description</a:t>
            </a:r>
            <a:endParaRPr sz="950">
              <a:solidFill>
                <a:schemeClr val="dk1"/>
              </a:solidFill>
              <a:latin typeface="Calibri"/>
              <a:ea typeface="Calibri"/>
              <a:cs typeface="Calibri"/>
              <a:sym typeface="Calibri"/>
            </a:endParaRPr>
          </a:p>
        </p:txBody>
      </p:sp>
      <p:sp>
        <p:nvSpPr>
          <p:cNvPr id="213" name="Google Shape;213;p6"/>
          <p:cNvSpPr/>
          <p:nvPr/>
        </p:nvSpPr>
        <p:spPr>
          <a:xfrm>
            <a:off x="6492240" y="2587752"/>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Product name (nullable)</a:t>
            </a:r>
            <a:endParaRPr sz="800">
              <a:solidFill>
                <a:schemeClr val="dk1"/>
              </a:solidFill>
              <a:latin typeface="Calibri"/>
              <a:ea typeface="Calibri"/>
              <a:cs typeface="Calibri"/>
              <a:sym typeface="Calibri"/>
            </a:endParaRPr>
          </a:p>
        </p:txBody>
      </p:sp>
      <p:sp>
        <p:nvSpPr>
          <p:cNvPr id="214" name="Google Shape;214;p6"/>
          <p:cNvSpPr/>
          <p:nvPr/>
        </p:nvSpPr>
        <p:spPr>
          <a:xfrm>
            <a:off x="6446520" y="2807208"/>
            <a:ext cx="2423160" cy="347472"/>
          </a:xfrm>
          <a:prstGeom prst="rect">
            <a:avLst/>
          </a:prstGeom>
          <a:solidFill>
            <a:srgbClr val="182C45"/>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6"/>
          <p:cNvSpPr/>
          <p:nvPr/>
        </p:nvSpPr>
        <p:spPr>
          <a:xfrm>
            <a:off x="6492240" y="2825496"/>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Quantity</a:t>
            </a:r>
            <a:endParaRPr sz="950">
              <a:solidFill>
                <a:schemeClr val="dk1"/>
              </a:solidFill>
              <a:latin typeface="Calibri"/>
              <a:ea typeface="Calibri"/>
              <a:cs typeface="Calibri"/>
              <a:sym typeface="Calibri"/>
            </a:endParaRPr>
          </a:p>
        </p:txBody>
      </p:sp>
      <p:sp>
        <p:nvSpPr>
          <p:cNvPr id="216" name="Google Shape;216;p6"/>
          <p:cNvSpPr/>
          <p:nvPr/>
        </p:nvSpPr>
        <p:spPr>
          <a:xfrm>
            <a:off x="6492240" y="2990088"/>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Units — negatives=returns</a:t>
            </a:r>
            <a:endParaRPr sz="800">
              <a:solidFill>
                <a:schemeClr val="dk1"/>
              </a:solidFill>
              <a:latin typeface="Calibri"/>
              <a:ea typeface="Calibri"/>
              <a:cs typeface="Calibri"/>
              <a:sym typeface="Calibri"/>
            </a:endParaRPr>
          </a:p>
        </p:txBody>
      </p:sp>
      <p:sp>
        <p:nvSpPr>
          <p:cNvPr id="217" name="Google Shape;217;p6"/>
          <p:cNvSpPr/>
          <p:nvPr/>
        </p:nvSpPr>
        <p:spPr>
          <a:xfrm>
            <a:off x="6446520" y="3209544"/>
            <a:ext cx="2423160" cy="34747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6"/>
          <p:cNvSpPr/>
          <p:nvPr/>
        </p:nvSpPr>
        <p:spPr>
          <a:xfrm>
            <a:off x="6492240" y="3227832"/>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InvoiceDate</a:t>
            </a:r>
            <a:endParaRPr sz="950">
              <a:solidFill>
                <a:schemeClr val="dk1"/>
              </a:solidFill>
              <a:latin typeface="Calibri"/>
              <a:ea typeface="Calibri"/>
              <a:cs typeface="Calibri"/>
              <a:sym typeface="Calibri"/>
            </a:endParaRPr>
          </a:p>
        </p:txBody>
      </p:sp>
      <p:sp>
        <p:nvSpPr>
          <p:cNvPr id="219" name="Google Shape;219;p6"/>
          <p:cNvSpPr/>
          <p:nvPr/>
        </p:nvSpPr>
        <p:spPr>
          <a:xfrm>
            <a:off x="6492240" y="3392424"/>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String → datetime64</a:t>
            </a:r>
            <a:endParaRPr sz="800">
              <a:solidFill>
                <a:schemeClr val="dk1"/>
              </a:solidFill>
              <a:latin typeface="Calibri"/>
              <a:ea typeface="Calibri"/>
              <a:cs typeface="Calibri"/>
              <a:sym typeface="Calibri"/>
            </a:endParaRPr>
          </a:p>
        </p:txBody>
      </p:sp>
      <p:sp>
        <p:nvSpPr>
          <p:cNvPr id="220" name="Google Shape;220;p6"/>
          <p:cNvSpPr/>
          <p:nvPr/>
        </p:nvSpPr>
        <p:spPr>
          <a:xfrm>
            <a:off x="6446520" y="3611880"/>
            <a:ext cx="2423160" cy="347472"/>
          </a:xfrm>
          <a:prstGeom prst="rect">
            <a:avLst/>
          </a:prstGeom>
          <a:solidFill>
            <a:srgbClr val="182C45"/>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6"/>
          <p:cNvSpPr/>
          <p:nvPr/>
        </p:nvSpPr>
        <p:spPr>
          <a:xfrm>
            <a:off x="6492240" y="3630168"/>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Price</a:t>
            </a:r>
            <a:endParaRPr sz="950">
              <a:solidFill>
                <a:schemeClr val="dk1"/>
              </a:solidFill>
              <a:latin typeface="Calibri"/>
              <a:ea typeface="Calibri"/>
              <a:cs typeface="Calibri"/>
              <a:sym typeface="Calibri"/>
            </a:endParaRPr>
          </a:p>
        </p:txBody>
      </p:sp>
      <p:sp>
        <p:nvSpPr>
          <p:cNvPr id="222" name="Google Shape;222;p6"/>
          <p:cNvSpPr/>
          <p:nvPr/>
        </p:nvSpPr>
        <p:spPr>
          <a:xfrm>
            <a:off x="6492240" y="3794760"/>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Unit price (GBP £)</a:t>
            </a:r>
            <a:endParaRPr sz="800">
              <a:solidFill>
                <a:schemeClr val="dk1"/>
              </a:solidFill>
              <a:latin typeface="Calibri"/>
              <a:ea typeface="Calibri"/>
              <a:cs typeface="Calibri"/>
              <a:sym typeface="Calibri"/>
            </a:endParaRPr>
          </a:p>
        </p:txBody>
      </p:sp>
      <p:sp>
        <p:nvSpPr>
          <p:cNvPr id="223" name="Google Shape;223;p6"/>
          <p:cNvSpPr/>
          <p:nvPr/>
        </p:nvSpPr>
        <p:spPr>
          <a:xfrm>
            <a:off x="6446520" y="4014216"/>
            <a:ext cx="2423160" cy="347472"/>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6"/>
          <p:cNvSpPr/>
          <p:nvPr/>
        </p:nvSpPr>
        <p:spPr>
          <a:xfrm>
            <a:off x="6492240" y="4032504"/>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Customer ID</a:t>
            </a:r>
            <a:endParaRPr sz="950">
              <a:solidFill>
                <a:schemeClr val="dk1"/>
              </a:solidFill>
              <a:latin typeface="Calibri"/>
              <a:ea typeface="Calibri"/>
              <a:cs typeface="Calibri"/>
              <a:sym typeface="Calibri"/>
            </a:endParaRPr>
          </a:p>
        </p:txBody>
      </p:sp>
      <p:sp>
        <p:nvSpPr>
          <p:cNvPr id="225" name="Google Shape;225;p6"/>
          <p:cNvSpPr/>
          <p:nvPr/>
        </p:nvSpPr>
        <p:spPr>
          <a:xfrm>
            <a:off x="6492240" y="4197096"/>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24.93% missing — CRITICAL</a:t>
            </a:r>
            <a:endParaRPr sz="800">
              <a:solidFill>
                <a:schemeClr val="dk1"/>
              </a:solidFill>
              <a:latin typeface="Calibri"/>
              <a:ea typeface="Calibri"/>
              <a:cs typeface="Calibri"/>
              <a:sym typeface="Calibri"/>
            </a:endParaRPr>
          </a:p>
        </p:txBody>
      </p:sp>
      <p:sp>
        <p:nvSpPr>
          <p:cNvPr id="226" name="Google Shape;226;p6"/>
          <p:cNvSpPr/>
          <p:nvPr/>
        </p:nvSpPr>
        <p:spPr>
          <a:xfrm>
            <a:off x="6446520" y="4416552"/>
            <a:ext cx="2423160" cy="347472"/>
          </a:xfrm>
          <a:prstGeom prst="rect">
            <a:avLst/>
          </a:prstGeom>
          <a:solidFill>
            <a:srgbClr val="182C45"/>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6"/>
          <p:cNvSpPr/>
          <p:nvPr/>
        </p:nvSpPr>
        <p:spPr>
          <a:xfrm>
            <a:off x="6492240" y="4434840"/>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50"/>
              <a:buFont typeface="Courier New"/>
              <a:buNone/>
            </a:pPr>
            <a:r>
              <a:rPr lang="en-US" sz="950" b="1">
                <a:solidFill>
                  <a:srgbClr val="0D9488"/>
                </a:solidFill>
                <a:latin typeface="Courier New"/>
                <a:ea typeface="Courier New"/>
                <a:cs typeface="Courier New"/>
                <a:sym typeface="Courier New"/>
              </a:rPr>
              <a:t>Country</a:t>
            </a:r>
            <a:endParaRPr sz="950">
              <a:solidFill>
                <a:schemeClr val="dk1"/>
              </a:solidFill>
              <a:latin typeface="Calibri"/>
              <a:ea typeface="Calibri"/>
              <a:cs typeface="Calibri"/>
              <a:sym typeface="Calibri"/>
            </a:endParaRPr>
          </a:p>
        </p:txBody>
      </p:sp>
      <p:sp>
        <p:nvSpPr>
          <p:cNvPr id="228" name="Google Shape;228;p6"/>
          <p:cNvSpPr/>
          <p:nvPr/>
        </p:nvSpPr>
        <p:spPr>
          <a:xfrm>
            <a:off x="6492240" y="4599432"/>
            <a:ext cx="237744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37 unique countries</a:t>
            </a:r>
            <a:endParaRPr sz="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233"/>
        <p:cNvGrpSpPr/>
        <p:nvPr/>
      </p:nvGrpSpPr>
      <p:grpSpPr>
        <a:xfrm>
          <a:off x="0" y="0"/>
          <a:ext cx="0" cy="0"/>
          <a:chOff x="0" y="0"/>
          <a:chExt cx="0" cy="0"/>
        </a:xfrm>
      </p:grpSpPr>
      <p:sp>
        <p:nvSpPr>
          <p:cNvPr id="234" name="Google Shape;234;p7"/>
          <p:cNvSpPr/>
          <p:nvPr/>
        </p:nvSpPr>
        <p:spPr>
          <a:xfrm>
            <a:off x="0" y="0"/>
            <a:ext cx="9144000" cy="20116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7"/>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1 — ETL  |  PIPELINE ARCHITECTURE</a:t>
            </a:r>
            <a:endParaRPr sz="900">
              <a:solidFill>
                <a:schemeClr val="dk1"/>
              </a:solidFill>
              <a:latin typeface="Calibri"/>
              <a:ea typeface="Calibri"/>
              <a:cs typeface="Calibri"/>
              <a:sym typeface="Calibri"/>
            </a:endParaRPr>
          </a:p>
        </p:txBody>
      </p:sp>
      <p:sp>
        <p:nvSpPr>
          <p:cNvPr id="236" name="Google Shape;236;p7"/>
          <p:cNvSpPr/>
          <p:nvPr/>
        </p:nvSpPr>
        <p:spPr>
          <a:xfrm>
            <a:off x="365760" y="320040"/>
            <a:ext cx="82296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ETL Pipeline Architecture</a:t>
            </a:r>
            <a:endParaRPr sz="2400">
              <a:solidFill>
                <a:schemeClr val="dk1"/>
              </a:solidFill>
              <a:latin typeface="Calibri"/>
              <a:ea typeface="Calibri"/>
              <a:cs typeface="Calibri"/>
              <a:sym typeface="Calibri"/>
            </a:endParaRPr>
          </a:p>
        </p:txBody>
      </p:sp>
      <p:sp>
        <p:nvSpPr>
          <p:cNvPr id="237" name="Google Shape;237;p7"/>
          <p:cNvSpPr/>
          <p:nvPr/>
        </p:nvSpPr>
        <p:spPr>
          <a:xfrm>
            <a:off x="365760" y="804672"/>
            <a:ext cx="8229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End-to-end data flow: raw Kaggle CSV → clean analytical dataset ready for EDA, Clustering &amp; Forecasting</a:t>
            </a:r>
            <a:endParaRPr sz="1100">
              <a:solidFill>
                <a:schemeClr val="dk1"/>
              </a:solidFill>
              <a:latin typeface="Calibri"/>
              <a:ea typeface="Calibri"/>
              <a:cs typeface="Calibri"/>
              <a:sym typeface="Calibri"/>
            </a:endParaRPr>
          </a:p>
        </p:txBody>
      </p:sp>
      <p:sp>
        <p:nvSpPr>
          <p:cNvPr id="238" name="Google Shape;238;p7"/>
          <p:cNvSpPr/>
          <p:nvPr/>
        </p:nvSpPr>
        <p:spPr>
          <a:xfrm>
            <a:off x="201168" y="1170432"/>
            <a:ext cx="1627632" cy="2606040"/>
          </a:xfrm>
          <a:prstGeom prst="rect">
            <a:avLst/>
          </a:prstGeom>
          <a:solidFill>
            <a:srgbClr val="0D9488"/>
          </a:solidFill>
          <a:ln w="12700" cap="flat" cmpd="sng">
            <a:solidFill>
              <a:srgbClr val="0D9488"/>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9" name="Google Shape;239;p7"/>
          <p:cNvSpPr/>
          <p:nvPr/>
        </p:nvSpPr>
        <p:spPr>
          <a:xfrm>
            <a:off x="201168" y="1170432"/>
            <a:ext cx="1627632" cy="7315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7"/>
          <p:cNvSpPr/>
          <p:nvPr/>
        </p:nvSpPr>
        <p:spPr>
          <a:xfrm>
            <a:off x="201168" y="1234440"/>
            <a:ext cx="162763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01</a:t>
            </a:r>
            <a:endParaRPr sz="2600">
              <a:solidFill>
                <a:schemeClr val="dk1"/>
              </a:solidFill>
              <a:latin typeface="Calibri"/>
              <a:ea typeface="Calibri"/>
              <a:cs typeface="Calibri"/>
              <a:sym typeface="Calibri"/>
            </a:endParaRPr>
          </a:p>
        </p:txBody>
      </p:sp>
      <p:sp>
        <p:nvSpPr>
          <p:cNvPr id="241" name="Google Shape;241;p7"/>
          <p:cNvSpPr/>
          <p:nvPr/>
        </p:nvSpPr>
        <p:spPr>
          <a:xfrm>
            <a:off x="201168" y="1691640"/>
            <a:ext cx="162763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EXTRACT</a:t>
            </a:r>
            <a:endParaRPr sz="1100">
              <a:solidFill>
                <a:schemeClr val="dk1"/>
              </a:solidFill>
              <a:latin typeface="Calibri"/>
              <a:ea typeface="Calibri"/>
              <a:cs typeface="Calibri"/>
              <a:sym typeface="Calibri"/>
            </a:endParaRPr>
          </a:p>
        </p:txBody>
      </p:sp>
      <p:sp>
        <p:nvSpPr>
          <p:cNvPr id="242" name="Google Shape;242;p7"/>
          <p:cNvSpPr/>
          <p:nvPr/>
        </p:nvSpPr>
        <p:spPr>
          <a:xfrm>
            <a:off x="384048" y="2011680"/>
            <a:ext cx="1261872" cy="2743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7"/>
          <p:cNvSpPr/>
          <p:nvPr/>
        </p:nvSpPr>
        <p:spPr>
          <a:xfrm>
            <a:off x="256032" y="2075688"/>
            <a:ext cx="1517904" cy="153619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Kaggle kagglehub</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541,910 rows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8 columns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CSV ISO-8859-1</a:t>
            </a:r>
            <a:endParaRPr sz="950">
              <a:solidFill>
                <a:schemeClr val="dk1"/>
              </a:solidFill>
              <a:latin typeface="Calibri"/>
              <a:ea typeface="Calibri"/>
              <a:cs typeface="Calibri"/>
              <a:sym typeface="Calibri"/>
            </a:endParaRPr>
          </a:p>
        </p:txBody>
      </p:sp>
      <p:sp>
        <p:nvSpPr>
          <p:cNvPr id="244" name="Google Shape;244;p7"/>
          <p:cNvSpPr/>
          <p:nvPr/>
        </p:nvSpPr>
        <p:spPr>
          <a:xfrm>
            <a:off x="1828800" y="2414016"/>
            <a:ext cx="91440" cy="36576"/>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7"/>
          <p:cNvSpPr/>
          <p:nvPr/>
        </p:nvSpPr>
        <p:spPr>
          <a:xfrm>
            <a:off x="1865376" y="2359152"/>
            <a:ext cx="146304" cy="14630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7"/>
          <p:cNvSpPr/>
          <p:nvPr/>
        </p:nvSpPr>
        <p:spPr>
          <a:xfrm>
            <a:off x="1956816" y="1170432"/>
            <a:ext cx="1627632" cy="2606040"/>
          </a:xfrm>
          <a:prstGeom prst="rect">
            <a:avLst/>
          </a:prstGeom>
          <a:solidFill>
            <a:srgbClr val="06B6D4"/>
          </a:solidFill>
          <a:ln w="12700" cap="flat" cmpd="sng">
            <a:solidFill>
              <a:srgbClr val="06B6D4"/>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7"/>
          <p:cNvSpPr/>
          <p:nvPr/>
        </p:nvSpPr>
        <p:spPr>
          <a:xfrm>
            <a:off x="1956816" y="1170432"/>
            <a:ext cx="1627632" cy="7315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7"/>
          <p:cNvSpPr/>
          <p:nvPr/>
        </p:nvSpPr>
        <p:spPr>
          <a:xfrm>
            <a:off x="1956816" y="1234440"/>
            <a:ext cx="162763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02</a:t>
            </a:r>
            <a:endParaRPr sz="2600">
              <a:solidFill>
                <a:schemeClr val="dk1"/>
              </a:solidFill>
              <a:latin typeface="Calibri"/>
              <a:ea typeface="Calibri"/>
              <a:cs typeface="Calibri"/>
              <a:sym typeface="Calibri"/>
            </a:endParaRPr>
          </a:p>
        </p:txBody>
      </p:sp>
      <p:sp>
        <p:nvSpPr>
          <p:cNvPr id="249" name="Google Shape;249;p7"/>
          <p:cNvSpPr/>
          <p:nvPr/>
        </p:nvSpPr>
        <p:spPr>
          <a:xfrm>
            <a:off x="1956816" y="1691640"/>
            <a:ext cx="162763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VALIDATE</a:t>
            </a:r>
            <a:endParaRPr sz="1100">
              <a:solidFill>
                <a:schemeClr val="dk1"/>
              </a:solidFill>
              <a:latin typeface="Calibri"/>
              <a:ea typeface="Calibri"/>
              <a:cs typeface="Calibri"/>
              <a:sym typeface="Calibri"/>
            </a:endParaRPr>
          </a:p>
        </p:txBody>
      </p:sp>
      <p:sp>
        <p:nvSpPr>
          <p:cNvPr id="250" name="Google Shape;250;p7"/>
          <p:cNvSpPr/>
          <p:nvPr/>
        </p:nvSpPr>
        <p:spPr>
          <a:xfrm>
            <a:off x="2139696" y="2011680"/>
            <a:ext cx="1261872" cy="2743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1" name="Google Shape;251;p7"/>
          <p:cNvSpPr/>
          <p:nvPr/>
        </p:nvSpPr>
        <p:spPr>
          <a:xfrm>
            <a:off x="2011680" y="2075688"/>
            <a:ext cx="1517904" cy="153619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Null census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Consistency audit</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Duplicate check</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4 dimensions</a:t>
            </a:r>
            <a:endParaRPr sz="950">
              <a:solidFill>
                <a:schemeClr val="dk1"/>
              </a:solidFill>
              <a:latin typeface="Calibri"/>
              <a:ea typeface="Calibri"/>
              <a:cs typeface="Calibri"/>
              <a:sym typeface="Calibri"/>
            </a:endParaRPr>
          </a:p>
        </p:txBody>
      </p:sp>
      <p:sp>
        <p:nvSpPr>
          <p:cNvPr id="252" name="Google Shape;252;p7"/>
          <p:cNvSpPr/>
          <p:nvPr/>
        </p:nvSpPr>
        <p:spPr>
          <a:xfrm>
            <a:off x="3584448" y="2414016"/>
            <a:ext cx="91440" cy="36576"/>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7"/>
          <p:cNvSpPr/>
          <p:nvPr/>
        </p:nvSpPr>
        <p:spPr>
          <a:xfrm>
            <a:off x="3621024" y="2359152"/>
            <a:ext cx="146304" cy="14630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7"/>
          <p:cNvSpPr/>
          <p:nvPr/>
        </p:nvSpPr>
        <p:spPr>
          <a:xfrm>
            <a:off x="3712464" y="1170432"/>
            <a:ext cx="1627632" cy="2606040"/>
          </a:xfrm>
          <a:prstGeom prst="rect">
            <a:avLst/>
          </a:prstGeom>
          <a:solidFill>
            <a:srgbClr val="3B82F6"/>
          </a:solidFill>
          <a:ln w="12700" cap="flat" cmpd="sng">
            <a:solidFill>
              <a:srgbClr val="3B82F6"/>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5" name="Google Shape;255;p7"/>
          <p:cNvSpPr/>
          <p:nvPr/>
        </p:nvSpPr>
        <p:spPr>
          <a:xfrm>
            <a:off x="3712464" y="1170432"/>
            <a:ext cx="1627632" cy="7315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7"/>
          <p:cNvSpPr/>
          <p:nvPr/>
        </p:nvSpPr>
        <p:spPr>
          <a:xfrm>
            <a:off x="3712464" y="1234440"/>
            <a:ext cx="162763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03</a:t>
            </a:r>
            <a:endParaRPr sz="2600">
              <a:solidFill>
                <a:schemeClr val="dk1"/>
              </a:solidFill>
              <a:latin typeface="Calibri"/>
              <a:ea typeface="Calibri"/>
              <a:cs typeface="Calibri"/>
              <a:sym typeface="Calibri"/>
            </a:endParaRPr>
          </a:p>
        </p:txBody>
      </p:sp>
      <p:sp>
        <p:nvSpPr>
          <p:cNvPr id="257" name="Google Shape;257;p7"/>
          <p:cNvSpPr/>
          <p:nvPr/>
        </p:nvSpPr>
        <p:spPr>
          <a:xfrm>
            <a:off x="3712464" y="1691640"/>
            <a:ext cx="162763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CLEAN</a:t>
            </a:r>
            <a:endParaRPr sz="1100">
              <a:solidFill>
                <a:schemeClr val="dk1"/>
              </a:solidFill>
              <a:latin typeface="Calibri"/>
              <a:ea typeface="Calibri"/>
              <a:cs typeface="Calibri"/>
              <a:sym typeface="Calibri"/>
            </a:endParaRPr>
          </a:p>
        </p:txBody>
      </p:sp>
      <p:sp>
        <p:nvSpPr>
          <p:cNvPr id="258" name="Google Shape;258;p7"/>
          <p:cNvSpPr/>
          <p:nvPr/>
        </p:nvSpPr>
        <p:spPr>
          <a:xfrm>
            <a:off x="3895344" y="2011680"/>
            <a:ext cx="1261872" cy="2743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7"/>
          <p:cNvSpPr/>
          <p:nvPr/>
        </p:nvSpPr>
        <p:spPr>
          <a:xfrm>
            <a:off x="3767328" y="2075688"/>
            <a:ext cx="1517904" cy="153619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6-step pipeline</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Remove/filter/drop</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IQR outliers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All justified</a:t>
            </a:r>
            <a:endParaRPr sz="950">
              <a:solidFill>
                <a:schemeClr val="dk1"/>
              </a:solidFill>
              <a:latin typeface="Calibri"/>
              <a:ea typeface="Calibri"/>
              <a:cs typeface="Calibri"/>
              <a:sym typeface="Calibri"/>
            </a:endParaRPr>
          </a:p>
        </p:txBody>
      </p:sp>
      <p:sp>
        <p:nvSpPr>
          <p:cNvPr id="260" name="Google Shape;260;p7"/>
          <p:cNvSpPr/>
          <p:nvPr/>
        </p:nvSpPr>
        <p:spPr>
          <a:xfrm>
            <a:off x="5340096" y="2414016"/>
            <a:ext cx="91440" cy="36576"/>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7"/>
          <p:cNvSpPr/>
          <p:nvPr/>
        </p:nvSpPr>
        <p:spPr>
          <a:xfrm>
            <a:off x="5376672" y="2359152"/>
            <a:ext cx="146304" cy="14630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7"/>
          <p:cNvSpPr/>
          <p:nvPr/>
        </p:nvSpPr>
        <p:spPr>
          <a:xfrm>
            <a:off x="5468112" y="1170432"/>
            <a:ext cx="1627632" cy="2606040"/>
          </a:xfrm>
          <a:prstGeom prst="rect">
            <a:avLst/>
          </a:prstGeom>
          <a:solidFill>
            <a:srgbClr val="8B5CF6"/>
          </a:solidFill>
          <a:ln w="12700" cap="flat" cmpd="sng">
            <a:solidFill>
              <a:srgbClr val="8B5CF6"/>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7"/>
          <p:cNvSpPr/>
          <p:nvPr/>
        </p:nvSpPr>
        <p:spPr>
          <a:xfrm>
            <a:off x="5468112" y="1170432"/>
            <a:ext cx="1627632" cy="7315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7"/>
          <p:cNvSpPr/>
          <p:nvPr/>
        </p:nvSpPr>
        <p:spPr>
          <a:xfrm>
            <a:off x="5468112" y="1234440"/>
            <a:ext cx="162763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04</a:t>
            </a:r>
            <a:endParaRPr sz="2600">
              <a:solidFill>
                <a:schemeClr val="dk1"/>
              </a:solidFill>
              <a:latin typeface="Calibri"/>
              <a:ea typeface="Calibri"/>
              <a:cs typeface="Calibri"/>
              <a:sym typeface="Calibri"/>
            </a:endParaRPr>
          </a:p>
        </p:txBody>
      </p:sp>
      <p:sp>
        <p:nvSpPr>
          <p:cNvPr id="265" name="Google Shape;265;p7"/>
          <p:cNvSpPr/>
          <p:nvPr/>
        </p:nvSpPr>
        <p:spPr>
          <a:xfrm>
            <a:off x="5468112" y="1691640"/>
            <a:ext cx="162763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ENGINEER</a:t>
            </a:r>
            <a:endParaRPr sz="1100">
              <a:solidFill>
                <a:schemeClr val="dk1"/>
              </a:solidFill>
              <a:latin typeface="Calibri"/>
              <a:ea typeface="Calibri"/>
              <a:cs typeface="Calibri"/>
              <a:sym typeface="Calibri"/>
            </a:endParaRPr>
          </a:p>
        </p:txBody>
      </p:sp>
      <p:sp>
        <p:nvSpPr>
          <p:cNvPr id="266" name="Google Shape;266;p7"/>
          <p:cNvSpPr/>
          <p:nvPr/>
        </p:nvSpPr>
        <p:spPr>
          <a:xfrm>
            <a:off x="5650992" y="2011680"/>
            <a:ext cx="1261872" cy="2743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7"/>
          <p:cNvSpPr/>
          <p:nvPr/>
        </p:nvSpPr>
        <p:spPr>
          <a:xfrm>
            <a:off x="5522976" y="2075688"/>
            <a:ext cx="1517904" cy="153619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Total_Revenue</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Year/Month</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DayOfWeek</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Hour</a:t>
            </a:r>
            <a:endParaRPr sz="950">
              <a:solidFill>
                <a:schemeClr val="dk1"/>
              </a:solidFill>
              <a:latin typeface="Calibri"/>
              <a:ea typeface="Calibri"/>
              <a:cs typeface="Calibri"/>
              <a:sym typeface="Calibri"/>
            </a:endParaRPr>
          </a:p>
        </p:txBody>
      </p:sp>
      <p:sp>
        <p:nvSpPr>
          <p:cNvPr id="268" name="Google Shape;268;p7"/>
          <p:cNvSpPr/>
          <p:nvPr/>
        </p:nvSpPr>
        <p:spPr>
          <a:xfrm>
            <a:off x="7095744" y="2414016"/>
            <a:ext cx="91440" cy="36576"/>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9" name="Google Shape;269;p7"/>
          <p:cNvSpPr/>
          <p:nvPr/>
        </p:nvSpPr>
        <p:spPr>
          <a:xfrm>
            <a:off x="7132320" y="2359152"/>
            <a:ext cx="146304" cy="14630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7"/>
          <p:cNvSpPr/>
          <p:nvPr/>
        </p:nvSpPr>
        <p:spPr>
          <a:xfrm>
            <a:off x="7223760" y="1170432"/>
            <a:ext cx="1627632" cy="2606040"/>
          </a:xfrm>
          <a:prstGeom prst="rect">
            <a:avLst/>
          </a:prstGeom>
          <a:solidFill>
            <a:srgbClr val="22C55E"/>
          </a:solidFill>
          <a:ln w="12700" cap="flat" cmpd="sng">
            <a:solidFill>
              <a:srgbClr val="22C55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7"/>
          <p:cNvSpPr/>
          <p:nvPr/>
        </p:nvSpPr>
        <p:spPr>
          <a:xfrm>
            <a:off x="7223760" y="1170432"/>
            <a:ext cx="1627632" cy="7315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7"/>
          <p:cNvSpPr/>
          <p:nvPr/>
        </p:nvSpPr>
        <p:spPr>
          <a:xfrm>
            <a:off x="7223760" y="1234440"/>
            <a:ext cx="162763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05</a:t>
            </a:r>
            <a:endParaRPr sz="2600">
              <a:solidFill>
                <a:schemeClr val="dk1"/>
              </a:solidFill>
              <a:latin typeface="Calibri"/>
              <a:ea typeface="Calibri"/>
              <a:cs typeface="Calibri"/>
              <a:sym typeface="Calibri"/>
            </a:endParaRPr>
          </a:p>
        </p:txBody>
      </p:sp>
      <p:sp>
        <p:nvSpPr>
          <p:cNvPr id="273" name="Google Shape;273;p7"/>
          <p:cNvSpPr/>
          <p:nvPr/>
        </p:nvSpPr>
        <p:spPr>
          <a:xfrm>
            <a:off x="7223760" y="1691640"/>
            <a:ext cx="162763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LOAD</a:t>
            </a:r>
            <a:endParaRPr sz="1100">
              <a:solidFill>
                <a:schemeClr val="dk1"/>
              </a:solidFill>
              <a:latin typeface="Calibri"/>
              <a:ea typeface="Calibri"/>
              <a:cs typeface="Calibri"/>
              <a:sym typeface="Calibri"/>
            </a:endParaRPr>
          </a:p>
        </p:txBody>
      </p:sp>
      <p:sp>
        <p:nvSpPr>
          <p:cNvPr id="274" name="Google Shape;274;p7"/>
          <p:cNvSpPr/>
          <p:nvPr/>
        </p:nvSpPr>
        <p:spPr>
          <a:xfrm>
            <a:off x="7406640" y="2011680"/>
            <a:ext cx="1261872" cy="27432"/>
          </a:xfrm>
          <a:prstGeom prst="rect">
            <a:avLst/>
          </a:prstGeom>
          <a:solidFill>
            <a:srgbClr val="FFFFFF">
              <a:alpha val="4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7"/>
          <p:cNvSpPr/>
          <p:nvPr/>
        </p:nvSpPr>
        <p:spPr>
          <a:xfrm>
            <a:off x="7278624" y="2075688"/>
            <a:ext cx="1517904" cy="153619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333,234 rows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13 columns</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UTF-8 CSV</a:t>
            </a:r>
            <a:endParaRPr sz="9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 Validated</a:t>
            </a:r>
            <a:endParaRPr sz="950">
              <a:solidFill>
                <a:schemeClr val="dk1"/>
              </a:solidFill>
              <a:latin typeface="Calibri"/>
              <a:ea typeface="Calibri"/>
              <a:cs typeface="Calibri"/>
              <a:sym typeface="Calibri"/>
            </a:endParaRPr>
          </a:p>
        </p:txBody>
      </p:sp>
      <p:sp>
        <p:nvSpPr>
          <p:cNvPr id="276" name="Google Shape;276;p7"/>
          <p:cNvSpPr/>
          <p:nvPr/>
        </p:nvSpPr>
        <p:spPr>
          <a:xfrm>
            <a:off x="0" y="3950208"/>
            <a:ext cx="9144000" cy="1115568"/>
          </a:xfrm>
          <a:prstGeom prst="rect">
            <a:avLst/>
          </a:prstGeom>
          <a:solidFill>
            <a:srgbClr val="0A1628"/>
          </a:solidFill>
          <a:ln w="12700" cap="flat" cmpd="sng">
            <a:solidFill>
              <a:srgbClr val="0A162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7"/>
          <p:cNvSpPr/>
          <p:nvPr/>
        </p:nvSpPr>
        <p:spPr>
          <a:xfrm>
            <a:off x="182880" y="4041648"/>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541,910</a:t>
            </a:r>
            <a:endParaRPr sz="2200">
              <a:solidFill>
                <a:schemeClr val="dk1"/>
              </a:solidFill>
              <a:latin typeface="Calibri"/>
              <a:ea typeface="Calibri"/>
              <a:cs typeface="Calibri"/>
              <a:sym typeface="Calibri"/>
            </a:endParaRPr>
          </a:p>
        </p:txBody>
      </p:sp>
      <p:sp>
        <p:nvSpPr>
          <p:cNvPr id="278" name="Google Shape;278;p7"/>
          <p:cNvSpPr/>
          <p:nvPr/>
        </p:nvSpPr>
        <p:spPr>
          <a:xfrm>
            <a:off x="182880" y="4480560"/>
            <a:ext cx="1645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Raw Records</a:t>
            </a:r>
            <a:endParaRPr sz="900">
              <a:solidFill>
                <a:schemeClr val="dk1"/>
              </a:solidFill>
              <a:latin typeface="Calibri"/>
              <a:ea typeface="Calibri"/>
              <a:cs typeface="Calibri"/>
              <a:sym typeface="Calibri"/>
            </a:endParaRPr>
          </a:p>
        </p:txBody>
      </p:sp>
      <p:sp>
        <p:nvSpPr>
          <p:cNvPr id="279" name="Google Shape;279;p7"/>
          <p:cNvSpPr/>
          <p:nvPr/>
        </p:nvSpPr>
        <p:spPr>
          <a:xfrm>
            <a:off x="2011680" y="4041648"/>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38.5%</a:t>
            </a:r>
            <a:endParaRPr sz="2200">
              <a:solidFill>
                <a:schemeClr val="dk1"/>
              </a:solidFill>
              <a:latin typeface="Calibri"/>
              <a:ea typeface="Calibri"/>
              <a:cs typeface="Calibri"/>
              <a:sym typeface="Calibri"/>
            </a:endParaRPr>
          </a:p>
        </p:txBody>
      </p:sp>
      <p:sp>
        <p:nvSpPr>
          <p:cNvPr id="280" name="Google Shape;280;p7"/>
          <p:cNvSpPr/>
          <p:nvPr/>
        </p:nvSpPr>
        <p:spPr>
          <a:xfrm>
            <a:off x="2011680" y="4480560"/>
            <a:ext cx="1645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Records Cleaned</a:t>
            </a:r>
            <a:endParaRPr sz="900">
              <a:solidFill>
                <a:schemeClr val="dk1"/>
              </a:solidFill>
              <a:latin typeface="Calibri"/>
              <a:ea typeface="Calibri"/>
              <a:cs typeface="Calibri"/>
              <a:sym typeface="Calibri"/>
            </a:endParaRPr>
          </a:p>
        </p:txBody>
      </p:sp>
      <p:sp>
        <p:nvSpPr>
          <p:cNvPr id="281" name="Google Shape;281;p7"/>
          <p:cNvSpPr/>
          <p:nvPr/>
        </p:nvSpPr>
        <p:spPr>
          <a:xfrm>
            <a:off x="3840480" y="4041648"/>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333,234</a:t>
            </a:r>
            <a:endParaRPr sz="2200">
              <a:solidFill>
                <a:schemeClr val="dk1"/>
              </a:solidFill>
              <a:latin typeface="Calibri"/>
              <a:ea typeface="Calibri"/>
              <a:cs typeface="Calibri"/>
              <a:sym typeface="Calibri"/>
            </a:endParaRPr>
          </a:p>
        </p:txBody>
      </p:sp>
      <p:sp>
        <p:nvSpPr>
          <p:cNvPr id="282" name="Google Shape;282;p7"/>
          <p:cNvSpPr/>
          <p:nvPr/>
        </p:nvSpPr>
        <p:spPr>
          <a:xfrm>
            <a:off x="3840480" y="4480560"/>
            <a:ext cx="1645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Clean Records</a:t>
            </a:r>
            <a:endParaRPr sz="900">
              <a:solidFill>
                <a:schemeClr val="dk1"/>
              </a:solidFill>
              <a:latin typeface="Calibri"/>
              <a:ea typeface="Calibri"/>
              <a:cs typeface="Calibri"/>
              <a:sym typeface="Calibri"/>
            </a:endParaRPr>
          </a:p>
        </p:txBody>
      </p:sp>
      <p:sp>
        <p:nvSpPr>
          <p:cNvPr id="283" name="Google Shape;283;p7"/>
          <p:cNvSpPr/>
          <p:nvPr/>
        </p:nvSpPr>
        <p:spPr>
          <a:xfrm>
            <a:off x="5669280" y="4041648"/>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13 cols</a:t>
            </a:r>
            <a:endParaRPr sz="2200">
              <a:solidFill>
                <a:schemeClr val="dk1"/>
              </a:solidFill>
              <a:latin typeface="Calibri"/>
              <a:ea typeface="Calibri"/>
              <a:cs typeface="Calibri"/>
              <a:sym typeface="Calibri"/>
            </a:endParaRPr>
          </a:p>
        </p:txBody>
      </p:sp>
      <p:sp>
        <p:nvSpPr>
          <p:cNvPr id="284" name="Google Shape;284;p7"/>
          <p:cNvSpPr/>
          <p:nvPr/>
        </p:nvSpPr>
        <p:spPr>
          <a:xfrm>
            <a:off x="5669280" y="4480560"/>
            <a:ext cx="1645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Final Features</a:t>
            </a:r>
            <a:endParaRPr sz="900">
              <a:solidFill>
                <a:schemeClr val="dk1"/>
              </a:solidFill>
              <a:latin typeface="Calibri"/>
              <a:ea typeface="Calibri"/>
              <a:cs typeface="Calibri"/>
              <a:sym typeface="Calibri"/>
            </a:endParaRPr>
          </a:p>
        </p:txBody>
      </p:sp>
      <p:sp>
        <p:nvSpPr>
          <p:cNvPr id="285" name="Google Shape;285;p7"/>
          <p:cNvSpPr/>
          <p:nvPr/>
        </p:nvSpPr>
        <p:spPr>
          <a:xfrm>
            <a:off x="7498080" y="4041648"/>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98.4%</a:t>
            </a:r>
            <a:endParaRPr sz="2200">
              <a:solidFill>
                <a:schemeClr val="dk1"/>
              </a:solidFill>
              <a:latin typeface="Calibri"/>
              <a:ea typeface="Calibri"/>
              <a:cs typeface="Calibri"/>
              <a:sym typeface="Calibri"/>
            </a:endParaRPr>
          </a:p>
        </p:txBody>
      </p:sp>
      <p:sp>
        <p:nvSpPr>
          <p:cNvPr id="286" name="Google Shape;286;p7"/>
          <p:cNvSpPr/>
          <p:nvPr/>
        </p:nvSpPr>
        <p:spPr>
          <a:xfrm>
            <a:off x="7498080" y="4480560"/>
            <a:ext cx="1645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Data Quality</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1"/>
        <p:cNvGrpSpPr/>
        <p:nvPr/>
      </p:nvGrpSpPr>
      <p:grpSpPr>
        <a:xfrm>
          <a:off x="0" y="0"/>
          <a:ext cx="0" cy="0"/>
          <a:chOff x="0" y="0"/>
          <a:chExt cx="0" cy="0"/>
        </a:xfrm>
      </p:grpSpPr>
      <p:sp>
        <p:nvSpPr>
          <p:cNvPr id="292" name="Google Shape;292;p8"/>
          <p:cNvSpPr/>
          <p:nvPr/>
        </p:nvSpPr>
        <p:spPr>
          <a:xfrm>
            <a:off x="0" y="0"/>
            <a:ext cx="9144000" cy="20116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8"/>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1 — ETL  |  TRANSFORM PIPELINE</a:t>
            </a:r>
            <a:endParaRPr sz="900">
              <a:solidFill>
                <a:schemeClr val="dk1"/>
              </a:solidFill>
              <a:latin typeface="Calibri"/>
              <a:ea typeface="Calibri"/>
              <a:cs typeface="Calibri"/>
              <a:sym typeface="Calibri"/>
            </a:endParaRPr>
          </a:p>
        </p:txBody>
      </p:sp>
      <p:sp>
        <p:nvSpPr>
          <p:cNvPr id="294" name="Google Shape;294;p8"/>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8"/>
          <p:cNvSpPr/>
          <p:nvPr/>
        </p:nvSpPr>
        <p:spPr>
          <a:xfrm>
            <a:off x="0" y="960120"/>
            <a:ext cx="914400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8"/>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Transform — 6-Step Cleaning Pipeline</a:t>
            </a:r>
            <a:endParaRPr sz="2000">
              <a:solidFill>
                <a:schemeClr val="dk1"/>
              </a:solidFill>
              <a:latin typeface="Calibri"/>
              <a:ea typeface="Calibri"/>
              <a:cs typeface="Calibri"/>
              <a:sym typeface="Calibri"/>
            </a:endParaRPr>
          </a:p>
        </p:txBody>
      </p:sp>
      <p:sp>
        <p:nvSpPr>
          <p:cNvPr id="297" name="Google Shape;297;p8"/>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Each step independently justified, coded, and tracked for quantified impact</a:t>
            </a:r>
            <a:endParaRPr sz="1100">
              <a:solidFill>
                <a:schemeClr val="dk1"/>
              </a:solidFill>
              <a:latin typeface="Calibri"/>
              <a:ea typeface="Calibri"/>
              <a:cs typeface="Calibri"/>
              <a:sym typeface="Calibri"/>
            </a:endParaRPr>
          </a:p>
        </p:txBody>
      </p:sp>
      <p:sp>
        <p:nvSpPr>
          <p:cNvPr id="298" name="Google Shape;298;p8"/>
          <p:cNvSpPr/>
          <p:nvPr/>
        </p:nvSpPr>
        <p:spPr>
          <a:xfrm>
            <a:off x="256032" y="1115568"/>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8"/>
          <p:cNvSpPr/>
          <p:nvPr/>
        </p:nvSpPr>
        <p:spPr>
          <a:xfrm>
            <a:off x="256032" y="1115568"/>
            <a:ext cx="475488" cy="1170432"/>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8"/>
          <p:cNvSpPr/>
          <p:nvPr/>
        </p:nvSpPr>
        <p:spPr>
          <a:xfrm>
            <a:off x="256032" y="1463040"/>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3.1</a:t>
            </a:r>
            <a:endParaRPr sz="1100">
              <a:solidFill>
                <a:schemeClr val="dk1"/>
              </a:solidFill>
              <a:latin typeface="Calibri"/>
              <a:ea typeface="Calibri"/>
              <a:cs typeface="Calibri"/>
              <a:sym typeface="Calibri"/>
            </a:endParaRPr>
          </a:p>
        </p:txBody>
      </p:sp>
      <p:sp>
        <p:nvSpPr>
          <p:cNvPr id="301" name="Google Shape;301;p8"/>
          <p:cNvSpPr/>
          <p:nvPr/>
        </p:nvSpPr>
        <p:spPr>
          <a:xfrm>
            <a:off x="822960" y="1207008"/>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Remove Cancellations</a:t>
            </a:r>
            <a:endParaRPr sz="1200">
              <a:solidFill>
                <a:schemeClr val="dk1"/>
              </a:solidFill>
              <a:latin typeface="Calibri"/>
              <a:ea typeface="Calibri"/>
              <a:cs typeface="Calibri"/>
              <a:sym typeface="Calibri"/>
            </a:endParaRPr>
          </a:p>
        </p:txBody>
      </p:sp>
      <p:sp>
        <p:nvSpPr>
          <p:cNvPr id="302" name="Google Shape;302;p8"/>
          <p:cNvSpPr/>
          <p:nvPr/>
        </p:nvSpPr>
        <p:spPr>
          <a:xfrm>
            <a:off x="822960" y="1517904"/>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Invoices prefixed 'C' are reversals — not real sales</a:t>
            </a:r>
            <a:endParaRPr sz="950">
              <a:solidFill>
                <a:schemeClr val="dk1"/>
              </a:solidFill>
              <a:latin typeface="Calibri"/>
              <a:ea typeface="Calibri"/>
              <a:cs typeface="Calibri"/>
              <a:sym typeface="Calibri"/>
            </a:endParaRPr>
          </a:p>
        </p:txBody>
      </p:sp>
      <p:sp>
        <p:nvSpPr>
          <p:cNvPr id="303" name="Google Shape;303;p8"/>
          <p:cNvSpPr/>
          <p:nvPr/>
        </p:nvSpPr>
        <p:spPr>
          <a:xfrm>
            <a:off x="822960" y="1975104"/>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8"/>
          <p:cNvSpPr/>
          <p:nvPr/>
        </p:nvSpPr>
        <p:spPr>
          <a:xfrm>
            <a:off x="822960" y="1975104"/>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 9,288 rows</a:t>
            </a:r>
            <a:endParaRPr sz="900">
              <a:solidFill>
                <a:schemeClr val="dk1"/>
              </a:solidFill>
              <a:latin typeface="Calibri"/>
              <a:ea typeface="Calibri"/>
              <a:cs typeface="Calibri"/>
              <a:sym typeface="Calibri"/>
            </a:endParaRPr>
          </a:p>
        </p:txBody>
      </p:sp>
      <p:sp>
        <p:nvSpPr>
          <p:cNvPr id="305" name="Google Shape;305;p8"/>
          <p:cNvSpPr/>
          <p:nvPr/>
        </p:nvSpPr>
        <p:spPr>
          <a:xfrm>
            <a:off x="256032" y="2423160"/>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8"/>
          <p:cNvSpPr/>
          <p:nvPr/>
        </p:nvSpPr>
        <p:spPr>
          <a:xfrm>
            <a:off x="256032" y="2423160"/>
            <a:ext cx="475488" cy="1170432"/>
          </a:xfrm>
          <a:prstGeom prst="rect">
            <a:avLst/>
          </a:prstGeom>
          <a:solidFill>
            <a:srgbClr val="EF6C00"/>
          </a:solidFill>
          <a:ln w="12700" cap="flat" cmpd="sng">
            <a:solidFill>
              <a:srgbClr val="EF6C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8"/>
          <p:cNvSpPr/>
          <p:nvPr/>
        </p:nvSpPr>
        <p:spPr>
          <a:xfrm>
            <a:off x="256032" y="2770632"/>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3.2</a:t>
            </a:r>
            <a:endParaRPr sz="1100">
              <a:solidFill>
                <a:schemeClr val="dk1"/>
              </a:solidFill>
              <a:latin typeface="Calibri"/>
              <a:ea typeface="Calibri"/>
              <a:cs typeface="Calibri"/>
              <a:sym typeface="Calibri"/>
            </a:endParaRPr>
          </a:p>
        </p:txBody>
      </p:sp>
      <p:sp>
        <p:nvSpPr>
          <p:cNvPr id="308" name="Google Shape;308;p8"/>
          <p:cNvSpPr/>
          <p:nvPr/>
        </p:nvSpPr>
        <p:spPr>
          <a:xfrm>
            <a:off x="822960" y="2514600"/>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Remove Duplicates</a:t>
            </a:r>
            <a:endParaRPr sz="1200">
              <a:solidFill>
                <a:schemeClr val="dk1"/>
              </a:solidFill>
              <a:latin typeface="Calibri"/>
              <a:ea typeface="Calibri"/>
              <a:cs typeface="Calibri"/>
              <a:sym typeface="Calibri"/>
            </a:endParaRPr>
          </a:p>
        </p:txBody>
      </p:sp>
      <p:sp>
        <p:nvSpPr>
          <p:cNvPr id="309" name="Google Shape;309;p8"/>
          <p:cNvSpPr/>
          <p:nvPr/>
        </p:nvSpPr>
        <p:spPr>
          <a:xfrm>
            <a:off x="822960" y="2825496"/>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System logging errors inflate transaction counts</a:t>
            </a:r>
            <a:endParaRPr sz="950">
              <a:solidFill>
                <a:schemeClr val="dk1"/>
              </a:solidFill>
              <a:latin typeface="Calibri"/>
              <a:ea typeface="Calibri"/>
              <a:cs typeface="Calibri"/>
              <a:sym typeface="Calibri"/>
            </a:endParaRPr>
          </a:p>
        </p:txBody>
      </p:sp>
      <p:sp>
        <p:nvSpPr>
          <p:cNvPr id="310" name="Google Shape;310;p8"/>
          <p:cNvSpPr/>
          <p:nvPr/>
        </p:nvSpPr>
        <p:spPr>
          <a:xfrm>
            <a:off x="822960" y="3282696"/>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8"/>
          <p:cNvSpPr/>
          <p:nvPr/>
        </p:nvSpPr>
        <p:spPr>
          <a:xfrm>
            <a:off x="822960" y="3282696"/>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 5,231 rows</a:t>
            </a:r>
            <a:endParaRPr sz="900">
              <a:solidFill>
                <a:schemeClr val="dk1"/>
              </a:solidFill>
              <a:latin typeface="Calibri"/>
              <a:ea typeface="Calibri"/>
              <a:cs typeface="Calibri"/>
              <a:sym typeface="Calibri"/>
            </a:endParaRPr>
          </a:p>
        </p:txBody>
      </p:sp>
      <p:sp>
        <p:nvSpPr>
          <p:cNvPr id="312" name="Google Shape;312;p8"/>
          <p:cNvSpPr/>
          <p:nvPr/>
        </p:nvSpPr>
        <p:spPr>
          <a:xfrm>
            <a:off x="256032" y="3730752"/>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8"/>
          <p:cNvSpPr/>
          <p:nvPr/>
        </p:nvSpPr>
        <p:spPr>
          <a:xfrm>
            <a:off x="256032" y="3730752"/>
            <a:ext cx="475488" cy="117043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8"/>
          <p:cNvSpPr/>
          <p:nvPr/>
        </p:nvSpPr>
        <p:spPr>
          <a:xfrm>
            <a:off x="256032" y="4078224"/>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3.3</a:t>
            </a:r>
            <a:endParaRPr sz="1100">
              <a:solidFill>
                <a:schemeClr val="dk1"/>
              </a:solidFill>
              <a:latin typeface="Calibri"/>
              <a:ea typeface="Calibri"/>
              <a:cs typeface="Calibri"/>
              <a:sym typeface="Calibri"/>
            </a:endParaRPr>
          </a:p>
        </p:txBody>
      </p:sp>
      <p:sp>
        <p:nvSpPr>
          <p:cNvPr id="315" name="Google Shape;315;p8"/>
          <p:cNvSpPr/>
          <p:nvPr/>
        </p:nvSpPr>
        <p:spPr>
          <a:xfrm>
            <a:off x="822960" y="3822192"/>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Drop Null Customer ID</a:t>
            </a:r>
            <a:endParaRPr sz="1200">
              <a:solidFill>
                <a:schemeClr val="dk1"/>
              </a:solidFill>
              <a:latin typeface="Calibri"/>
              <a:ea typeface="Calibri"/>
              <a:cs typeface="Calibri"/>
              <a:sym typeface="Calibri"/>
            </a:endParaRPr>
          </a:p>
        </p:txBody>
      </p:sp>
      <p:sp>
        <p:nvSpPr>
          <p:cNvPr id="316" name="Google Shape;316;p8"/>
          <p:cNvSpPr/>
          <p:nvPr/>
        </p:nvSpPr>
        <p:spPr>
          <a:xfrm>
            <a:off x="822960" y="4133088"/>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Primary key for clustering — imputation invalid</a:t>
            </a:r>
            <a:endParaRPr sz="950">
              <a:solidFill>
                <a:schemeClr val="dk1"/>
              </a:solidFill>
              <a:latin typeface="Calibri"/>
              <a:ea typeface="Calibri"/>
              <a:cs typeface="Calibri"/>
              <a:sym typeface="Calibri"/>
            </a:endParaRPr>
          </a:p>
        </p:txBody>
      </p:sp>
      <p:sp>
        <p:nvSpPr>
          <p:cNvPr id="317" name="Google Shape;317;p8"/>
          <p:cNvSpPr/>
          <p:nvPr/>
        </p:nvSpPr>
        <p:spPr>
          <a:xfrm>
            <a:off x="822960" y="4590288"/>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8"/>
          <p:cNvSpPr/>
          <p:nvPr/>
        </p:nvSpPr>
        <p:spPr>
          <a:xfrm>
            <a:off x="822960" y="4590288"/>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 134,658 rows</a:t>
            </a:r>
            <a:endParaRPr sz="900">
              <a:solidFill>
                <a:schemeClr val="dk1"/>
              </a:solidFill>
              <a:latin typeface="Calibri"/>
              <a:ea typeface="Calibri"/>
              <a:cs typeface="Calibri"/>
              <a:sym typeface="Calibri"/>
            </a:endParaRPr>
          </a:p>
        </p:txBody>
      </p:sp>
      <p:sp>
        <p:nvSpPr>
          <p:cNvPr id="319" name="Google Shape;319;p8"/>
          <p:cNvSpPr/>
          <p:nvPr/>
        </p:nvSpPr>
        <p:spPr>
          <a:xfrm>
            <a:off x="4846320" y="1115568"/>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8"/>
          <p:cNvSpPr/>
          <p:nvPr/>
        </p:nvSpPr>
        <p:spPr>
          <a:xfrm>
            <a:off x="4846320" y="1115568"/>
            <a:ext cx="475488" cy="1170432"/>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1" name="Google Shape;321;p8"/>
          <p:cNvSpPr/>
          <p:nvPr/>
        </p:nvSpPr>
        <p:spPr>
          <a:xfrm>
            <a:off x="4846320" y="1463040"/>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3.4</a:t>
            </a:r>
            <a:endParaRPr sz="1100">
              <a:solidFill>
                <a:schemeClr val="dk1"/>
              </a:solidFill>
              <a:latin typeface="Calibri"/>
              <a:ea typeface="Calibri"/>
              <a:cs typeface="Calibri"/>
              <a:sym typeface="Calibri"/>
            </a:endParaRPr>
          </a:p>
        </p:txBody>
      </p:sp>
      <p:sp>
        <p:nvSpPr>
          <p:cNvPr id="322" name="Google Shape;322;p8"/>
          <p:cNvSpPr/>
          <p:nvPr/>
        </p:nvSpPr>
        <p:spPr>
          <a:xfrm>
            <a:off x="5413248" y="1207008"/>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Filter Invalid Qty/Price</a:t>
            </a:r>
            <a:endParaRPr sz="1200">
              <a:solidFill>
                <a:schemeClr val="dk1"/>
              </a:solidFill>
              <a:latin typeface="Calibri"/>
              <a:ea typeface="Calibri"/>
              <a:cs typeface="Calibri"/>
              <a:sym typeface="Calibri"/>
            </a:endParaRPr>
          </a:p>
        </p:txBody>
      </p:sp>
      <p:sp>
        <p:nvSpPr>
          <p:cNvPr id="323" name="Google Shape;323;p8"/>
          <p:cNvSpPr/>
          <p:nvPr/>
        </p:nvSpPr>
        <p:spPr>
          <a:xfrm>
            <a:off x="5413248" y="1517904"/>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Zero/negative values produce nonsensical revenue</a:t>
            </a:r>
            <a:endParaRPr sz="950">
              <a:solidFill>
                <a:schemeClr val="dk1"/>
              </a:solidFill>
              <a:latin typeface="Calibri"/>
              <a:ea typeface="Calibri"/>
              <a:cs typeface="Calibri"/>
              <a:sym typeface="Calibri"/>
            </a:endParaRPr>
          </a:p>
        </p:txBody>
      </p:sp>
      <p:sp>
        <p:nvSpPr>
          <p:cNvPr id="324" name="Google Shape;324;p8"/>
          <p:cNvSpPr/>
          <p:nvPr/>
        </p:nvSpPr>
        <p:spPr>
          <a:xfrm>
            <a:off x="5413248" y="1975104"/>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8"/>
          <p:cNvSpPr/>
          <p:nvPr/>
        </p:nvSpPr>
        <p:spPr>
          <a:xfrm>
            <a:off x="5413248" y="1975104"/>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 40 rows</a:t>
            </a:r>
            <a:endParaRPr sz="900">
              <a:solidFill>
                <a:schemeClr val="dk1"/>
              </a:solidFill>
              <a:latin typeface="Calibri"/>
              <a:ea typeface="Calibri"/>
              <a:cs typeface="Calibri"/>
              <a:sym typeface="Calibri"/>
            </a:endParaRPr>
          </a:p>
        </p:txBody>
      </p:sp>
      <p:sp>
        <p:nvSpPr>
          <p:cNvPr id="326" name="Google Shape;326;p8"/>
          <p:cNvSpPr/>
          <p:nvPr/>
        </p:nvSpPr>
        <p:spPr>
          <a:xfrm>
            <a:off x="4846320" y="2423160"/>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8"/>
          <p:cNvSpPr/>
          <p:nvPr/>
        </p:nvSpPr>
        <p:spPr>
          <a:xfrm>
            <a:off x="4846320" y="2423160"/>
            <a:ext cx="475488" cy="1170432"/>
          </a:xfrm>
          <a:prstGeom prst="rect">
            <a:avLst/>
          </a:prstGeom>
          <a:solidFill>
            <a:srgbClr val="3B82F6"/>
          </a:solidFill>
          <a:ln w="12700" cap="flat" cmpd="sng">
            <a:solidFill>
              <a:srgbClr val="3B82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8"/>
          <p:cNvSpPr/>
          <p:nvPr/>
        </p:nvSpPr>
        <p:spPr>
          <a:xfrm>
            <a:off x="4846320" y="2770632"/>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3.5</a:t>
            </a:r>
            <a:endParaRPr sz="1100">
              <a:solidFill>
                <a:schemeClr val="dk1"/>
              </a:solidFill>
              <a:latin typeface="Calibri"/>
              <a:ea typeface="Calibri"/>
              <a:cs typeface="Calibri"/>
              <a:sym typeface="Calibri"/>
            </a:endParaRPr>
          </a:p>
        </p:txBody>
      </p:sp>
      <p:sp>
        <p:nvSpPr>
          <p:cNvPr id="329" name="Google Shape;329;p8"/>
          <p:cNvSpPr/>
          <p:nvPr/>
        </p:nvSpPr>
        <p:spPr>
          <a:xfrm>
            <a:off x="5413248" y="2514600"/>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IQR Outlier Removal</a:t>
            </a:r>
            <a:endParaRPr sz="1200">
              <a:solidFill>
                <a:schemeClr val="dk1"/>
              </a:solidFill>
              <a:latin typeface="Calibri"/>
              <a:ea typeface="Calibri"/>
              <a:cs typeface="Calibri"/>
              <a:sym typeface="Calibri"/>
            </a:endParaRPr>
          </a:p>
        </p:txBody>
      </p:sp>
      <p:sp>
        <p:nvSpPr>
          <p:cNvPr id="330" name="Google Shape;330;p8"/>
          <p:cNvSpPr/>
          <p:nvPr/>
        </p:nvSpPr>
        <p:spPr>
          <a:xfrm>
            <a:off x="5413248" y="2825496"/>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Tukey (1977) fence: removes B2B wholesale anomalies</a:t>
            </a:r>
            <a:endParaRPr sz="950">
              <a:solidFill>
                <a:schemeClr val="dk1"/>
              </a:solidFill>
              <a:latin typeface="Calibri"/>
              <a:ea typeface="Calibri"/>
              <a:cs typeface="Calibri"/>
              <a:sym typeface="Calibri"/>
            </a:endParaRPr>
          </a:p>
        </p:txBody>
      </p:sp>
      <p:sp>
        <p:nvSpPr>
          <p:cNvPr id="331" name="Google Shape;331;p8"/>
          <p:cNvSpPr/>
          <p:nvPr/>
        </p:nvSpPr>
        <p:spPr>
          <a:xfrm>
            <a:off x="5413248" y="3282696"/>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8"/>
          <p:cNvSpPr/>
          <p:nvPr/>
        </p:nvSpPr>
        <p:spPr>
          <a:xfrm>
            <a:off x="5413248" y="3282696"/>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 59,459 rows</a:t>
            </a:r>
            <a:endParaRPr sz="900">
              <a:solidFill>
                <a:schemeClr val="dk1"/>
              </a:solidFill>
              <a:latin typeface="Calibri"/>
              <a:ea typeface="Calibri"/>
              <a:cs typeface="Calibri"/>
              <a:sym typeface="Calibri"/>
            </a:endParaRPr>
          </a:p>
        </p:txBody>
      </p:sp>
      <p:sp>
        <p:nvSpPr>
          <p:cNvPr id="333" name="Google Shape;333;p8"/>
          <p:cNvSpPr/>
          <p:nvPr/>
        </p:nvSpPr>
        <p:spPr>
          <a:xfrm>
            <a:off x="4846320" y="3730752"/>
            <a:ext cx="4279392" cy="1170432"/>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8"/>
          <p:cNvSpPr/>
          <p:nvPr/>
        </p:nvSpPr>
        <p:spPr>
          <a:xfrm>
            <a:off x="4846320" y="3730752"/>
            <a:ext cx="475488" cy="1170432"/>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8"/>
          <p:cNvSpPr/>
          <p:nvPr/>
        </p:nvSpPr>
        <p:spPr>
          <a:xfrm>
            <a:off x="4846320" y="4078224"/>
            <a:ext cx="475488"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3.6</a:t>
            </a:r>
            <a:endParaRPr sz="1100">
              <a:solidFill>
                <a:schemeClr val="dk1"/>
              </a:solidFill>
              <a:latin typeface="Calibri"/>
              <a:ea typeface="Calibri"/>
              <a:cs typeface="Calibri"/>
              <a:sym typeface="Calibri"/>
            </a:endParaRPr>
          </a:p>
        </p:txBody>
      </p:sp>
      <p:sp>
        <p:nvSpPr>
          <p:cNvPr id="336" name="Google Shape;336;p8"/>
          <p:cNvSpPr/>
          <p:nvPr/>
        </p:nvSpPr>
        <p:spPr>
          <a:xfrm>
            <a:off x="5413248" y="3822192"/>
            <a:ext cx="354787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Feature Engineering</a:t>
            </a:r>
            <a:endParaRPr sz="1200">
              <a:solidFill>
                <a:schemeClr val="dk1"/>
              </a:solidFill>
              <a:latin typeface="Calibri"/>
              <a:ea typeface="Calibri"/>
              <a:cs typeface="Calibri"/>
              <a:sym typeface="Calibri"/>
            </a:endParaRPr>
          </a:p>
        </p:txBody>
      </p:sp>
      <p:sp>
        <p:nvSpPr>
          <p:cNvPr id="337" name="Google Shape;337;p8"/>
          <p:cNvSpPr/>
          <p:nvPr/>
        </p:nvSpPr>
        <p:spPr>
          <a:xfrm>
            <a:off x="5413248" y="4133088"/>
            <a:ext cx="3547872"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a:solidFill>
                  <a:srgbClr val="475569"/>
                </a:solidFill>
                <a:latin typeface="Calibri"/>
                <a:ea typeface="Calibri"/>
                <a:cs typeface="Calibri"/>
                <a:sym typeface="Calibri"/>
              </a:rPr>
              <a:t>Year, Month, DayOfWeek, Hour, Total_Revenue added</a:t>
            </a:r>
            <a:endParaRPr sz="950">
              <a:solidFill>
                <a:schemeClr val="dk1"/>
              </a:solidFill>
              <a:latin typeface="Calibri"/>
              <a:ea typeface="Calibri"/>
              <a:cs typeface="Calibri"/>
              <a:sym typeface="Calibri"/>
            </a:endParaRPr>
          </a:p>
        </p:txBody>
      </p:sp>
      <p:sp>
        <p:nvSpPr>
          <p:cNvPr id="338" name="Google Shape;338;p8"/>
          <p:cNvSpPr/>
          <p:nvPr/>
        </p:nvSpPr>
        <p:spPr>
          <a:xfrm>
            <a:off x="5413248" y="4590288"/>
            <a:ext cx="2286000" cy="2286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8"/>
          <p:cNvSpPr/>
          <p:nvPr/>
        </p:nvSpPr>
        <p:spPr>
          <a:xfrm>
            <a:off x="5413248" y="4590288"/>
            <a:ext cx="22860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00"/>
              <a:buFont typeface="Calibri"/>
              <a:buNone/>
            </a:pPr>
            <a:r>
              <a:rPr lang="en-US" sz="900" b="1">
                <a:solidFill>
                  <a:srgbClr val="22C55E"/>
                </a:solidFill>
                <a:latin typeface="Calibri"/>
                <a:ea typeface="Calibri"/>
                <a:cs typeface="Calibri"/>
                <a:sym typeface="Calibri"/>
              </a:rPr>
              <a:t>Removed: 0 (adds cols) rows</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44"/>
        <p:cNvGrpSpPr/>
        <p:nvPr/>
      </p:nvGrpSpPr>
      <p:grpSpPr>
        <a:xfrm>
          <a:off x="0" y="0"/>
          <a:ext cx="0" cy="0"/>
          <a:chOff x="0" y="0"/>
          <a:chExt cx="0" cy="0"/>
        </a:xfrm>
      </p:grpSpPr>
      <p:sp>
        <p:nvSpPr>
          <p:cNvPr id="345" name="Google Shape;345;p9"/>
          <p:cNvSpPr/>
          <p:nvPr/>
        </p:nvSpPr>
        <p:spPr>
          <a:xfrm>
            <a:off x="0" y="0"/>
            <a:ext cx="9144000" cy="20116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9"/>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1 — ETL  |  QUALITY SCORECARD &amp; PIPELINE IMPACT</a:t>
            </a:r>
            <a:endParaRPr sz="900">
              <a:solidFill>
                <a:schemeClr val="dk1"/>
              </a:solidFill>
              <a:latin typeface="Calibri"/>
              <a:ea typeface="Calibri"/>
              <a:cs typeface="Calibri"/>
              <a:sym typeface="Calibri"/>
            </a:endParaRPr>
          </a:p>
        </p:txBody>
      </p:sp>
      <p:sp>
        <p:nvSpPr>
          <p:cNvPr id="347" name="Google Shape;347;p9"/>
          <p:cNvSpPr/>
          <p:nvPr/>
        </p:nvSpPr>
        <p:spPr>
          <a:xfrm>
            <a:off x="365760" y="3200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Pipeline Impact &amp; Data Quality Scorecard</a:t>
            </a:r>
            <a:endParaRPr sz="2200">
              <a:solidFill>
                <a:schemeClr val="dk1"/>
              </a:solidFill>
              <a:latin typeface="Calibri"/>
              <a:ea typeface="Calibri"/>
              <a:cs typeface="Calibri"/>
              <a:sym typeface="Calibri"/>
            </a:endParaRPr>
          </a:p>
        </p:txBody>
      </p:sp>
      <p:sp>
        <p:nvSpPr>
          <p:cNvPr id="348" name="Google Shape;348;p9"/>
          <p:cNvSpPr/>
          <p:nvPr/>
        </p:nvSpPr>
        <p:spPr>
          <a:xfrm>
            <a:off x="365760" y="777240"/>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Before-and-after quantified impact across every step  |  Quality dimensions: Completeness · Validity · Uniqueness · Consistency</a:t>
            </a:r>
            <a:endParaRPr sz="1000">
              <a:solidFill>
                <a:schemeClr val="dk1"/>
              </a:solidFill>
              <a:latin typeface="Calibri"/>
              <a:ea typeface="Calibri"/>
              <a:cs typeface="Calibri"/>
              <a:sym typeface="Calibri"/>
            </a:endParaRPr>
          </a:p>
        </p:txBody>
      </p:sp>
      <p:sp>
        <p:nvSpPr>
          <p:cNvPr id="349" name="Google Shape;349;p9"/>
          <p:cNvSpPr/>
          <p:nvPr/>
        </p:nvSpPr>
        <p:spPr>
          <a:xfrm>
            <a:off x="274320" y="1170432"/>
            <a:ext cx="5989320" cy="3200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9"/>
          <p:cNvSpPr/>
          <p:nvPr/>
        </p:nvSpPr>
        <p:spPr>
          <a:xfrm>
            <a:off x="384048" y="1207008"/>
            <a:ext cx="233172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Step</a:t>
            </a:r>
            <a:endParaRPr sz="900">
              <a:solidFill>
                <a:schemeClr val="dk1"/>
              </a:solidFill>
              <a:latin typeface="Calibri"/>
              <a:ea typeface="Calibri"/>
              <a:cs typeface="Calibri"/>
              <a:sym typeface="Calibri"/>
            </a:endParaRPr>
          </a:p>
        </p:txBody>
      </p:sp>
      <p:sp>
        <p:nvSpPr>
          <p:cNvPr id="351" name="Google Shape;351;p9"/>
          <p:cNvSpPr/>
          <p:nvPr/>
        </p:nvSpPr>
        <p:spPr>
          <a:xfrm>
            <a:off x="2788920" y="1207008"/>
            <a:ext cx="82296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Before</a:t>
            </a:r>
            <a:endParaRPr sz="900">
              <a:solidFill>
                <a:schemeClr val="dk1"/>
              </a:solidFill>
              <a:latin typeface="Calibri"/>
              <a:ea typeface="Calibri"/>
              <a:cs typeface="Calibri"/>
              <a:sym typeface="Calibri"/>
            </a:endParaRPr>
          </a:p>
        </p:txBody>
      </p:sp>
      <p:sp>
        <p:nvSpPr>
          <p:cNvPr id="352" name="Google Shape;352;p9"/>
          <p:cNvSpPr/>
          <p:nvPr/>
        </p:nvSpPr>
        <p:spPr>
          <a:xfrm>
            <a:off x="3657600" y="1207008"/>
            <a:ext cx="82296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After</a:t>
            </a:r>
            <a:endParaRPr sz="900">
              <a:solidFill>
                <a:schemeClr val="dk1"/>
              </a:solidFill>
              <a:latin typeface="Calibri"/>
              <a:ea typeface="Calibri"/>
              <a:cs typeface="Calibri"/>
              <a:sym typeface="Calibri"/>
            </a:endParaRPr>
          </a:p>
        </p:txBody>
      </p:sp>
      <p:sp>
        <p:nvSpPr>
          <p:cNvPr id="353" name="Google Shape;353;p9"/>
          <p:cNvSpPr/>
          <p:nvPr/>
        </p:nvSpPr>
        <p:spPr>
          <a:xfrm>
            <a:off x="4526280" y="1207008"/>
            <a:ext cx="8686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Removed</a:t>
            </a:r>
            <a:endParaRPr sz="900">
              <a:solidFill>
                <a:schemeClr val="dk1"/>
              </a:solidFill>
              <a:latin typeface="Calibri"/>
              <a:ea typeface="Calibri"/>
              <a:cs typeface="Calibri"/>
              <a:sym typeface="Calibri"/>
            </a:endParaRPr>
          </a:p>
        </p:txBody>
      </p:sp>
      <p:sp>
        <p:nvSpPr>
          <p:cNvPr id="354" name="Google Shape;354;p9"/>
          <p:cNvSpPr/>
          <p:nvPr/>
        </p:nvSpPr>
        <p:spPr>
          <a:xfrm>
            <a:off x="5422392" y="1207008"/>
            <a:ext cx="71323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 Impact</a:t>
            </a:r>
            <a:endParaRPr sz="900">
              <a:solidFill>
                <a:schemeClr val="dk1"/>
              </a:solidFill>
              <a:latin typeface="Calibri"/>
              <a:ea typeface="Calibri"/>
              <a:cs typeface="Calibri"/>
              <a:sym typeface="Calibri"/>
            </a:endParaRPr>
          </a:p>
        </p:txBody>
      </p:sp>
      <p:sp>
        <p:nvSpPr>
          <p:cNvPr id="355" name="Google Shape;355;p9"/>
          <p:cNvSpPr/>
          <p:nvPr/>
        </p:nvSpPr>
        <p:spPr>
          <a:xfrm>
            <a:off x="274320" y="1517904"/>
            <a:ext cx="5989320" cy="402336"/>
          </a:xfrm>
          <a:prstGeom prst="rect">
            <a:avLst/>
          </a:prstGeom>
          <a:solidFill>
            <a:srgbClr val="0F2744"/>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9"/>
          <p:cNvSpPr/>
          <p:nvPr/>
        </p:nvSpPr>
        <p:spPr>
          <a:xfrm>
            <a:off x="274320" y="1517904"/>
            <a:ext cx="64008" cy="402336"/>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9"/>
          <p:cNvSpPr/>
          <p:nvPr/>
        </p:nvSpPr>
        <p:spPr>
          <a:xfrm>
            <a:off x="384048" y="16002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3.1 Remove Cancellations</a:t>
            </a:r>
            <a:endParaRPr sz="950">
              <a:solidFill>
                <a:schemeClr val="dk1"/>
              </a:solidFill>
              <a:latin typeface="Calibri"/>
              <a:ea typeface="Calibri"/>
              <a:cs typeface="Calibri"/>
              <a:sym typeface="Calibri"/>
            </a:endParaRPr>
          </a:p>
        </p:txBody>
      </p:sp>
      <p:sp>
        <p:nvSpPr>
          <p:cNvPr id="358" name="Google Shape;358;p9"/>
          <p:cNvSpPr/>
          <p:nvPr/>
        </p:nvSpPr>
        <p:spPr>
          <a:xfrm>
            <a:off x="2788920" y="16002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541,910</a:t>
            </a:r>
            <a:endParaRPr sz="950">
              <a:solidFill>
                <a:schemeClr val="dk1"/>
              </a:solidFill>
              <a:latin typeface="Calibri"/>
              <a:ea typeface="Calibri"/>
              <a:cs typeface="Calibri"/>
              <a:sym typeface="Calibri"/>
            </a:endParaRPr>
          </a:p>
        </p:txBody>
      </p:sp>
      <p:sp>
        <p:nvSpPr>
          <p:cNvPr id="359" name="Google Shape;359;p9"/>
          <p:cNvSpPr/>
          <p:nvPr/>
        </p:nvSpPr>
        <p:spPr>
          <a:xfrm>
            <a:off x="3657600" y="16002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532,622</a:t>
            </a:r>
            <a:endParaRPr sz="950">
              <a:solidFill>
                <a:schemeClr val="dk1"/>
              </a:solidFill>
              <a:latin typeface="Calibri"/>
              <a:ea typeface="Calibri"/>
              <a:cs typeface="Calibri"/>
              <a:sym typeface="Calibri"/>
            </a:endParaRPr>
          </a:p>
        </p:txBody>
      </p:sp>
      <p:sp>
        <p:nvSpPr>
          <p:cNvPr id="360" name="Google Shape;360;p9"/>
          <p:cNvSpPr/>
          <p:nvPr/>
        </p:nvSpPr>
        <p:spPr>
          <a:xfrm>
            <a:off x="4526280" y="16002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950"/>
              <a:buFont typeface="Calibri"/>
              <a:buNone/>
            </a:pPr>
            <a:r>
              <a:rPr lang="en-US" sz="950" b="1">
                <a:solidFill>
                  <a:srgbClr val="EF4444"/>
                </a:solidFill>
                <a:latin typeface="Calibri"/>
                <a:ea typeface="Calibri"/>
                <a:cs typeface="Calibri"/>
                <a:sym typeface="Calibri"/>
              </a:rPr>
              <a:t>9,288</a:t>
            </a:r>
            <a:endParaRPr sz="950">
              <a:solidFill>
                <a:schemeClr val="dk1"/>
              </a:solidFill>
              <a:latin typeface="Calibri"/>
              <a:ea typeface="Calibri"/>
              <a:cs typeface="Calibri"/>
              <a:sym typeface="Calibri"/>
            </a:endParaRPr>
          </a:p>
        </p:txBody>
      </p:sp>
      <p:sp>
        <p:nvSpPr>
          <p:cNvPr id="361" name="Google Shape;361;p9"/>
          <p:cNvSpPr/>
          <p:nvPr/>
        </p:nvSpPr>
        <p:spPr>
          <a:xfrm>
            <a:off x="5422392" y="16002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1.71%</a:t>
            </a:r>
            <a:endParaRPr sz="950">
              <a:solidFill>
                <a:schemeClr val="dk1"/>
              </a:solidFill>
              <a:latin typeface="Calibri"/>
              <a:ea typeface="Calibri"/>
              <a:cs typeface="Calibri"/>
              <a:sym typeface="Calibri"/>
            </a:endParaRPr>
          </a:p>
        </p:txBody>
      </p:sp>
      <p:sp>
        <p:nvSpPr>
          <p:cNvPr id="362" name="Google Shape;362;p9"/>
          <p:cNvSpPr/>
          <p:nvPr/>
        </p:nvSpPr>
        <p:spPr>
          <a:xfrm>
            <a:off x="274320" y="1975104"/>
            <a:ext cx="5989320" cy="402336"/>
          </a:xfrm>
          <a:prstGeom prst="rect">
            <a:avLst/>
          </a:prstGeom>
          <a:solidFill>
            <a:srgbClr val="0D1E38"/>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9"/>
          <p:cNvSpPr/>
          <p:nvPr/>
        </p:nvSpPr>
        <p:spPr>
          <a:xfrm>
            <a:off x="274320" y="1975104"/>
            <a:ext cx="64008" cy="402336"/>
          </a:xfrm>
          <a:prstGeom prst="rect">
            <a:avLst/>
          </a:prstGeom>
          <a:solidFill>
            <a:srgbClr val="EF6C00"/>
          </a:solidFill>
          <a:ln w="12700" cap="flat" cmpd="sng">
            <a:solidFill>
              <a:srgbClr val="EF6C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9"/>
          <p:cNvSpPr/>
          <p:nvPr/>
        </p:nvSpPr>
        <p:spPr>
          <a:xfrm>
            <a:off x="384048" y="20574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3.2 Remove Duplicates</a:t>
            </a:r>
            <a:endParaRPr sz="950">
              <a:solidFill>
                <a:schemeClr val="dk1"/>
              </a:solidFill>
              <a:latin typeface="Calibri"/>
              <a:ea typeface="Calibri"/>
              <a:cs typeface="Calibri"/>
              <a:sym typeface="Calibri"/>
            </a:endParaRPr>
          </a:p>
        </p:txBody>
      </p:sp>
      <p:sp>
        <p:nvSpPr>
          <p:cNvPr id="365" name="Google Shape;365;p9"/>
          <p:cNvSpPr/>
          <p:nvPr/>
        </p:nvSpPr>
        <p:spPr>
          <a:xfrm>
            <a:off x="2788920" y="20574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532,622</a:t>
            </a:r>
            <a:endParaRPr sz="950">
              <a:solidFill>
                <a:schemeClr val="dk1"/>
              </a:solidFill>
              <a:latin typeface="Calibri"/>
              <a:ea typeface="Calibri"/>
              <a:cs typeface="Calibri"/>
              <a:sym typeface="Calibri"/>
            </a:endParaRPr>
          </a:p>
        </p:txBody>
      </p:sp>
      <p:sp>
        <p:nvSpPr>
          <p:cNvPr id="366" name="Google Shape;366;p9"/>
          <p:cNvSpPr/>
          <p:nvPr/>
        </p:nvSpPr>
        <p:spPr>
          <a:xfrm>
            <a:off x="3657600" y="20574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527,391</a:t>
            </a:r>
            <a:endParaRPr sz="950">
              <a:solidFill>
                <a:schemeClr val="dk1"/>
              </a:solidFill>
              <a:latin typeface="Calibri"/>
              <a:ea typeface="Calibri"/>
              <a:cs typeface="Calibri"/>
              <a:sym typeface="Calibri"/>
            </a:endParaRPr>
          </a:p>
        </p:txBody>
      </p:sp>
      <p:sp>
        <p:nvSpPr>
          <p:cNvPr id="367" name="Google Shape;367;p9"/>
          <p:cNvSpPr/>
          <p:nvPr/>
        </p:nvSpPr>
        <p:spPr>
          <a:xfrm>
            <a:off x="4526280" y="20574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950"/>
              <a:buFont typeface="Calibri"/>
              <a:buNone/>
            </a:pPr>
            <a:r>
              <a:rPr lang="en-US" sz="950" b="1">
                <a:solidFill>
                  <a:srgbClr val="EF4444"/>
                </a:solidFill>
                <a:latin typeface="Calibri"/>
                <a:ea typeface="Calibri"/>
                <a:cs typeface="Calibri"/>
                <a:sym typeface="Calibri"/>
              </a:rPr>
              <a:t>5,231</a:t>
            </a:r>
            <a:endParaRPr sz="950">
              <a:solidFill>
                <a:schemeClr val="dk1"/>
              </a:solidFill>
              <a:latin typeface="Calibri"/>
              <a:ea typeface="Calibri"/>
              <a:cs typeface="Calibri"/>
              <a:sym typeface="Calibri"/>
            </a:endParaRPr>
          </a:p>
        </p:txBody>
      </p:sp>
      <p:sp>
        <p:nvSpPr>
          <p:cNvPr id="368" name="Google Shape;368;p9"/>
          <p:cNvSpPr/>
          <p:nvPr/>
        </p:nvSpPr>
        <p:spPr>
          <a:xfrm>
            <a:off x="5422392" y="20574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0.98%</a:t>
            </a:r>
            <a:endParaRPr sz="950">
              <a:solidFill>
                <a:schemeClr val="dk1"/>
              </a:solidFill>
              <a:latin typeface="Calibri"/>
              <a:ea typeface="Calibri"/>
              <a:cs typeface="Calibri"/>
              <a:sym typeface="Calibri"/>
            </a:endParaRPr>
          </a:p>
        </p:txBody>
      </p:sp>
      <p:sp>
        <p:nvSpPr>
          <p:cNvPr id="369" name="Google Shape;369;p9"/>
          <p:cNvSpPr/>
          <p:nvPr/>
        </p:nvSpPr>
        <p:spPr>
          <a:xfrm>
            <a:off x="274320" y="2432304"/>
            <a:ext cx="5989320" cy="402336"/>
          </a:xfrm>
          <a:prstGeom prst="rect">
            <a:avLst/>
          </a:prstGeom>
          <a:solidFill>
            <a:srgbClr val="0F2744"/>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9"/>
          <p:cNvSpPr/>
          <p:nvPr/>
        </p:nvSpPr>
        <p:spPr>
          <a:xfrm>
            <a:off x="274320" y="2432304"/>
            <a:ext cx="64008" cy="402336"/>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9"/>
          <p:cNvSpPr/>
          <p:nvPr/>
        </p:nvSpPr>
        <p:spPr>
          <a:xfrm>
            <a:off x="384048" y="25146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3.3 Drop Null Customer ID</a:t>
            </a:r>
            <a:endParaRPr sz="950">
              <a:solidFill>
                <a:schemeClr val="dk1"/>
              </a:solidFill>
              <a:latin typeface="Calibri"/>
              <a:ea typeface="Calibri"/>
              <a:cs typeface="Calibri"/>
              <a:sym typeface="Calibri"/>
            </a:endParaRPr>
          </a:p>
        </p:txBody>
      </p:sp>
      <p:sp>
        <p:nvSpPr>
          <p:cNvPr id="372" name="Google Shape;372;p9"/>
          <p:cNvSpPr/>
          <p:nvPr/>
        </p:nvSpPr>
        <p:spPr>
          <a:xfrm>
            <a:off x="2788920" y="25146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527,391</a:t>
            </a:r>
            <a:endParaRPr sz="950">
              <a:solidFill>
                <a:schemeClr val="dk1"/>
              </a:solidFill>
              <a:latin typeface="Calibri"/>
              <a:ea typeface="Calibri"/>
              <a:cs typeface="Calibri"/>
              <a:sym typeface="Calibri"/>
            </a:endParaRPr>
          </a:p>
        </p:txBody>
      </p:sp>
      <p:sp>
        <p:nvSpPr>
          <p:cNvPr id="373" name="Google Shape;373;p9"/>
          <p:cNvSpPr/>
          <p:nvPr/>
        </p:nvSpPr>
        <p:spPr>
          <a:xfrm>
            <a:off x="3657600" y="25146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392,733</a:t>
            </a:r>
            <a:endParaRPr sz="950">
              <a:solidFill>
                <a:schemeClr val="dk1"/>
              </a:solidFill>
              <a:latin typeface="Calibri"/>
              <a:ea typeface="Calibri"/>
              <a:cs typeface="Calibri"/>
              <a:sym typeface="Calibri"/>
            </a:endParaRPr>
          </a:p>
        </p:txBody>
      </p:sp>
      <p:sp>
        <p:nvSpPr>
          <p:cNvPr id="374" name="Google Shape;374;p9"/>
          <p:cNvSpPr/>
          <p:nvPr/>
        </p:nvSpPr>
        <p:spPr>
          <a:xfrm>
            <a:off x="4526280" y="25146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950"/>
              <a:buFont typeface="Calibri"/>
              <a:buNone/>
            </a:pPr>
            <a:r>
              <a:rPr lang="en-US" sz="950" b="1">
                <a:solidFill>
                  <a:srgbClr val="EF4444"/>
                </a:solidFill>
                <a:latin typeface="Calibri"/>
                <a:ea typeface="Calibri"/>
                <a:cs typeface="Calibri"/>
                <a:sym typeface="Calibri"/>
              </a:rPr>
              <a:t>134,658</a:t>
            </a:r>
            <a:endParaRPr sz="950">
              <a:solidFill>
                <a:schemeClr val="dk1"/>
              </a:solidFill>
              <a:latin typeface="Calibri"/>
              <a:ea typeface="Calibri"/>
              <a:cs typeface="Calibri"/>
              <a:sym typeface="Calibri"/>
            </a:endParaRPr>
          </a:p>
        </p:txBody>
      </p:sp>
      <p:sp>
        <p:nvSpPr>
          <p:cNvPr id="375" name="Google Shape;375;p9"/>
          <p:cNvSpPr/>
          <p:nvPr/>
        </p:nvSpPr>
        <p:spPr>
          <a:xfrm>
            <a:off x="5422392" y="25146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25.5%</a:t>
            </a:r>
            <a:endParaRPr sz="950">
              <a:solidFill>
                <a:schemeClr val="dk1"/>
              </a:solidFill>
              <a:latin typeface="Calibri"/>
              <a:ea typeface="Calibri"/>
              <a:cs typeface="Calibri"/>
              <a:sym typeface="Calibri"/>
            </a:endParaRPr>
          </a:p>
        </p:txBody>
      </p:sp>
      <p:sp>
        <p:nvSpPr>
          <p:cNvPr id="376" name="Google Shape;376;p9"/>
          <p:cNvSpPr/>
          <p:nvPr/>
        </p:nvSpPr>
        <p:spPr>
          <a:xfrm>
            <a:off x="274320" y="2889504"/>
            <a:ext cx="5989320" cy="402336"/>
          </a:xfrm>
          <a:prstGeom prst="rect">
            <a:avLst/>
          </a:prstGeom>
          <a:solidFill>
            <a:srgbClr val="0D1E38"/>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9"/>
          <p:cNvSpPr/>
          <p:nvPr/>
        </p:nvSpPr>
        <p:spPr>
          <a:xfrm>
            <a:off x="274320" y="2889504"/>
            <a:ext cx="64008" cy="402336"/>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9"/>
          <p:cNvSpPr/>
          <p:nvPr/>
        </p:nvSpPr>
        <p:spPr>
          <a:xfrm>
            <a:off x="384048" y="29718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3.4 Filter Qty/Price</a:t>
            </a:r>
            <a:endParaRPr sz="950">
              <a:solidFill>
                <a:schemeClr val="dk1"/>
              </a:solidFill>
              <a:latin typeface="Calibri"/>
              <a:ea typeface="Calibri"/>
              <a:cs typeface="Calibri"/>
              <a:sym typeface="Calibri"/>
            </a:endParaRPr>
          </a:p>
        </p:txBody>
      </p:sp>
      <p:sp>
        <p:nvSpPr>
          <p:cNvPr id="379" name="Google Shape;379;p9"/>
          <p:cNvSpPr/>
          <p:nvPr/>
        </p:nvSpPr>
        <p:spPr>
          <a:xfrm>
            <a:off x="2788920" y="29718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392,733</a:t>
            </a:r>
            <a:endParaRPr sz="950">
              <a:solidFill>
                <a:schemeClr val="dk1"/>
              </a:solidFill>
              <a:latin typeface="Calibri"/>
              <a:ea typeface="Calibri"/>
              <a:cs typeface="Calibri"/>
              <a:sym typeface="Calibri"/>
            </a:endParaRPr>
          </a:p>
        </p:txBody>
      </p:sp>
      <p:sp>
        <p:nvSpPr>
          <p:cNvPr id="380" name="Google Shape;380;p9"/>
          <p:cNvSpPr/>
          <p:nvPr/>
        </p:nvSpPr>
        <p:spPr>
          <a:xfrm>
            <a:off x="3657600" y="29718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392,693</a:t>
            </a:r>
            <a:endParaRPr sz="950">
              <a:solidFill>
                <a:schemeClr val="dk1"/>
              </a:solidFill>
              <a:latin typeface="Calibri"/>
              <a:ea typeface="Calibri"/>
              <a:cs typeface="Calibri"/>
              <a:sym typeface="Calibri"/>
            </a:endParaRPr>
          </a:p>
        </p:txBody>
      </p:sp>
      <p:sp>
        <p:nvSpPr>
          <p:cNvPr id="381" name="Google Shape;381;p9"/>
          <p:cNvSpPr/>
          <p:nvPr/>
        </p:nvSpPr>
        <p:spPr>
          <a:xfrm>
            <a:off x="4526280" y="29718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950"/>
              <a:buFont typeface="Calibri"/>
              <a:buNone/>
            </a:pPr>
            <a:r>
              <a:rPr lang="en-US" sz="950" b="1">
                <a:solidFill>
                  <a:srgbClr val="EF4444"/>
                </a:solidFill>
                <a:latin typeface="Calibri"/>
                <a:ea typeface="Calibri"/>
                <a:cs typeface="Calibri"/>
                <a:sym typeface="Calibri"/>
              </a:rPr>
              <a:t>40</a:t>
            </a:r>
            <a:endParaRPr sz="950">
              <a:solidFill>
                <a:schemeClr val="dk1"/>
              </a:solidFill>
              <a:latin typeface="Calibri"/>
              <a:ea typeface="Calibri"/>
              <a:cs typeface="Calibri"/>
              <a:sym typeface="Calibri"/>
            </a:endParaRPr>
          </a:p>
        </p:txBody>
      </p:sp>
      <p:sp>
        <p:nvSpPr>
          <p:cNvPr id="382" name="Google Shape;382;p9"/>
          <p:cNvSpPr/>
          <p:nvPr/>
        </p:nvSpPr>
        <p:spPr>
          <a:xfrm>
            <a:off x="5422392" y="29718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0.01%</a:t>
            </a:r>
            <a:endParaRPr sz="950">
              <a:solidFill>
                <a:schemeClr val="dk1"/>
              </a:solidFill>
              <a:latin typeface="Calibri"/>
              <a:ea typeface="Calibri"/>
              <a:cs typeface="Calibri"/>
              <a:sym typeface="Calibri"/>
            </a:endParaRPr>
          </a:p>
        </p:txBody>
      </p:sp>
      <p:sp>
        <p:nvSpPr>
          <p:cNvPr id="383" name="Google Shape;383;p9"/>
          <p:cNvSpPr/>
          <p:nvPr/>
        </p:nvSpPr>
        <p:spPr>
          <a:xfrm>
            <a:off x="274320" y="3346704"/>
            <a:ext cx="5989320" cy="402336"/>
          </a:xfrm>
          <a:prstGeom prst="rect">
            <a:avLst/>
          </a:prstGeom>
          <a:solidFill>
            <a:srgbClr val="0F2744"/>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9"/>
          <p:cNvSpPr/>
          <p:nvPr/>
        </p:nvSpPr>
        <p:spPr>
          <a:xfrm>
            <a:off x="274320" y="3346704"/>
            <a:ext cx="64008" cy="402336"/>
          </a:xfrm>
          <a:prstGeom prst="rect">
            <a:avLst/>
          </a:prstGeom>
          <a:solidFill>
            <a:srgbClr val="3B82F6"/>
          </a:solidFill>
          <a:ln w="12700" cap="flat" cmpd="sng">
            <a:solidFill>
              <a:srgbClr val="3B82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9"/>
          <p:cNvSpPr/>
          <p:nvPr/>
        </p:nvSpPr>
        <p:spPr>
          <a:xfrm>
            <a:off x="384048" y="34290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3.5 IQR Outlier Removal</a:t>
            </a:r>
            <a:endParaRPr sz="950">
              <a:solidFill>
                <a:schemeClr val="dk1"/>
              </a:solidFill>
              <a:latin typeface="Calibri"/>
              <a:ea typeface="Calibri"/>
              <a:cs typeface="Calibri"/>
              <a:sym typeface="Calibri"/>
            </a:endParaRPr>
          </a:p>
        </p:txBody>
      </p:sp>
      <p:sp>
        <p:nvSpPr>
          <p:cNvPr id="386" name="Google Shape;386;p9"/>
          <p:cNvSpPr/>
          <p:nvPr/>
        </p:nvSpPr>
        <p:spPr>
          <a:xfrm>
            <a:off x="2788920" y="34290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392,693</a:t>
            </a:r>
            <a:endParaRPr sz="950">
              <a:solidFill>
                <a:schemeClr val="dk1"/>
              </a:solidFill>
              <a:latin typeface="Calibri"/>
              <a:ea typeface="Calibri"/>
              <a:cs typeface="Calibri"/>
              <a:sym typeface="Calibri"/>
            </a:endParaRPr>
          </a:p>
        </p:txBody>
      </p:sp>
      <p:sp>
        <p:nvSpPr>
          <p:cNvPr id="387" name="Google Shape;387;p9"/>
          <p:cNvSpPr/>
          <p:nvPr/>
        </p:nvSpPr>
        <p:spPr>
          <a:xfrm>
            <a:off x="3657600" y="34290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50"/>
              <a:buFont typeface="Calibri"/>
              <a:buNone/>
            </a:pPr>
            <a:r>
              <a:rPr lang="en-US" sz="950" b="1">
                <a:solidFill>
                  <a:srgbClr val="0D9488"/>
                </a:solidFill>
                <a:latin typeface="Calibri"/>
                <a:ea typeface="Calibri"/>
                <a:cs typeface="Calibri"/>
                <a:sym typeface="Calibri"/>
              </a:rPr>
              <a:t>333,234</a:t>
            </a:r>
            <a:endParaRPr sz="950">
              <a:solidFill>
                <a:schemeClr val="dk1"/>
              </a:solidFill>
              <a:latin typeface="Calibri"/>
              <a:ea typeface="Calibri"/>
              <a:cs typeface="Calibri"/>
              <a:sym typeface="Calibri"/>
            </a:endParaRPr>
          </a:p>
        </p:txBody>
      </p:sp>
      <p:sp>
        <p:nvSpPr>
          <p:cNvPr id="388" name="Google Shape;388;p9"/>
          <p:cNvSpPr/>
          <p:nvPr/>
        </p:nvSpPr>
        <p:spPr>
          <a:xfrm>
            <a:off x="4526280" y="34290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950"/>
              <a:buFont typeface="Calibri"/>
              <a:buNone/>
            </a:pPr>
            <a:r>
              <a:rPr lang="en-US" sz="950" b="1">
                <a:solidFill>
                  <a:srgbClr val="EF4444"/>
                </a:solidFill>
                <a:latin typeface="Calibri"/>
                <a:ea typeface="Calibri"/>
                <a:cs typeface="Calibri"/>
                <a:sym typeface="Calibri"/>
              </a:rPr>
              <a:t>59,459</a:t>
            </a:r>
            <a:endParaRPr sz="950">
              <a:solidFill>
                <a:schemeClr val="dk1"/>
              </a:solidFill>
              <a:latin typeface="Calibri"/>
              <a:ea typeface="Calibri"/>
              <a:cs typeface="Calibri"/>
              <a:sym typeface="Calibri"/>
            </a:endParaRPr>
          </a:p>
        </p:txBody>
      </p:sp>
      <p:sp>
        <p:nvSpPr>
          <p:cNvPr id="389" name="Google Shape;389;p9"/>
          <p:cNvSpPr/>
          <p:nvPr/>
        </p:nvSpPr>
        <p:spPr>
          <a:xfrm>
            <a:off x="5422392" y="34290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15.1%</a:t>
            </a:r>
            <a:endParaRPr sz="950">
              <a:solidFill>
                <a:schemeClr val="dk1"/>
              </a:solidFill>
              <a:latin typeface="Calibri"/>
              <a:ea typeface="Calibri"/>
              <a:cs typeface="Calibri"/>
              <a:sym typeface="Calibri"/>
            </a:endParaRPr>
          </a:p>
        </p:txBody>
      </p:sp>
      <p:sp>
        <p:nvSpPr>
          <p:cNvPr id="390" name="Google Shape;390;p9"/>
          <p:cNvSpPr/>
          <p:nvPr/>
        </p:nvSpPr>
        <p:spPr>
          <a:xfrm>
            <a:off x="274320" y="3803904"/>
            <a:ext cx="5989320" cy="402336"/>
          </a:xfrm>
          <a:prstGeom prst="rect">
            <a:avLst/>
          </a:prstGeom>
          <a:solidFill>
            <a:srgbClr val="0F3320"/>
          </a:solidFill>
          <a:ln w="9525"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p9"/>
          <p:cNvSpPr/>
          <p:nvPr/>
        </p:nvSpPr>
        <p:spPr>
          <a:xfrm>
            <a:off x="274320" y="3803904"/>
            <a:ext cx="64008" cy="402336"/>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9"/>
          <p:cNvSpPr/>
          <p:nvPr/>
        </p:nvSpPr>
        <p:spPr>
          <a:xfrm>
            <a:off x="384048" y="3886200"/>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3.6 Feature Engineering</a:t>
            </a:r>
            <a:endParaRPr sz="950">
              <a:solidFill>
                <a:schemeClr val="dk1"/>
              </a:solidFill>
              <a:latin typeface="Calibri"/>
              <a:ea typeface="Calibri"/>
              <a:cs typeface="Calibri"/>
              <a:sym typeface="Calibri"/>
            </a:endParaRPr>
          </a:p>
        </p:txBody>
      </p:sp>
      <p:sp>
        <p:nvSpPr>
          <p:cNvPr id="393" name="Google Shape;393;p9"/>
          <p:cNvSpPr/>
          <p:nvPr/>
        </p:nvSpPr>
        <p:spPr>
          <a:xfrm>
            <a:off x="2788920" y="38862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50"/>
              <a:buFont typeface="Calibri"/>
              <a:buNone/>
            </a:pPr>
            <a:r>
              <a:rPr lang="en-US" sz="950">
                <a:solidFill>
                  <a:srgbClr val="94A3B8"/>
                </a:solidFill>
                <a:latin typeface="Calibri"/>
                <a:ea typeface="Calibri"/>
                <a:cs typeface="Calibri"/>
                <a:sym typeface="Calibri"/>
              </a:rPr>
              <a:t>333,234</a:t>
            </a:r>
            <a:endParaRPr sz="950">
              <a:solidFill>
                <a:schemeClr val="dk1"/>
              </a:solidFill>
              <a:latin typeface="Calibri"/>
              <a:ea typeface="Calibri"/>
              <a:cs typeface="Calibri"/>
              <a:sym typeface="Calibri"/>
            </a:endParaRPr>
          </a:p>
        </p:txBody>
      </p:sp>
      <p:sp>
        <p:nvSpPr>
          <p:cNvPr id="394" name="Google Shape;394;p9"/>
          <p:cNvSpPr/>
          <p:nvPr/>
        </p:nvSpPr>
        <p:spPr>
          <a:xfrm>
            <a:off x="3657600" y="3886200"/>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50"/>
              <a:buFont typeface="Calibri"/>
              <a:buNone/>
            </a:pPr>
            <a:r>
              <a:rPr lang="en-US" sz="950" b="1">
                <a:solidFill>
                  <a:srgbClr val="22C55E"/>
                </a:solidFill>
                <a:latin typeface="Calibri"/>
                <a:ea typeface="Calibri"/>
                <a:cs typeface="Calibri"/>
                <a:sym typeface="Calibri"/>
              </a:rPr>
              <a:t>333,234</a:t>
            </a:r>
            <a:endParaRPr sz="950">
              <a:solidFill>
                <a:schemeClr val="dk1"/>
              </a:solidFill>
              <a:latin typeface="Calibri"/>
              <a:ea typeface="Calibri"/>
              <a:cs typeface="Calibri"/>
              <a:sym typeface="Calibri"/>
            </a:endParaRPr>
          </a:p>
        </p:txBody>
      </p:sp>
      <p:sp>
        <p:nvSpPr>
          <p:cNvPr id="395" name="Google Shape;395;p9"/>
          <p:cNvSpPr/>
          <p:nvPr/>
        </p:nvSpPr>
        <p:spPr>
          <a:xfrm>
            <a:off x="4526280" y="3886200"/>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50"/>
              <a:buFont typeface="Calibri"/>
              <a:buNone/>
            </a:pPr>
            <a:r>
              <a:rPr lang="en-US" sz="950" b="1">
                <a:solidFill>
                  <a:srgbClr val="22C55E"/>
                </a:solidFill>
                <a:latin typeface="Calibri"/>
                <a:ea typeface="Calibri"/>
                <a:cs typeface="Calibri"/>
                <a:sym typeface="Calibri"/>
              </a:rPr>
              <a:t>0</a:t>
            </a:r>
            <a:endParaRPr sz="950">
              <a:solidFill>
                <a:schemeClr val="dk1"/>
              </a:solidFill>
              <a:latin typeface="Calibri"/>
              <a:ea typeface="Calibri"/>
              <a:cs typeface="Calibri"/>
              <a:sym typeface="Calibri"/>
            </a:endParaRPr>
          </a:p>
        </p:txBody>
      </p:sp>
      <p:sp>
        <p:nvSpPr>
          <p:cNvPr id="396" name="Google Shape;396;p9"/>
          <p:cNvSpPr/>
          <p:nvPr/>
        </p:nvSpPr>
        <p:spPr>
          <a:xfrm>
            <a:off x="5422392" y="3886200"/>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0%</a:t>
            </a:r>
            <a:endParaRPr sz="950">
              <a:solidFill>
                <a:schemeClr val="dk1"/>
              </a:solidFill>
              <a:latin typeface="Calibri"/>
              <a:ea typeface="Calibri"/>
              <a:cs typeface="Calibri"/>
              <a:sym typeface="Calibri"/>
            </a:endParaRPr>
          </a:p>
        </p:txBody>
      </p:sp>
      <p:sp>
        <p:nvSpPr>
          <p:cNvPr id="397" name="Google Shape;397;p9"/>
          <p:cNvSpPr/>
          <p:nvPr/>
        </p:nvSpPr>
        <p:spPr>
          <a:xfrm>
            <a:off x="274320" y="4279392"/>
            <a:ext cx="5989320" cy="38404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9"/>
          <p:cNvSpPr/>
          <p:nvPr/>
        </p:nvSpPr>
        <p:spPr>
          <a:xfrm>
            <a:off x="384048" y="4334256"/>
            <a:ext cx="2331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TOTAL</a:t>
            </a:r>
            <a:endParaRPr sz="1000">
              <a:solidFill>
                <a:schemeClr val="dk1"/>
              </a:solidFill>
              <a:latin typeface="Calibri"/>
              <a:ea typeface="Calibri"/>
              <a:cs typeface="Calibri"/>
              <a:sym typeface="Calibri"/>
            </a:endParaRPr>
          </a:p>
        </p:txBody>
      </p:sp>
      <p:sp>
        <p:nvSpPr>
          <p:cNvPr id="399" name="Google Shape;399;p9"/>
          <p:cNvSpPr/>
          <p:nvPr/>
        </p:nvSpPr>
        <p:spPr>
          <a:xfrm>
            <a:off x="2788920" y="4334256"/>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F7F5"/>
              </a:buClr>
              <a:buSzPts val="1000"/>
              <a:buFont typeface="Calibri"/>
              <a:buNone/>
            </a:pPr>
            <a:r>
              <a:rPr lang="en-US" sz="1000" b="1">
                <a:solidFill>
                  <a:srgbClr val="E0F7F5"/>
                </a:solidFill>
                <a:latin typeface="Calibri"/>
                <a:ea typeface="Calibri"/>
                <a:cs typeface="Calibri"/>
                <a:sym typeface="Calibri"/>
              </a:rPr>
              <a:t>541,910</a:t>
            </a:r>
            <a:endParaRPr sz="1000">
              <a:solidFill>
                <a:schemeClr val="dk1"/>
              </a:solidFill>
              <a:latin typeface="Calibri"/>
              <a:ea typeface="Calibri"/>
              <a:cs typeface="Calibri"/>
              <a:sym typeface="Calibri"/>
            </a:endParaRPr>
          </a:p>
        </p:txBody>
      </p:sp>
      <p:sp>
        <p:nvSpPr>
          <p:cNvPr id="400" name="Google Shape;400;p9"/>
          <p:cNvSpPr/>
          <p:nvPr/>
        </p:nvSpPr>
        <p:spPr>
          <a:xfrm>
            <a:off x="3657600" y="4334256"/>
            <a:ext cx="8229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333,234</a:t>
            </a:r>
            <a:endParaRPr sz="1000">
              <a:solidFill>
                <a:schemeClr val="dk1"/>
              </a:solidFill>
              <a:latin typeface="Calibri"/>
              <a:ea typeface="Calibri"/>
              <a:cs typeface="Calibri"/>
              <a:sym typeface="Calibri"/>
            </a:endParaRPr>
          </a:p>
        </p:txBody>
      </p:sp>
      <p:sp>
        <p:nvSpPr>
          <p:cNvPr id="401" name="Google Shape;401;p9"/>
          <p:cNvSpPr/>
          <p:nvPr/>
        </p:nvSpPr>
        <p:spPr>
          <a:xfrm>
            <a:off x="4526280" y="4334256"/>
            <a:ext cx="868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208,676</a:t>
            </a:r>
            <a:endParaRPr sz="1000">
              <a:solidFill>
                <a:schemeClr val="dk1"/>
              </a:solidFill>
              <a:latin typeface="Calibri"/>
              <a:ea typeface="Calibri"/>
              <a:cs typeface="Calibri"/>
              <a:sym typeface="Calibri"/>
            </a:endParaRPr>
          </a:p>
        </p:txBody>
      </p:sp>
      <p:sp>
        <p:nvSpPr>
          <p:cNvPr id="402" name="Google Shape;402;p9"/>
          <p:cNvSpPr/>
          <p:nvPr/>
        </p:nvSpPr>
        <p:spPr>
          <a:xfrm>
            <a:off x="5422392" y="4334256"/>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38.5%</a:t>
            </a:r>
            <a:endParaRPr sz="1000">
              <a:solidFill>
                <a:schemeClr val="dk1"/>
              </a:solidFill>
              <a:latin typeface="Calibri"/>
              <a:ea typeface="Calibri"/>
              <a:cs typeface="Calibri"/>
              <a:sym typeface="Calibri"/>
            </a:endParaRPr>
          </a:p>
        </p:txBody>
      </p:sp>
      <p:sp>
        <p:nvSpPr>
          <p:cNvPr id="403" name="Google Shape;403;p9"/>
          <p:cNvSpPr/>
          <p:nvPr/>
        </p:nvSpPr>
        <p:spPr>
          <a:xfrm>
            <a:off x="6446520" y="1115568"/>
            <a:ext cx="2487168" cy="3611880"/>
          </a:xfrm>
          <a:prstGeom prst="rect">
            <a:avLst/>
          </a:prstGeom>
          <a:solidFill>
            <a:srgbClr val="0A1628"/>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9"/>
          <p:cNvSpPr/>
          <p:nvPr/>
        </p:nvSpPr>
        <p:spPr>
          <a:xfrm>
            <a:off x="6510528" y="1207008"/>
            <a:ext cx="235915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QUALITY SCORECARD</a:t>
            </a:r>
            <a:endParaRPr sz="900">
              <a:solidFill>
                <a:schemeClr val="dk1"/>
              </a:solidFill>
              <a:latin typeface="Calibri"/>
              <a:ea typeface="Calibri"/>
              <a:cs typeface="Calibri"/>
              <a:sym typeface="Calibri"/>
            </a:endParaRPr>
          </a:p>
        </p:txBody>
      </p:sp>
      <p:sp>
        <p:nvSpPr>
          <p:cNvPr id="405" name="Google Shape;405;p9"/>
          <p:cNvSpPr/>
          <p:nvPr/>
        </p:nvSpPr>
        <p:spPr>
          <a:xfrm>
            <a:off x="6510528" y="1572768"/>
            <a:ext cx="23591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Completeness</a:t>
            </a:r>
            <a:endParaRPr sz="1000">
              <a:solidFill>
                <a:schemeClr val="dk1"/>
              </a:solidFill>
              <a:latin typeface="Calibri"/>
              <a:ea typeface="Calibri"/>
              <a:cs typeface="Calibri"/>
              <a:sym typeface="Calibri"/>
            </a:endParaRPr>
          </a:p>
        </p:txBody>
      </p:sp>
      <p:sp>
        <p:nvSpPr>
          <p:cNvPr id="406" name="Google Shape;406;p9"/>
          <p:cNvSpPr/>
          <p:nvPr/>
        </p:nvSpPr>
        <p:spPr>
          <a:xfrm>
            <a:off x="6510528" y="1847088"/>
            <a:ext cx="2359152" cy="201168"/>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9"/>
          <p:cNvSpPr/>
          <p:nvPr/>
        </p:nvSpPr>
        <p:spPr>
          <a:xfrm>
            <a:off x="6510528" y="1847088"/>
            <a:ext cx="2359152"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75.1% → 100%</a:t>
            </a:r>
            <a:endParaRPr sz="900">
              <a:solidFill>
                <a:schemeClr val="dk1"/>
              </a:solidFill>
              <a:latin typeface="Calibri"/>
              <a:ea typeface="Calibri"/>
              <a:cs typeface="Calibri"/>
              <a:sym typeface="Calibri"/>
            </a:endParaRPr>
          </a:p>
        </p:txBody>
      </p:sp>
      <p:sp>
        <p:nvSpPr>
          <p:cNvPr id="408" name="Google Shape;408;p9"/>
          <p:cNvSpPr/>
          <p:nvPr/>
        </p:nvSpPr>
        <p:spPr>
          <a:xfrm>
            <a:off x="6510528" y="2286000"/>
            <a:ext cx="23591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Validity</a:t>
            </a:r>
            <a:endParaRPr sz="1000">
              <a:solidFill>
                <a:schemeClr val="dk1"/>
              </a:solidFill>
              <a:latin typeface="Calibri"/>
              <a:ea typeface="Calibri"/>
              <a:cs typeface="Calibri"/>
              <a:sym typeface="Calibri"/>
            </a:endParaRPr>
          </a:p>
        </p:txBody>
      </p:sp>
      <p:sp>
        <p:nvSpPr>
          <p:cNvPr id="409" name="Google Shape;409;p9"/>
          <p:cNvSpPr/>
          <p:nvPr/>
        </p:nvSpPr>
        <p:spPr>
          <a:xfrm>
            <a:off x="6510528" y="2560320"/>
            <a:ext cx="2359152" cy="20116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9"/>
          <p:cNvSpPr/>
          <p:nvPr/>
        </p:nvSpPr>
        <p:spPr>
          <a:xfrm>
            <a:off x="6510528" y="2560320"/>
            <a:ext cx="2359152"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91.4% → 100%</a:t>
            </a:r>
            <a:endParaRPr sz="900">
              <a:solidFill>
                <a:schemeClr val="dk1"/>
              </a:solidFill>
              <a:latin typeface="Calibri"/>
              <a:ea typeface="Calibri"/>
              <a:cs typeface="Calibri"/>
              <a:sym typeface="Calibri"/>
            </a:endParaRPr>
          </a:p>
        </p:txBody>
      </p:sp>
      <p:sp>
        <p:nvSpPr>
          <p:cNvPr id="411" name="Google Shape;411;p9"/>
          <p:cNvSpPr/>
          <p:nvPr/>
        </p:nvSpPr>
        <p:spPr>
          <a:xfrm>
            <a:off x="6510528" y="2999232"/>
            <a:ext cx="23591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Uniqueness</a:t>
            </a:r>
            <a:endParaRPr sz="1000">
              <a:solidFill>
                <a:schemeClr val="dk1"/>
              </a:solidFill>
              <a:latin typeface="Calibri"/>
              <a:ea typeface="Calibri"/>
              <a:cs typeface="Calibri"/>
              <a:sym typeface="Calibri"/>
            </a:endParaRPr>
          </a:p>
        </p:txBody>
      </p:sp>
      <p:sp>
        <p:nvSpPr>
          <p:cNvPr id="412" name="Google Shape;412;p9"/>
          <p:cNvSpPr/>
          <p:nvPr/>
        </p:nvSpPr>
        <p:spPr>
          <a:xfrm>
            <a:off x="6510528" y="3273552"/>
            <a:ext cx="2359152" cy="20116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3" name="Google Shape;413;p9"/>
          <p:cNvSpPr/>
          <p:nvPr/>
        </p:nvSpPr>
        <p:spPr>
          <a:xfrm>
            <a:off x="6510528" y="3273552"/>
            <a:ext cx="2359152"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99.0% → 100%</a:t>
            </a:r>
            <a:endParaRPr sz="900">
              <a:solidFill>
                <a:schemeClr val="dk1"/>
              </a:solidFill>
              <a:latin typeface="Calibri"/>
              <a:ea typeface="Calibri"/>
              <a:cs typeface="Calibri"/>
              <a:sym typeface="Calibri"/>
            </a:endParaRPr>
          </a:p>
        </p:txBody>
      </p:sp>
      <p:sp>
        <p:nvSpPr>
          <p:cNvPr id="414" name="Google Shape;414;p9"/>
          <p:cNvSpPr/>
          <p:nvPr/>
        </p:nvSpPr>
        <p:spPr>
          <a:xfrm>
            <a:off x="6510528" y="3712464"/>
            <a:ext cx="23591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Consistency</a:t>
            </a:r>
            <a:endParaRPr sz="1000">
              <a:solidFill>
                <a:schemeClr val="dk1"/>
              </a:solidFill>
              <a:latin typeface="Calibri"/>
              <a:ea typeface="Calibri"/>
              <a:cs typeface="Calibri"/>
              <a:sym typeface="Calibri"/>
            </a:endParaRPr>
          </a:p>
        </p:txBody>
      </p:sp>
      <p:sp>
        <p:nvSpPr>
          <p:cNvPr id="415" name="Google Shape;415;p9"/>
          <p:cNvSpPr/>
          <p:nvPr/>
        </p:nvSpPr>
        <p:spPr>
          <a:xfrm>
            <a:off x="6510528" y="3986784"/>
            <a:ext cx="2359152" cy="201168"/>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9"/>
          <p:cNvSpPr/>
          <p:nvPr/>
        </p:nvSpPr>
        <p:spPr>
          <a:xfrm>
            <a:off x="6510528" y="3986784"/>
            <a:ext cx="2359152"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96.3% → 100%</a:t>
            </a:r>
            <a:endParaRPr sz="900">
              <a:solidFill>
                <a:schemeClr val="dk1"/>
              </a:solidFill>
              <a:latin typeface="Calibri"/>
              <a:ea typeface="Calibri"/>
              <a:cs typeface="Calibri"/>
              <a:sym typeface="Calibri"/>
            </a:endParaRPr>
          </a:p>
        </p:txBody>
      </p:sp>
      <p:sp>
        <p:nvSpPr>
          <p:cNvPr id="417" name="Google Shape;417;p9"/>
          <p:cNvSpPr/>
          <p:nvPr/>
        </p:nvSpPr>
        <p:spPr>
          <a:xfrm>
            <a:off x="6446520" y="4334256"/>
            <a:ext cx="2487168" cy="38404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p9"/>
          <p:cNvSpPr/>
          <p:nvPr/>
        </p:nvSpPr>
        <p:spPr>
          <a:xfrm>
            <a:off x="6446520" y="4334256"/>
            <a:ext cx="2487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OVERALL: 72.1% → 98.4%</a:t>
            </a: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423"/>
        <p:cNvGrpSpPr/>
        <p:nvPr/>
      </p:nvGrpSpPr>
      <p:grpSpPr>
        <a:xfrm>
          <a:off x="0" y="0"/>
          <a:ext cx="0" cy="0"/>
          <a:chOff x="0" y="0"/>
          <a:chExt cx="0" cy="0"/>
        </a:xfrm>
      </p:grpSpPr>
      <p:sp>
        <p:nvSpPr>
          <p:cNvPr id="424" name="Google Shape;424;p10"/>
          <p:cNvSpPr/>
          <p:nvPr/>
        </p:nvSpPr>
        <p:spPr>
          <a:xfrm>
            <a:off x="0" y="0"/>
            <a:ext cx="9144000"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10"/>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2 — EXPLORATORY DATA ANALYSIS  |  OVERVIEW &amp; STATISTICS</a:t>
            </a:r>
            <a:endParaRPr sz="900">
              <a:solidFill>
                <a:schemeClr val="dk1"/>
              </a:solidFill>
              <a:latin typeface="Calibri"/>
              <a:ea typeface="Calibri"/>
              <a:cs typeface="Calibri"/>
              <a:sym typeface="Calibri"/>
            </a:endParaRPr>
          </a:p>
        </p:txBody>
      </p:sp>
      <p:sp>
        <p:nvSpPr>
          <p:cNvPr id="426" name="Google Shape;426;p10"/>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10"/>
          <p:cNvSpPr/>
          <p:nvPr/>
        </p:nvSpPr>
        <p:spPr>
          <a:xfrm>
            <a:off x="0" y="960120"/>
            <a:ext cx="9144000" cy="5486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10"/>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Exploratory Data Analysis</a:t>
            </a:r>
            <a:endParaRPr sz="2000">
              <a:solidFill>
                <a:schemeClr val="dk1"/>
              </a:solidFill>
              <a:latin typeface="Calibri"/>
              <a:ea typeface="Calibri"/>
              <a:cs typeface="Calibri"/>
              <a:sym typeface="Calibri"/>
            </a:endParaRPr>
          </a:p>
        </p:txBody>
      </p:sp>
      <p:sp>
        <p:nvSpPr>
          <p:cNvPr id="429" name="Google Shape;429;p10"/>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Descriptive statistics across 333,234 clean transactions</a:t>
            </a:r>
            <a:endParaRPr sz="1100">
              <a:solidFill>
                <a:schemeClr val="dk1"/>
              </a:solidFill>
              <a:latin typeface="Calibri"/>
              <a:ea typeface="Calibri"/>
              <a:cs typeface="Calibri"/>
              <a:sym typeface="Calibri"/>
            </a:endParaRPr>
          </a:p>
        </p:txBody>
      </p:sp>
      <p:sp>
        <p:nvSpPr>
          <p:cNvPr id="430" name="Google Shape;430;p10"/>
          <p:cNvSpPr/>
          <p:nvPr/>
        </p:nvSpPr>
        <p:spPr>
          <a:xfrm>
            <a:off x="274320" y="117043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10"/>
          <p:cNvSpPr/>
          <p:nvPr/>
        </p:nvSpPr>
        <p:spPr>
          <a:xfrm>
            <a:off x="274320" y="1170432"/>
            <a:ext cx="73152" cy="82296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10"/>
          <p:cNvSpPr/>
          <p:nvPr/>
        </p:nvSpPr>
        <p:spPr>
          <a:xfrm>
            <a:off x="438912" y="126187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333,234</a:t>
            </a:r>
            <a:endParaRPr sz="2200">
              <a:solidFill>
                <a:schemeClr val="dk1"/>
              </a:solidFill>
              <a:latin typeface="Calibri"/>
              <a:ea typeface="Calibri"/>
              <a:cs typeface="Calibri"/>
              <a:sym typeface="Calibri"/>
            </a:endParaRPr>
          </a:p>
        </p:txBody>
      </p:sp>
      <p:sp>
        <p:nvSpPr>
          <p:cNvPr id="433" name="Google Shape;433;p10"/>
          <p:cNvSpPr/>
          <p:nvPr/>
        </p:nvSpPr>
        <p:spPr>
          <a:xfrm>
            <a:off x="438912" y="166420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Total Transactions</a:t>
            </a:r>
            <a:endParaRPr sz="1000">
              <a:solidFill>
                <a:schemeClr val="dk1"/>
              </a:solidFill>
              <a:latin typeface="Calibri"/>
              <a:ea typeface="Calibri"/>
              <a:cs typeface="Calibri"/>
              <a:sym typeface="Calibri"/>
            </a:endParaRPr>
          </a:p>
        </p:txBody>
      </p:sp>
      <p:sp>
        <p:nvSpPr>
          <p:cNvPr id="434" name="Google Shape;434;p10"/>
          <p:cNvSpPr/>
          <p:nvPr/>
        </p:nvSpPr>
        <p:spPr>
          <a:xfrm>
            <a:off x="3246120" y="117043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5" name="Google Shape;435;p10"/>
          <p:cNvSpPr/>
          <p:nvPr/>
        </p:nvSpPr>
        <p:spPr>
          <a:xfrm>
            <a:off x="3246120" y="1170432"/>
            <a:ext cx="73152" cy="822960"/>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10"/>
          <p:cNvSpPr/>
          <p:nvPr/>
        </p:nvSpPr>
        <p:spPr>
          <a:xfrm>
            <a:off x="3410712" y="126187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2200"/>
              <a:buFont typeface="Calibri"/>
              <a:buNone/>
            </a:pPr>
            <a:r>
              <a:rPr lang="en-US" sz="2200" b="1">
                <a:solidFill>
                  <a:srgbClr val="06B6D4"/>
                </a:solidFill>
                <a:latin typeface="Calibri"/>
                <a:ea typeface="Calibri"/>
                <a:cs typeface="Calibri"/>
                <a:sym typeface="Calibri"/>
              </a:rPr>
              <a:t>16,826</a:t>
            </a:r>
            <a:endParaRPr sz="2200">
              <a:solidFill>
                <a:schemeClr val="dk1"/>
              </a:solidFill>
              <a:latin typeface="Calibri"/>
              <a:ea typeface="Calibri"/>
              <a:cs typeface="Calibri"/>
              <a:sym typeface="Calibri"/>
            </a:endParaRPr>
          </a:p>
        </p:txBody>
      </p:sp>
      <p:sp>
        <p:nvSpPr>
          <p:cNvPr id="437" name="Google Shape;437;p10"/>
          <p:cNvSpPr/>
          <p:nvPr/>
        </p:nvSpPr>
        <p:spPr>
          <a:xfrm>
            <a:off x="3410712" y="166420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Unique Invoices</a:t>
            </a:r>
            <a:endParaRPr sz="1000">
              <a:solidFill>
                <a:schemeClr val="dk1"/>
              </a:solidFill>
              <a:latin typeface="Calibri"/>
              <a:ea typeface="Calibri"/>
              <a:cs typeface="Calibri"/>
              <a:sym typeface="Calibri"/>
            </a:endParaRPr>
          </a:p>
        </p:txBody>
      </p:sp>
      <p:sp>
        <p:nvSpPr>
          <p:cNvPr id="438" name="Google Shape;438;p10"/>
          <p:cNvSpPr/>
          <p:nvPr/>
        </p:nvSpPr>
        <p:spPr>
          <a:xfrm>
            <a:off x="6217920" y="117043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10"/>
          <p:cNvSpPr/>
          <p:nvPr/>
        </p:nvSpPr>
        <p:spPr>
          <a:xfrm>
            <a:off x="6217920" y="1170432"/>
            <a:ext cx="73152" cy="822960"/>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10"/>
          <p:cNvSpPr/>
          <p:nvPr/>
        </p:nvSpPr>
        <p:spPr>
          <a:xfrm>
            <a:off x="6382512" y="126187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CF6"/>
              </a:buClr>
              <a:buSzPts val="2200"/>
              <a:buFont typeface="Calibri"/>
              <a:buNone/>
            </a:pPr>
            <a:r>
              <a:rPr lang="en-US" sz="2200" b="1">
                <a:solidFill>
                  <a:srgbClr val="8B5CF6"/>
                </a:solidFill>
                <a:latin typeface="Calibri"/>
                <a:ea typeface="Calibri"/>
                <a:cs typeface="Calibri"/>
                <a:sym typeface="Calibri"/>
              </a:rPr>
              <a:t>4,191</a:t>
            </a:r>
            <a:endParaRPr sz="2200">
              <a:solidFill>
                <a:schemeClr val="dk1"/>
              </a:solidFill>
              <a:latin typeface="Calibri"/>
              <a:ea typeface="Calibri"/>
              <a:cs typeface="Calibri"/>
              <a:sym typeface="Calibri"/>
            </a:endParaRPr>
          </a:p>
        </p:txBody>
      </p:sp>
      <p:sp>
        <p:nvSpPr>
          <p:cNvPr id="441" name="Google Shape;441;p10"/>
          <p:cNvSpPr/>
          <p:nvPr/>
        </p:nvSpPr>
        <p:spPr>
          <a:xfrm>
            <a:off x="6382512" y="166420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Unique Customers</a:t>
            </a:r>
            <a:endParaRPr sz="1000">
              <a:solidFill>
                <a:schemeClr val="dk1"/>
              </a:solidFill>
              <a:latin typeface="Calibri"/>
              <a:ea typeface="Calibri"/>
              <a:cs typeface="Calibri"/>
              <a:sym typeface="Calibri"/>
            </a:endParaRPr>
          </a:p>
        </p:txBody>
      </p:sp>
      <p:sp>
        <p:nvSpPr>
          <p:cNvPr id="442" name="Google Shape;442;p10"/>
          <p:cNvSpPr/>
          <p:nvPr/>
        </p:nvSpPr>
        <p:spPr>
          <a:xfrm>
            <a:off x="274320" y="213055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10"/>
          <p:cNvSpPr/>
          <p:nvPr/>
        </p:nvSpPr>
        <p:spPr>
          <a:xfrm>
            <a:off x="274320" y="2130552"/>
            <a:ext cx="73152" cy="82296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0"/>
          <p:cNvSpPr/>
          <p:nvPr/>
        </p:nvSpPr>
        <p:spPr>
          <a:xfrm>
            <a:off x="438912" y="222199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2200"/>
              <a:buFont typeface="Calibri"/>
              <a:buNone/>
            </a:pPr>
            <a:r>
              <a:rPr lang="en-US" sz="2200" b="1">
                <a:solidFill>
                  <a:srgbClr val="F59E0B"/>
                </a:solidFill>
                <a:latin typeface="Calibri"/>
                <a:ea typeface="Calibri"/>
                <a:cs typeface="Calibri"/>
                <a:sym typeface="Calibri"/>
              </a:rPr>
              <a:t>3,392</a:t>
            </a:r>
            <a:endParaRPr sz="2200">
              <a:solidFill>
                <a:schemeClr val="dk1"/>
              </a:solidFill>
              <a:latin typeface="Calibri"/>
              <a:ea typeface="Calibri"/>
              <a:cs typeface="Calibri"/>
              <a:sym typeface="Calibri"/>
            </a:endParaRPr>
          </a:p>
        </p:txBody>
      </p:sp>
      <p:sp>
        <p:nvSpPr>
          <p:cNvPr id="445" name="Google Shape;445;p10"/>
          <p:cNvSpPr/>
          <p:nvPr/>
        </p:nvSpPr>
        <p:spPr>
          <a:xfrm>
            <a:off x="438912" y="262432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Unique Products</a:t>
            </a:r>
            <a:endParaRPr sz="1000">
              <a:solidFill>
                <a:schemeClr val="dk1"/>
              </a:solidFill>
              <a:latin typeface="Calibri"/>
              <a:ea typeface="Calibri"/>
              <a:cs typeface="Calibri"/>
              <a:sym typeface="Calibri"/>
            </a:endParaRPr>
          </a:p>
        </p:txBody>
      </p:sp>
      <p:sp>
        <p:nvSpPr>
          <p:cNvPr id="446" name="Google Shape;446;p10"/>
          <p:cNvSpPr/>
          <p:nvPr/>
        </p:nvSpPr>
        <p:spPr>
          <a:xfrm>
            <a:off x="3246120" y="213055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7" name="Google Shape;447;p10"/>
          <p:cNvSpPr/>
          <p:nvPr/>
        </p:nvSpPr>
        <p:spPr>
          <a:xfrm>
            <a:off x="3246120" y="2130552"/>
            <a:ext cx="73152" cy="822960"/>
          </a:xfrm>
          <a:prstGeom prst="rect">
            <a:avLst/>
          </a:prstGeom>
          <a:solidFill>
            <a:srgbClr val="3B82F6"/>
          </a:solidFill>
          <a:ln w="12700" cap="flat" cmpd="sng">
            <a:solidFill>
              <a:srgbClr val="3B82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10"/>
          <p:cNvSpPr/>
          <p:nvPr/>
        </p:nvSpPr>
        <p:spPr>
          <a:xfrm>
            <a:off x="3410712" y="222199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B82F6"/>
              </a:buClr>
              <a:buSzPts val="2200"/>
              <a:buFont typeface="Calibri"/>
              <a:buNone/>
            </a:pPr>
            <a:r>
              <a:rPr lang="en-US" sz="2200" b="1">
                <a:solidFill>
                  <a:srgbClr val="3B82F6"/>
                </a:solidFill>
                <a:latin typeface="Calibri"/>
                <a:ea typeface="Calibri"/>
                <a:cs typeface="Calibri"/>
                <a:sym typeface="Calibri"/>
              </a:rPr>
              <a:t>37</a:t>
            </a:r>
            <a:endParaRPr sz="2200">
              <a:solidFill>
                <a:schemeClr val="dk1"/>
              </a:solidFill>
              <a:latin typeface="Calibri"/>
              <a:ea typeface="Calibri"/>
              <a:cs typeface="Calibri"/>
              <a:sym typeface="Calibri"/>
            </a:endParaRPr>
          </a:p>
        </p:txBody>
      </p:sp>
      <p:sp>
        <p:nvSpPr>
          <p:cNvPr id="449" name="Google Shape;449;p10"/>
          <p:cNvSpPr/>
          <p:nvPr/>
        </p:nvSpPr>
        <p:spPr>
          <a:xfrm>
            <a:off x="3410712" y="262432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Countries</a:t>
            </a:r>
            <a:endParaRPr sz="1000">
              <a:solidFill>
                <a:schemeClr val="dk1"/>
              </a:solidFill>
              <a:latin typeface="Calibri"/>
              <a:ea typeface="Calibri"/>
              <a:cs typeface="Calibri"/>
              <a:sym typeface="Calibri"/>
            </a:endParaRPr>
          </a:p>
        </p:txBody>
      </p:sp>
      <p:sp>
        <p:nvSpPr>
          <p:cNvPr id="450" name="Google Shape;450;p10"/>
          <p:cNvSpPr/>
          <p:nvPr/>
        </p:nvSpPr>
        <p:spPr>
          <a:xfrm>
            <a:off x="6217920" y="2130552"/>
            <a:ext cx="2834640" cy="8229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10"/>
          <p:cNvSpPr/>
          <p:nvPr/>
        </p:nvSpPr>
        <p:spPr>
          <a:xfrm>
            <a:off x="6217920" y="2130552"/>
            <a:ext cx="73152" cy="822960"/>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10"/>
          <p:cNvSpPr/>
          <p:nvPr/>
        </p:nvSpPr>
        <p:spPr>
          <a:xfrm>
            <a:off x="6382512" y="2221992"/>
            <a:ext cx="24688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2200"/>
              <a:buFont typeface="Calibri"/>
              <a:buNone/>
            </a:pPr>
            <a:r>
              <a:rPr lang="en-US" sz="2200" b="1">
                <a:solidFill>
                  <a:srgbClr val="22C55E"/>
                </a:solidFill>
                <a:latin typeface="Calibri"/>
                <a:ea typeface="Calibri"/>
                <a:cs typeface="Calibri"/>
                <a:sym typeface="Calibri"/>
              </a:rPr>
              <a:t>£4.3M</a:t>
            </a:r>
            <a:endParaRPr sz="2200">
              <a:solidFill>
                <a:schemeClr val="dk1"/>
              </a:solidFill>
              <a:latin typeface="Calibri"/>
              <a:ea typeface="Calibri"/>
              <a:cs typeface="Calibri"/>
              <a:sym typeface="Calibri"/>
            </a:endParaRPr>
          </a:p>
        </p:txBody>
      </p:sp>
      <p:sp>
        <p:nvSpPr>
          <p:cNvPr id="453" name="Google Shape;453;p10"/>
          <p:cNvSpPr/>
          <p:nvPr/>
        </p:nvSpPr>
        <p:spPr>
          <a:xfrm>
            <a:off x="6382512" y="2624328"/>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a:solidFill>
                  <a:srgbClr val="475569"/>
                </a:solidFill>
                <a:latin typeface="Calibri"/>
                <a:ea typeface="Calibri"/>
                <a:cs typeface="Calibri"/>
                <a:sym typeface="Calibri"/>
              </a:rPr>
              <a:t>Total Revenue</a:t>
            </a:r>
            <a:endParaRPr sz="1000">
              <a:solidFill>
                <a:schemeClr val="dk1"/>
              </a:solidFill>
              <a:latin typeface="Calibri"/>
              <a:ea typeface="Calibri"/>
              <a:cs typeface="Calibri"/>
              <a:sym typeface="Calibri"/>
            </a:endParaRPr>
          </a:p>
        </p:txBody>
      </p:sp>
      <p:sp>
        <p:nvSpPr>
          <p:cNvPr id="454" name="Google Shape;454;p10"/>
          <p:cNvSpPr/>
          <p:nvPr/>
        </p:nvSpPr>
        <p:spPr>
          <a:xfrm>
            <a:off x="274320" y="3154680"/>
            <a:ext cx="8595360" cy="32004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10"/>
          <p:cNvSpPr/>
          <p:nvPr/>
        </p:nvSpPr>
        <p:spPr>
          <a:xfrm>
            <a:off x="365760" y="3236976"/>
            <a:ext cx="14630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Metric</a:t>
            </a:r>
            <a:endParaRPr sz="850">
              <a:solidFill>
                <a:schemeClr val="dk1"/>
              </a:solidFill>
              <a:latin typeface="Calibri"/>
              <a:ea typeface="Calibri"/>
              <a:cs typeface="Calibri"/>
              <a:sym typeface="Calibri"/>
            </a:endParaRPr>
          </a:p>
        </p:txBody>
      </p:sp>
      <p:sp>
        <p:nvSpPr>
          <p:cNvPr id="456" name="Google Shape;456;p10"/>
          <p:cNvSpPr/>
          <p:nvPr/>
        </p:nvSpPr>
        <p:spPr>
          <a:xfrm>
            <a:off x="1874520" y="3236976"/>
            <a:ext cx="12344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Quantity</a:t>
            </a:r>
            <a:endParaRPr sz="850">
              <a:solidFill>
                <a:schemeClr val="dk1"/>
              </a:solidFill>
              <a:latin typeface="Calibri"/>
              <a:ea typeface="Calibri"/>
              <a:cs typeface="Calibri"/>
              <a:sym typeface="Calibri"/>
            </a:endParaRPr>
          </a:p>
        </p:txBody>
      </p:sp>
      <p:sp>
        <p:nvSpPr>
          <p:cNvPr id="457" name="Google Shape;457;p10"/>
          <p:cNvSpPr/>
          <p:nvPr/>
        </p:nvSpPr>
        <p:spPr>
          <a:xfrm>
            <a:off x="3474720" y="3236976"/>
            <a:ext cx="12344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Price (£)</a:t>
            </a:r>
            <a:endParaRPr sz="850">
              <a:solidFill>
                <a:schemeClr val="dk1"/>
              </a:solidFill>
              <a:latin typeface="Calibri"/>
              <a:ea typeface="Calibri"/>
              <a:cs typeface="Calibri"/>
              <a:sym typeface="Calibri"/>
            </a:endParaRPr>
          </a:p>
        </p:txBody>
      </p:sp>
      <p:sp>
        <p:nvSpPr>
          <p:cNvPr id="458" name="Google Shape;458;p10"/>
          <p:cNvSpPr/>
          <p:nvPr/>
        </p:nvSpPr>
        <p:spPr>
          <a:xfrm>
            <a:off x="4736592" y="3236976"/>
            <a:ext cx="12344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Total Revenue (£)</a:t>
            </a:r>
            <a:endParaRPr sz="850">
              <a:solidFill>
                <a:schemeClr val="dk1"/>
              </a:solidFill>
              <a:latin typeface="Calibri"/>
              <a:ea typeface="Calibri"/>
              <a:cs typeface="Calibri"/>
              <a:sym typeface="Calibri"/>
            </a:endParaRPr>
          </a:p>
        </p:txBody>
      </p:sp>
      <p:sp>
        <p:nvSpPr>
          <p:cNvPr id="459" name="Google Shape;459;p10"/>
          <p:cNvSpPr/>
          <p:nvPr/>
        </p:nvSpPr>
        <p:spPr>
          <a:xfrm>
            <a:off x="6217920" y="3236976"/>
            <a:ext cx="12344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Skewness</a:t>
            </a:r>
            <a:endParaRPr sz="850">
              <a:solidFill>
                <a:schemeClr val="dk1"/>
              </a:solidFill>
              <a:latin typeface="Calibri"/>
              <a:ea typeface="Calibri"/>
              <a:cs typeface="Calibri"/>
              <a:sym typeface="Calibri"/>
            </a:endParaRPr>
          </a:p>
        </p:txBody>
      </p:sp>
      <p:sp>
        <p:nvSpPr>
          <p:cNvPr id="460" name="Google Shape;460;p10"/>
          <p:cNvSpPr/>
          <p:nvPr/>
        </p:nvSpPr>
        <p:spPr>
          <a:xfrm>
            <a:off x="7406640" y="3236976"/>
            <a:ext cx="12344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Kurtosis</a:t>
            </a:r>
            <a:endParaRPr sz="850">
              <a:solidFill>
                <a:schemeClr val="dk1"/>
              </a:solidFill>
              <a:latin typeface="Calibri"/>
              <a:ea typeface="Calibri"/>
              <a:cs typeface="Calibri"/>
              <a:sym typeface="Calibri"/>
            </a:endParaRPr>
          </a:p>
        </p:txBody>
      </p:sp>
      <p:sp>
        <p:nvSpPr>
          <p:cNvPr id="461" name="Google Shape;461;p10"/>
          <p:cNvSpPr/>
          <p:nvPr/>
        </p:nvSpPr>
        <p:spPr>
          <a:xfrm>
            <a:off x="274320" y="3538728"/>
            <a:ext cx="8595360"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10"/>
          <p:cNvSpPr/>
          <p:nvPr/>
        </p:nvSpPr>
        <p:spPr>
          <a:xfrm>
            <a:off x="365760" y="3584448"/>
            <a:ext cx="14630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5569"/>
              </a:buClr>
              <a:buSzPts val="950"/>
              <a:buFont typeface="Calibri"/>
              <a:buNone/>
            </a:pPr>
            <a:r>
              <a:rPr lang="en-US" sz="950">
                <a:solidFill>
                  <a:srgbClr val="375569"/>
                </a:solidFill>
                <a:latin typeface="Calibri"/>
                <a:ea typeface="Calibri"/>
                <a:cs typeface="Calibri"/>
                <a:sym typeface="Calibri"/>
              </a:rPr>
              <a:t>Mean</a:t>
            </a:r>
            <a:endParaRPr sz="950">
              <a:solidFill>
                <a:schemeClr val="dk1"/>
              </a:solidFill>
              <a:latin typeface="Calibri"/>
              <a:ea typeface="Calibri"/>
              <a:cs typeface="Calibri"/>
              <a:sym typeface="Calibri"/>
            </a:endParaRPr>
          </a:p>
        </p:txBody>
      </p:sp>
      <p:sp>
        <p:nvSpPr>
          <p:cNvPr id="463" name="Google Shape;463;p10"/>
          <p:cNvSpPr/>
          <p:nvPr/>
        </p:nvSpPr>
        <p:spPr>
          <a:xfrm>
            <a:off x="1874520" y="3584448"/>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7.55</a:t>
            </a:r>
            <a:endParaRPr sz="950">
              <a:solidFill>
                <a:schemeClr val="dk1"/>
              </a:solidFill>
              <a:latin typeface="Calibri"/>
              <a:ea typeface="Calibri"/>
              <a:cs typeface="Calibri"/>
              <a:sym typeface="Calibri"/>
            </a:endParaRPr>
          </a:p>
        </p:txBody>
      </p:sp>
      <p:sp>
        <p:nvSpPr>
          <p:cNvPr id="464" name="Google Shape;464;p10"/>
          <p:cNvSpPr/>
          <p:nvPr/>
        </p:nvSpPr>
        <p:spPr>
          <a:xfrm>
            <a:off x="3474720" y="3584448"/>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£2.19</a:t>
            </a:r>
            <a:endParaRPr sz="950">
              <a:solidFill>
                <a:schemeClr val="dk1"/>
              </a:solidFill>
              <a:latin typeface="Calibri"/>
              <a:ea typeface="Calibri"/>
              <a:cs typeface="Calibri"/>
              <a:sym typeface="Calibri"/>
            </a:endParaRPr>
          </a:p>
        </p:txBody>
      </p:sp>
      <p:sp>
        <p:nvSpPr>
          <p:cNvPr id="465" name="Google Shape;465;p10"/>
          <p:cNvSpPr/>
          <p:nvPr/>
        </p:nvSpPr>
        <p:spPr>
          <a:xfrm>
            <a:off x="4736592" y="3584448"/>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£12.90</a:t>
            </a:r>
            <a:endParaRPr sz="950">
              <a:solidFill>
                <a:schemeClr val="dk1"/>
              </a:solidFill>
              <a:latin typeface="Calibri"/>
              <a:ea typeface="Calibri"/>
              <a:cs typeface="Calibri"/>
              <a:sym typeface="Calibri"/>
            </a:endParaRPr>
          </a:p>
        </p:txBody>
      </p:sp>
      <p:sp>
        <p:nvSpPr>
          <p:cNvPr id="466" name="Google Shape;466;p10"/>
          <p:cNvSpPr/>
          <p:nvPr/>
        </p:nvSpPr>
        <p:spPr>
          <a:xfrm>
            <a:off x="6217920" y="3584448"/>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a:t>
            </a:r>
            <a:endParaRPr sz="950">
              <a:solidFill>
                <a:schemeClr val="dk1"/>
              </a:solidFill>
              <a:latin typeface="Calibri"/>
              <a:ea typeface="Calibri"/>
              <a:cs typeface="Calibri"/>
              <a:sym typeface="Calibri"/>
            </a:endParaRPr>
          </a:p>
        </p:txBody>
      </p:sp>
      <p:sp>
        <p:nvSpPr>
          <p:cNvPr id="467" name="Google Shape;467;p10"/>
          <p:cNvSpPr/>
          <p:nvPr/>
        </p:nvSpPr>
        <p:spPr>
          <a:xfrm>
            <a:off x="7406640" y="3584448"/>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a:t>
            </a:r>
            <a:endParaRPr sz="950">
              <a:solidFill>
                <a:schemeClr val="dk1"/>
              </a:solidFill>
              <a:latin typeface="Calibri"/>
              <a:ea typeface="Calibri"/>
              <a:cs typeface="Calibri"/>
              <a:sym typeface="Calibri"/>
            </a:endParaRPr>
          </a:p>
        </p:txBody>
      </p:sp>
      <p:sp>
        <p:nvSpPr>
          <p:cNvPr id="468" name="Google Shape;468;p10"/>
          <p:cNvSpPr/>
          <p:nvPr/>
        </p:nvSpPr>
        <p:spPr>
          <a:xfrm>
            <a:off x="274320" y="3922776"/>
            <a:ext cx="8595360"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10"/>
          <p:cNvSpPr/>
          <p:nvPr/>
        </p:nvSpPr>
        <p:spPr>
          <a:xfrm>
            <a:off x="365760" y="3968496"/>
            <a:ext cx="14630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5569"/>
              </a:buClr>
              <a:buSzPts val="950"/>
              <a:buFont typeface="Calibri"/>
              <a:buNone/>
            </a:pPr>
            <a:r>
              <a:rPr lang="en-US" sz="950">
                <a:solidFill>
                  <a:srgbClr val="375569"/>
                </a:solidFill>
                <a:latin typeface="Calibri"/>
                <a:ea typeface="Calibri"/>
                <a:cs typeface="Calibri"/>
                <a:sym typeface="Calibri"/>
              </a:rPr>
              <a:t>Std Dev</a:t>
            </a:r>
            <a:endParaRPr sz="950">
              <a:solidFill>
                <a:schemeClr val="dk1"/>
              </a:solidFill>
              <a:latin typeface="Calibri"/>
              <a:ea typeface="Calibri"/>
              <a:cs typeface="Calibri"/>
              <a:sym typeface="Calibri"/>
            </a:endParaRPr>
          </a:p>
        </p:txBody>
      </p:sp>
      <p:sp>
        <p:nvSpPr>
          <p:cNvPr id="470" name="Google Shape;470;p10"/>
          <p:cNvSpPr/>
          <p:nvPr/>
        </p:nvSpPr>
        <p:spPr>
          <a:xfrm>
            <a:off x="1874520" y="39684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6.78</a:t>
            </a:r>
            <a:endParaRPr sz="950">
              <a:solidFill>
                <a:schemeClr val="dk1"/>
              </a:solidFill>
              <a:latin typeface="Calibri"/>
              <a:ea typeface="Calibri"/>
              <a:cs typeface="Calibri"/>
              <a:sym typeface="Calibri"/>
            </a:endParaRPr>
          </a:p>
        </p:txBody>
      </p:sp>
      <p:sp>
        <p:nvSpPr>
          <p:cNvPr id="471" name="Google Shape;471;p10"/>
          <p:cNvSpPr/>
          <p:nvPr/>
        </p:nvSpPr>
        <p:spPr>
          <a:xfrm>
            <a:off x="3474720" y="39684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£1.55</a:t>
            </a:r>
            <a:endParaRPr sz="950">
              <a:solidFill>
                <a:schemeClr val="dk1"/>
              </a:solidFill>
              <a:latin typeface="Calibri"/>
              <a:ea typeface="Calibri"/>
              <a:cs typeface="Calibri"/>
              <a:sym typeface="Calibri"/>
            </a:endParaRPr>
          </a:p>
        </p:txBody>
      </p:sp>
      <p:sp>
        <p:nvSpPr>
          <p:cNvPr id="472" name="Google Shape;472;p10"/>
          <p:cNvSpPr/>
          <p:nvPr/>
        </p:nvSpPr>
        <p:spPr>
          <a:xfrm>
            <a:off x="4736592" y="39684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£13.22</a:t>
            </a:r>
            <a:endParaRPr sz="950">
              <a:solidFill>
                <a:schemeClr val="dk1"/>
              </a:solidFill>
              <a:latin typeface="Calibri"/>
              <a:ea typeface="Calibri"/>
              <a:cs typeface="Calibri"/>
              <a:sym typeface="Calibri"/>
            </a:endParaRPr>
          </a:p>
        </p:txBody>
      </p:sp>
      <p:sp>
        <p:nvSpPr>
          <p:cNvPr id="473" name="Google Shape;473;p10"/>
          <p:cNvSpPr/>
          <p:nvPr/>
        </p:nvSpPr>
        <p:spPr>
          <a:xfrm>
            <a:off x="6217920" y="39684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a:t>
            </a:r>
            <a:endParaRPr sz="950">
              <a:solidFill>
                <a:schemeClr val="dk1"/>
              </a:solidFill>
              <a:latin typeface="Calibri"/>
              <a:ea typeface="Calibri"/>
              <a:cs typeface="Calibri"/>
              <a:sym typeface="Calibri"/>
            </a:endParaRPr>
          </a:p>
        </p:txBody>
      </p:sp>
      <p:sp>
        <p:nvSpPr>
          <p:cNvPr id="474" name="Google Shape;474;p10"/>
          <p:cNvSpPr/>
          <p:nvPr/>
        </p:nvSpPr>
        <p:spPr>
          <a:xfrm>
            <a:off x="7406640" y="39684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a:t>
            </a:r>
            <a:endParaRPr sz="950">
              <a:solidFill>
                <a:schemeClr val="dk1"/>
              </a:solidFill>
              <a:latin typeface="Calibri"/>
              <a:ea typeface="Calibri"/>
              <a:cs typeface="Calibri"/>
              <a:sym typeface="Calibri"/>
            </a:endParaRPr>
          </a:p>
        </p:txBody>
      </p:sp>
      <p:sp>
        <p:nvSpPr>
          <p:cNvPr id="475" name="Google Shape;475;p10"/>
          <p:cNvSpPr/>
          <p:nvPr/>
        </p:nvSpPr>
        <p:spPr>
          <a:xfrm>
            <a:off x="274320" y="4306824"/>
            <a:ext cx="8595360"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6" name="Google Shape;476;p10"/>
          <p:cNvSpPr/>
          <p:nvPr/>
        </p:nvSpPr>
        <p:spPr>
          <a:xfrm>
            <a:off x="365760" y="4352544"/>
            <a:ext cx="14630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5569"/>
              </a:buClr>
              <a:buSzPts val="950"/>
              <a:buFont typeface="Calibri"/>
              <a:buNone/>
            </a:pPr>
            <a:r>
              <a:rPr lang="en-US" sz="950">
                <a:solidFill>
                  <a:srgbClr val="375569"/>
                </a:solidFill>
                <a:latin typeface="Calibri"/>
                <a:ea typeface="Calibri"/>
                <a:cs typeface="Calibri"/>
                <a:sym typeface="Calibri"/>
              </a:rPr>
              <a:t>Min / Max</a:t>
            </a:r>
            <a:endParaRPr sz="950">
              <a:solidFill>
                <a:schemeClr val="dk1"/>
              </a:solidFill>
              <a:latin typeface="Calibri"/>
              <a:ea typeface="Calibri"/>
              <a:cs typeface="Calibri"/>
              <a:sym typeface="Calibri"/>
            </a:endParaRPr>
          </a:p>
        </p:txBody>
      </p:sp>
      <p:sp>
        <p:nvSpPr>
          <p:cNvPr id="477" name="Google Shape;477;p10"/>
          <p:cNvSpPr/>
          <p:nvPr/>
        </p:nvSpPr>
        <p:spPr>
          <a:xfrm>
            <a:off x="1874520" y="435254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1 – 27</a:t>
            </a:r>
            <a:endParaRPr sz="950">
              <a:solidFill>
                <a:schemeClr val="dk1"/>
              </a:solidFill>
              <a:latin typeface="Calibri"/>
              <a:ea typeface="Calibri"/>
              <a:cs typeface="Calibri"/>
              <a:sym typeface="Calibri"/>
            </a:endParaRPr>
          </a:p>
        </p:txBody>
      </p:sp>
      <p:sp>
        <p:nvSpPr>
          <p:cNvPr id="478" name="Google Shape;478;p10"/>
          <p:cNvSpPr/>
          <p:nvPr/>
        </p:nvSpPr>
        <p:spPr>
          <a:xfrm>
            <a:off x="3474720" y="435254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£0.001 – £7.50</a:t>
            </a:r>
            <a:endParaRPr sz="950">
              <a:solidFill>
                <a:schemeClr val="dk1"/>
              </a:solidFill>
              <a:latin typeface="Calibri"/>
              <a:ea typeface="Calibri"/>
              <a:cs typeface="Calibri"/>
              <a:sym typeface="Calibri"/>
            </a:endParaRPr>
          </a:p>
        </p:txBody>
      </p:sp>
      <p:sp>
        <p:nvSpPr>
          <p:cNvPr id="479" name="Google Shape;479;p10"/>
          <p:cNvSpPr/>
          <p:nvPr/>
        </p:nvSpPr>
        <p:spPr>
          <a:xfrm>
            <a:off x="4736592" y="435254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£0.001 – £202.50</a:t>
            </a:r>
            <a:endParaRPr sz="950">
              <a:solidFill>
                <a:schemeClr val="dk1"/>
              </a:solidFill>
              <a:latin typeface="Calibri"/>
              <a:ea typeface="Calibri"/>
              <a:cs typeface="Calibri"/>
              <a:sym typeface="Calibri"/>
            </a:endParaRPr>
          </a:p>
        </p:txBody>
      </p:sp>
      <p:sp>
        <p:nvSpPr>
          <p:cNvPr id="480" name="Google Shape;480;p10"/>
          <p:cNvSpPr/>
          <p:nvPr/>
        </p:nvSpPr>
        <p:spPr>
          <a:xfrm>
            <a:off x="6217920" y="435254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Right-skewed</a:t>
            </a:r>
            <a:endParaRPr sz="950">
              <a:solidFill>
                <a:schemeClr val="dk1"/>
              </a:solidFill>
              <a:latin typeface="Calibri"/>
              <a:ea typeface="Calibri"/>
              <a:cs typeface="Calibri"/>
              <a:sym typeface="Calibri"/>
            </a:endParaRPr>
          </a:p>
        </p:txBody>
      </p:sp>
      <p:sp>
        <p:nvSpPr>
          <p:cNvPr id="481" name="Google Shape;481;p10"/>
          <p:cNvSpPr/>
          <p:nvPr/>
        </p:nvSpPr>
        <p:spPr>
          <a:xfrm>
            <a:off x="7406640" y="435254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Leptokurtic</a:t>
            </a:r>
            <a:endParaRPr sz="950">
              <a:solidFill>
                <a:schemeClr val="dk1"/>
              </a:solidFill>
              <a:latin typeface="Calibri"/>
              <a:ea typeface="Calibri"/>
              <a:cs typeface="Calibri"/>
              <a:sym typeface="Calibri"/>
            </a:endParaRPr>
          </a:p>
        </p:txBody>
      </p:sp>
      <p:sp>
        <p:nvSpPr>
          <p:cNvPr id="482" name="Google Shape;482;p10"/>
          <p:cNvSpPr/>
          <p:nvPr/>
        </p:nvSpPr>
        <p:spPr>
          <a:xfrm>
            <a:off x="274320" y="4690872"/>
            <a:ext cx="8595360"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3" name="Google Shape;483;p10"/>
          <p:cNvSpPr/>
          <p:nvPr/>
        </p:nvSpPr>
        <p:spPr>
          <a:xfrm>
            <a:off x="365760" y="4736592"/>
            <a:ext cx="14630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5569"/>
              </a:buClr>
              <a:buSzPts val="950"/>
              <a:buFont typeface="Calibri"/>
              <a:buNone/>
            </a:pPr>
            <a:r>
              <a:rPr lang="en-US" sz="950">
                <a:solidFill>
                  <a:srgbClr val="375569"/>
                </a:solidFill>
                <a:latin typeface="Calibri"/>
                <a:ea typeface="Calibri"/>
                <a:cs typeface="Calibri"/>
                <a:sym typeface="Calibri"/>
              </a:rPr>
              <a:t>25% / 75%</a:t>
            </a:r>
            <a:endParaRPr sz="950">
              <a:solidFill>
                <a:schemeClr val="dk1"/>
              </a:solidFill>
              <a:latin typeface="Calibri"/>
              <a:ea typeface="Calibri"/>
              <a:cs typeface="Calibri"/>
              <a:sym typeface="Calibri"/>
            </a:endParaRPr>
          </a:p>
        </p:txBody>
      </p:sp>
      <p:sp>
        <p:nvSpPr>
          <p:cNvPr id="484" name="Google Shape;484;p10"/>
          <p:cNvSpPr/>
          <p:nvPr/>
        </p:nvSpPr>
        <p:spPr>
          <a:xfrm>
            <a:off x="1874520" y="473659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2 – 12</a:t>
            </a:r>
            <a:endParaRPr sz="950">
              <a:solidFill>
                <a:schemeClr val="dk1"/>
              </a:solidFill>
              <a:latin typeface="Calibri"/>
              <a:ea typeface="Calibri"/>
              <a:cs typeface="Calibri"/>
              <a:sym typeface="Calibri"/>
            </a:endParaRPr>
          </a:p>
        </p:txBody>
      </p:sp>
      <p:sp>
        <p:nvSpPr>
          <p:cNvPr id="485" name="Google Shape;485;p10"/>
          <p:cNvSpPr/>
          <p:nvPr/>
        </p:nvSpPr>
        <p:spPr>
          <a:xfrm>
            <a:off x="3474720" y="473659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£1.25 – £3.75</a:t>
            </a:r>
            <a:endParaRPr sz="950">
              <a:solidFill>
                <a:schemeClr val="dk1"/>
              </a:solidFill>
              <a:latin typeface="Calibri"/>
              <a:ea typeface="Calibri"/>
              <a:cs typeface="Calibri"/>
              <a:sym typeface="Calibri"/>
            </a:endParaRPr>
          </a:p>
        </p:txBody>
      </p:sp>
      <p:sp>
        <p:nvSpPr>
          <p:cNvPr id="486" name="Google Shape;486;p10"/>
          <p:cNvSpPr/>
          <p:nvPr/>
        </p:nvSpPr>
        <p:spPr>
          <a:xfrm>
            <a:off x="4736592" y="473659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£3.90 – £17.50</a:t>
            </a:r>
            <a:endParaRPr sz="950">
              <a:solidFill>
                <a:schemeClr val="dk1"/>
              </a:solidFill>
              <a:latin typeface="Calibri"/>
              <a:ea typeface="Calibri"/>
              <a:cs typeface="Calibri"/>
              <a:sym typeface="Calibri"/>
            </a:endParaRPr>
          </a:p>
        </p:txBody>
      </p:sp>
      <p:sp>
        <p:nvSpPr>
          <p:cNvPr id="487" name="Google Shape;487;p10"/>
          <p:cNvSpPr/>
          <p:nvPr/>
        </p:nvSpPr>
        <p:spPr>
          <a:xfrm>
            <a:off x="6217920" y="473659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All 3 variables</a:t>
            </a:r>
            <a:endParaRPr sz="950">
              <a:solidFill>
                <a:schemeClr val="dk1"/>
              </a:solidFill>
              <a:latin typeface="Calibri"/>
              <a:ea typeface="Calibri"/>
              <a:cs typeface="Calibri"/>
              <a:sym typeface="Calibri"/>
            </a:endParaRPr>
          </a:p>
        </p:txBody>
      </p:sp>
      <p:sp>
        <p:nvSpPr>
          <p:cNvPr id="488" name="Google Shape;488;p10"/>
          <p:cNvSpPr/>
          <p:nvPr/>
        </p:nvSpPr>
        <p:spPr>
          <a:xfrm>
            <a:off x="7406640" y="473659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High outlier ratio</a:t>
            </a:r>
            <a:endParaRPr sz="9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11"/>
          <p:cNvSpPr/>
          <p:nvPr/>
        </p:nvSpPr>
        <p:spPr>
          <a:xfrm>
            <a:off x="0" y="0"/>
            <a:ext cx="9144000"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11"/>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2 — EDA  |  REVENUE TRENDS &amp; TEMPORAL PATTERNS</a:t>
            </a:r>
            <a:endParaRPr sz="900">
              <a:solidFill>
                <a:schemeClr val="dk1"/>
              </a:solidFill>
              <a:latin typeface="Calibri"/>
              <a:ea typeface="Calibri"/>
              <a:cs typeface="Calibri"/>
              <a:sym typeface="Calibri"/>
            </a:endParaRPr>
          </a:p>
        </p:txBody>
      </p:sp>
      <p:sp>
        <p:nvSpPr>
          <p:cNvPr id="496" name="Google Shape;496;p11"/>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11"/>
          <p:cNvSpPr/>
          <p:nvPr/>
        </p:nvSpPr>
        <p:spPr>
          <a:xfrm>
            <a:off x="0" y="960120"/>
            <a:ext cx="9144000" cy="5486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11"/>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Revenue Trends &amp; Temporal Patterns</a:t>
            </a:r>
            <a:endParaRPr sz="2000">
              <a:solidFill>
                <a:schemeClr val="dk1"/>
              </a:solidFill>
              <a:latin typeface="Calibri"/>
              <a:ea typeface="Calibri"/>
              <a:cs typeface="Calibri"/>
              <a:sym typeface="Calibri"/>
            </a:endParaRPr>
          </a:p>
        </p:txBody>
      </p:sp>
      <p:sp>
        <p:nvSpPr>
          <p:cNvPr id="499" name="Google Shape;499;p11"/>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Monthly time series | Day-of-week | Peak hour analysis</a:t>
            </a:r>
            <a:endParaRPr sz="1100">
              <a:solidFill>
                <a:schemeClr val="dk1"/>
              </a:solidFill>
              <a:latin typeface="Calibri"/>
              <a:ea typeface="Calibri"/>
              <a:cs typeface="Calibri"/>
              <a:sym typeface="Calibri"/>
            </a:endParaRPr>
          </a:p>
        </p:txBody>
      </p:sp>
      <p:sp>
        <p:nvSpPr>
          <p:cNvPr id="500" name="Google Shape;500;p11"/>
          <p:cNvSpPr/>
          <p:nvPr/>
        </p:nvSpPr>
        <p:spPr>
          <a:xfrm>
            <a:off x="274320" y="1143000"/>
            <a:ext cx="5029200" cy="274320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1" name="Google Shape;501;p11"/>
          <p:cNvSpPr/>
          <p:nvPr/>
        </p:nvSpPr>
        <p:spPr>
          <a:xfrm>
            <a:off x="365760" y="123444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MONTHLY REVENUE TREND</a:t>
            </a:r>
            <a:endParaRPr sz="900">
              <a:solidFill>
                <a:schemeClr val="dk1"/>
              </a:solidFill>
              <a:latin typeface="Calibri"/>
              <a:ea typeface="Calibri"/>
              <a:cs typeface="Calibri"/>
              <a:sym typeface="Calibri"/>
            </a:endParaRPr>
          </a:p>
        </p:txBody>
      </p:sp>
      <p:sp>
        <p:nvSpPr>
          <p:cNvPr id="502" name="Google Shape;502;p11"/>
          <p:cNvSpPr/>
          <p:nvPr/>
        </p:nvSpPr>
        <p:spPr>
          <a:xfrm>
            <a:off x="457200" y="2706624"/>
            <a:ext cx="256032" cy="950976"/>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11"/>
          <p:cNvSpPr/>
          <p:nvPr/>
        </p:nvSpPr>
        <p:spPr>
          <a:xfrm>
            <a:off x="45720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D10</a:t>
            </a:r>
            <a:endParaRPr sz="650">
              <a:solidFill>
                <a:schemeClr val="dk1"/>
              </a:solidFill>
              <a:latin typeface="Calibri"/>
              <a:ea typeface="Calibri"/>
              <a:cs typeface="Calibri"/>
              <a:sym typeface="Calibri"/>
            </a:endParaRPr>
          </a:p>
        </p:txBody>
      </p:sp>
      <p:sp>
        <p:nvSpPr>
          <p:cNvPr id="504" name="Google Shape;504;p11"/>
          <p:cNvSpPr/>
          <p:nvPr/>
        </p:nvSpPr>
        <p:spPr>
          <a:xfrm>
            <a:off x="822960" y="3017520"/>
            <a:ext cx="256032" cy="64008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5" name="Google Shape;505;p11"/>
          <p:cNvSpPr/>
          <p:nvPr/>
        </p:nvSpPr>
        <p:spPr>
          <a:xfrm>
            <a:off x="82296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J</a:t>
            </a:r>
            <a:endParaRPr sz="650">
              <a:solidFill>
                <a:schemeClr val="dk1"/>
              </a:solidFill>
              <a:latin typeface="Calibri"/>
              <a:ea typeface="Calibri"/>
              <a:cs typeface="Calibri"/>
              <a:sym typeface="Calibri"/>
            </a:endParaRPr>
          </a:p>
        </p:txBody>
      </p:sp>
      <p:sp>
        <p:nvSpPr>
          <p:cNvPr id="506" name="Google Shape;506;p11"/>
          <p:cNvSpPr/>
          <p:nvPr/>
        </p:nvSpPr>
        <p:spPr>
          <a:xfrm>
            <a:off x="1188720" y="2962656"/>
            <a:ext cx="256032" cy="694944"/>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7" name="Google Shape;507;p11"/>
          <p:cNvSpPr/>
          <p:nvPr/>
        </p:nvSpPr>
        <p:spPr>
          <a:xfrm>
            <a:off x="118872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F</a:t>
            </a:r>
            <a:endParaRPr sz="650">
              <a:solidFill>
                <a:schemeClr val="dk1"/>
              </a:solidFill>
              <a:latin typeface="Calibri"/>
              <a:ea typeface="Calibri"/>
              <a:cs typeface="Calibri"/>
              <a:sym typeface="Calibri"/>
            </a:endParaRPr>
          </a:p>
        </p:txBody>
      </p:sp>
      <p:sp>
        <p:nvSpPr>
          <p:cNvPr id="508" name="Google Shape;508;p11"/>
          <p:cNvSpPr/>
          <p:nvPr/>
        </p:nvSpPr>
        <p:spPr>
          <a:xfrm>
            <a:off x="1554480" y="2889504"/>
            <a:ext cx="256032" cy="768096"/>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11"/>
          <p:cNvSpPr/>
          <p:nvPr/>
        </p:nvSpPr>
        <p:spPr>
          <a:xfrm>
            <a:off x="155448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M</a:t>
            </a:r>
            <a:endParaRPr sz="650">
              <a:solidFill>
                <a:schemeClr val="dk1"/>
              </a:solidFill>
              <a:latin typeface="Calibri"/>
              <a:ea typeface="Calibri"/>
              <a:cs typeface="Calibri"/>
              <a:sym typeface="Calibri"/>
            </a:endParaRPr>
          </a:p>
        </p:txBody>
      </p:sp>
      <p:sp>
        <p:nvSpPr>
          <p:cNvPr id="510" name="Google Shape;510;p11"/>
          <p:cNvSpPr/>
          <p:nvPr/>
        </p:nvSpPr>
        <p:spPr>
          <a:xfrm>
            <a:off x="1920240" y="2834640"/>
            <a:ext cx="256032" cy="82296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1" name="Google Shape;511;p11"/>
          <p:cNvSpPr/>
          <p:nvPr/>
        </p:nvSpPr>
        <p:spPr>
          <a:xfrm>
            <a:off x="192024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A</a:t>
            </a:r>
            <a:endParaRPr sz="650">
              <a:solidFill>
                <a:schemeClr val="dk1"/>
              </a:solidFill>
              <a:latin typeface="Calibri"/>
              <a:ea typeface="Calibri"/>
              <a:cs typeface="Calibri"/>
              <a:sym typeface="Calibri"/>
            </a:endParaRPr>
          </a:p>
        </p:txBody>
      </p:sp>
      <p:sp>
        <p:nvSpPr>
          <p:cNvPr id="512" name="Google Shape;512;p11"/>
          <p:cNvSpPr/>
          <p:nvPr/>
        </p:nvSpPr>
        <p:spPr>
          <a:xfrm>
            <a:off x="2286000" y="2779776"/>
            <a:ext cx="256032" cy="877824"/>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11"/>
          <p:cNvSpPr/>
          <p:nvPr/>
        </p:nvSpPr>
        <p:spPr>
          <a:xfrm>
            <a:off x="228600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M</a:t>
            </a:r>
            <a:endParaRPr sz="650">
              <a:solidFill>
                <a:schemeClr val="dk1"/>
              </a:solidFill>
              <a:latin typeface="Calibri"/>
              <a:ea typeface="Calibri"/>
              <a:cs typeface="Calibri"/>
              <a:sym typeface="Calibri"/>
            </a:endParaRPr>
          </a:p>
        </p:txBody>
      </p:sp>
      <p:sp>
        <p:nvSpPr>
          <p:cNvPr id="514" name="Google Shape;514;p11"/>
          <p:cNvSpPr/>
          <p:nvPr/>
        </p:nvSpPr>
        <p:spPr>
          <a:xfrm>
            <a:off x="2651760" y="2743200"/>
            <a:ext cx="256032" cy="91440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5" name="Google Shape;515;p11"/>
          <p:cNvSpPr/>
          <p:nvPr/>
        </p:nvSpPr>
        <p:spPr>
          <a:xfrm>
            <a:off x="265176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J</a:t>
            </a:r>
            <a:endParaRPr sz="650">
              <a:solidFill>
                <a:schemeClr val="dk1"/>
              </a:solidFill>
              <a:latin typeface="Calibri"/>
              <a:ea typeface="Calibri"/>
              <a:cs typeface="Calibri"/>
              <a:sym typeface="Calibri"/>
            </a:endParaRPr>
          </a:p>
        </p:txBody>
      </p:sp>
      <p:sp>
        <p:nvSpPr>
          <p:cNvPr id="516" name="Google Shape;516;p11"/>
          <p:cNvSpPr/>
          <p:nvPr/>
        </p:nvSpPr>
        <p:spPr>
          <a:xfrm>
            <a:off x="3017520" y="2834640"/>
            <a:ext cx="256032" cy="82296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11"/>
          <p:cNvSpPr/>
          <p:nvPr/>
        </p:nvSpPr>
        <p:spPr>
          <a:xfrm>
            <a:off x="301752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J</a:t>
            </a:r>
            <a:endParaRPr sz="650">
              <a:solidFill>
                <a:schemeClr val="dk1"/>
              </a:solidFill>
              <a:latin typeface="Calibri"/>
              <a:ea typeface="Calibri"/>
              <a:cs typeface="Calibri"/>
              <a:sym typeface="Calibri"/>
            </a:endParaRPr>
          </a:p>
        </p:txBody>
      </p:sp>
      <p:sp>
        <p:nvSpPr>
          <p:cNvPr id="518" name="Google Shape;518;p11"/>
          <p:cNvSpPr/>
          <p:nvPr/>
        </p:nvSpPr>
        <p:spPr>
          <a:xfrm>
            <a:off x="3383280" y="2651760"/>
            <a:ext cx="256032" cy="100584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9" name="Google Shape;519;p11"/>
          <p:cNvSpPr/>
          <p:nvPr/>
        </p:nvSpPr>
        <p:spPr>
          <a:xfrm>
            <a:off x="338328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A</a:t>
            </a:r>
            <a:endParaRPr sz="650">
              <a:solidFill>
                <a:schemeClr val="dk1"/>
              </a:solidFill>
              <a:latin typeface="Calibri"/>
              <a:ea typeface="Calibri"/>
              <a:cs typeface="Calibri"/>
              <a:sym typeface="Calibri"/>
            </a:endParaRPr>
          </a:p>
        </p:txBody>
      </p:sp>
      <p:sp>
        <p:nvSpPr>
          <p:cNvPr id="520" name="Google Shape;520;p11"/>
          <p:cNvSpPr/>
          <p:nvPr/>
        </p:nvSpPr>
        <p:spPr>
          <a:xfrm>
            <a:off x="3749040" y="2560320"/>
            <a:ext cx="256032" cy="1097280"/>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11"/>
          <p:cNvSpPr/>
          <p:nvPr/>
        </p:nvSpPr>
        <p:spPr>
          <a:xfrm>
            <a:off x="374904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S</a:t>
            </a:r>
            <a:endParaRPr sz="650">
              <a:solidFill>
                <a:schemeClr val="dk1"/>
              </a:solidFill>
              <a:latin typeface="Calibri"/>
              <a:ea typeface="Calibri"/>
              <a:cs typeface="Calibri"/>
              <a:sym typeface="Calibri"/>
            </a:endParaRPr>
          </a:p>
        </p:txBody>
      </p:sp>
      <p:sp>
        <p:nvSpPr>
          <p:cNvPr id="522" name="Google Shape;522;p11"/>
          <p:cNvSpPr/>
          <p:nvPr/>
        </p:nvSpPr>
        <p:spPr>
          <a:xfrm>
            <a:off x="4114800" y="2340864"/>
            <a:ext cx="256032" cy="1316736"/>
          </a:xfrm>
          <a:prstGeom prst="rect">
            <a:avLst/>
          </a:prstGeom>
          <a:solidFill>
            <a:srgbClr val="0D9488">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3" name="Google Shape;523;p11"/>
          <p:cNvSpPr/>
          <p:nvPr/>
        </p:nvSpPr>
        <p:spPr>
          <a:xfrm>
            <a:off x="411480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O</a:t>
            </a:r>
            <a:endParaRPr sz="650">
              <a:solidFill>
                <a:schemeClr val="dk1"/>
              </a:solidFill>
              <a:latin typeface="Calibri"/>
              <a:ea typeface="Calibri"/>
              <a:cs typeface="Calibri"/>
              <a:sym typeface="Calibri"/>
            </a:endParaRPr>
          </a:p>
        </p:txBody>
      </p:sp>
      <p:sp>
        <p:nvSpPr>
          <p:cNvPr id="524" name="Google Shape;524;p11"/>
          <p:cNvSpPr/>
          <p:nvPr/>
        </p:nvSpPr>
        <p:spPr>
          <a:xfrm>
            <a:off x="4480560" y="1828800"/>
            <a:ext cx="256032" cy="1828800"/>
          </a:xfrm>
          <a:prstGeom prst="rect">
            <a:avLst/>
          </a:prstGeom>
          <a:solidFill>
            <a:srgbClr val="F59E0B"/>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11"/>
          <p:cNvSpPr/>
          <p:nvPr/>
        </p:nvSpPr>
        <p:spPr>
          <a:xfrm>
            <a:off x="448056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N</a:t>
            </a:r>
            <a:endParaRPr sz="650">
              <a:solidFill>
                <a:schemeClr val="dk1"/>
              </a:solidFill>
              <a:latin typeface="Calibri"/>
              <a:ea typeface="Calibri"/>
              <a:cs typeface="Calibri"/>
              <a:sym typeface="Calibri"/>
            </a:endParaRPr>
          </a:p>
        </p:txBody>
      </p:sp>
      <p:sp>
        <p:nvSpPr>
          <p:cNvPr id="526" name="Google Shape;526;p11"/>
          <p:cNvSpPr/>
          <p:nvPr/>
        </p:nvSpPr>
        <p:spPr>
          <a:xfrm>
            <a:off x="4846320" y="3145536"/>
            <a:ext cx="256032" cy="512064"/>
          </a:xfrm>
          <a:prstGeom prst="rect">
            <a:avLst/>
          </a:prstGeom>
          <a:solidFill>
            <a:srgbClr val="EF4444">
              <a:alpha val="8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11"/>
          <p:cNvSpPr/>
          <p:nvPr/>
        </p:nvSpPr>
        <p:spPr>
          <a:xfrm>
            <a:off x="4846320" y="3712464"/>
            <a:ext cx="2743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650"/>
              <a:buFont typeface="Calibri"/>
              <a:buNone/>
            </a:pPr>
            <a:r>
              <a:rPr lang="en-US" sz="650">
                <a:solidFill>
                  <a:srgbClr val="94A3B8"/>
                </a:solidFill>
                <a:latin typeface="Calibri"/>
                <a:ea typeface="Calibri"/>
                <a:cs typeface="Calibri"/>
                <a:sym typeface="Calibri"/>
              </a:rPr>
              <a:t>D11</a:t>
            </a:r>
            <a:endParaRPr sz="650">
              <a:solidFill>
                <a:schemeClr val="dk1"/>
              </a:solidFill>
              <a:latin typeface="Calibri"/>
              <a:ea typeface="Calibri"/>
              <a:cs typeface="Calibri"/>
              <a:sym typeface="Calibri"/>
            </a:endParaRPr>
          </a:p>
        </p:txBody>
      </p:sp>
      <p:sp>
        <p:nvSpPr>
          <p:cNvPr id="528" name="Google Shape;528;p11"/>
          <p:cNvSpPr/>
          <p:nvPr/>
        </p:nvSpPr>
        <p:spPr>
          <a:xfrm>
            <a:off x="365760" y="3931920"/>
            <a:ext cx="48463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00"/>
              <a:buFont typeface="Calibri"/>
              <a:buNone/>
            </a:pPr>
            <a:r>
              <a:rPr lang="en-US" sz="900" b="1">
                <a:solidFill>
                  <a:srgbClr val="F59E0B"/>
                </a:solidFill>
                <a:latin typeface="Calibri"/>
                <a:ea typeface="Calibri"/>
                <a:cs typeface="Calibri"/>
                <a:sym typeface="Calibri"/>
              </a:rPr>
              <a:t>Peak: £642,985 in November 2011</a:t>
            </a:r>
            <a:endParaRPr sz="900">
              <a:solidFill>
                <a:schemeClr val="dk1"/>
              </a:solidFill>
              <a:latin typeface="Calibri"/>
              <a:ea typeface="Calibri"/>
              <a:cs typeface="Calibri"/>
              <a:sym typeface="Calibri"/>
            </a:endParaRPr>
          </a:p>
        </p:txBody>
      </p:sp>
      <p:sp>
        <p:nvSpPr>
          <p:cNvPr id="529" name="Google Shape;529;p11"/>
          <p:cNvSpPr/>
          <p:nvPr/>
        </p:nvSpPr>
        <p:spPr>
          <a:xfrm>
            <a:off x="365760" y="4114800"/>
            <a:ext cx="48463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3-month rolling average confirms sustained Q4 seasonal growth</a:t>
            </a:r>
            <a:endParaRPr sz="900">
              <a:solidFill>
                <a:schemeClr val="dk1"/>
              </a:solidFill>
              <a:latin typeface="Calibri"/>
              <a:ea typeface="Calibri"/>
              <a:cs typeface="Calibri"/>
              <a:sym typeface="Calibri"/>
            </a:endParaRPr>
          </a:p>
        </p:txBody>
      </p:sp>
      <p:sp>
        <p:nvSpPr>
          <p:cNvPr id="530" name="Google Shape;530;p11"/>
          <p:cNvSpPr/>
          <p:nvPr/>
        </p:nvSpPr>
        <p:spPr>
          <a:xfrm>
            <a:off x="5532120" y="1170432"/>
            <a:ext cx="3383280" cy="82296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1" name="Google Shape;531;p11"/>
          <p:cNvSpPr/>
          <p:nvPr/>
        </p:nvSpPr>
        <p:spPr>
          <a:xfrm>
            <a:off x="5532120" y="1170432"/>
            <a:ext cx="73152" cy="82296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2" name="Google Shape;532;p11"/>
          <p:cNvSpPr/>
          <p:nvPr/>
        </p:nvSpPr>
        <p:spPr>
          <a:xfrm>
            <a:off x="5687568" y="1243584"/>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 Peak Day</a:t>
            </a:r>
            <a:endParaRPr sz="1100">
              <a:solidFill>
                <a:schemeClr val="dk1"/>
              </a:solidFill>
              <a:latin typeface="Calibri"/>
              <a:ea typeface="Calibri"/>
              <a:cs typeface="Calibri"/>
              <a:sym typeface="Calibri"/>
            </a:endParaRPr>
          </a:p>
        </p:txBody>
      </p:sp>
      <p:sp>
        <p:nvSpPr>
          <p:cNvPr id="533" name="Google Shape;533;p11"/>
          <p:cNvSpPr/>
          <p:nvPr/>
        </p:nvSpPr>
        <p:spPr>
          <a:xfrm>
            <a:off x="5687568" y="1499616"/>
            <a:ext cx="1828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Calibri"/>
              <a:buNone/>
            </a:pPr>
            <a:r>
              <a:rPr lang="en-US" sz="1300" b="1">
                <a:solidFill>
                  <a:srgbClr val="0D9488"/>
                </a:solidFill>
                <a:latin typeface="Calibri"/>
                <a:ea typeface="Calibri"/>
                <a:cs typeface="Calibri"/>
                <a:sym typeface="Calibri"/>
              </a:rPr>
              <a:t>Thursday</a:t>
            </a:r>
            <a:endParaRPr sz="1300">
              <a:solidFill>
                <a:schemeClr val="dk1"/>
              </a:solidFill>
              <a:latin typeface="Calibri"/>
              <a:ea typeface="Calibri"/>
              <a:cs typeface="Calibri"/>
              <a:sym typeface="Calibri"/>
            </a:endParaRPr>
          </a:p>
        </p:txBody>
      </p:sp>
      <p:sp>
        <p:nvSpPr>
          <p:cNvPr id="534" name="Google Shape;534;p11"/>
          <p:cNvSpPr/>
          <p:nvPr/>
        </p:nvSpPr>
        <p:spPr>
          <a:xfrm>
            <a:off x="5687568" y="1737360"/>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£927K total revenue</a:t>
            </a:r>
            <a:endParaRPr sz="900">
              <a:solidFill>
                <a:schemeClr val="dk1"/>
              </a:solidFill>
              <a:latin typeface="Calibri"/>
              <a:ea typeface="Calibri"/>
              <a:cs typeface="Calibri"/>
              <a:sym typeface="Calibri"/>
            </a:endParaRPr>
          </a:p>
        </p:txBody>
      </p:sp>
      <p:sp>
        <p:nvSpPr>
          <p:cNvPr id="535" name="Google Shape;535;p11"/>
          <p:cNvSpPr/>
          <p:nvPr/>
        </p:nvSpPr>
        <p:spPr>
          <a:xfrm>
            <a:off x="5532120" y="2139696"/>
            <a:ext cx="3383280" cy="82296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6" name="Google Shape;536;p11"/>
          <p:cNvSpPr/>
          <p:nvPr/>
        </p:nvSpPr>
        <p:spPr>
          <a:xfrm>
            <a:off x="5532120" y="2139696"/>
            <a:ext cx="73152" cy="822960"/>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7" name="Google Shape;537;p11"/>
          <p:cNvSpPr/>
          <p:nvPr/>
        </p:nvSpPr>
        <p:spPr>
          <a:xfrm>
            <a:off x="5687568" y="2212848"/>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 Peak Hour</a:t>
            </a:r>
            <a:endParaRPr sz="1100">
              <a:solidFill>
                <a:schemeClr val="dk1"/>
              </a:solidFill>
              <a:latin typeface="Calibri"/>
              <a:ea typeface="Calibri"/>
              <a:cs typeface="Calibri"/>
              <a:sym typeface="Calibri"/>
            </a:endParaRPr>
          </a:p>
        </p:txBody>
      </p:sp>
      <p:sp>
        <p:nvSpPr>
          <p:cNvPr id="538" name="Google Shape;538;p11"/>
          <p:cNvSpPr/>
          <p:nvPr/>
        </p:nvSpPr>
        <p:spPr>
          <a:xfrm>
            <a:off x="5687568" y="2468880"/>
            <a:ext cx="1828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1300"/>
              <a:buFont typeface="Calibri"/>
              <a:buNone/>
            </a:pPr>
            <a:r>
              <a:rPr lang="en-US" sz="1300" b="1">
                <a:solidFill>
                  <a:srgbClr val="06B6D4"/>
                </a:solidFill>
                <a:latin typeface="Calibri"/>
                <a:ea typeface="Calibri"/>
                <a:cs typeface="Calibri"/>
                <a:sym typeface="Calibri"/>
              </a:rPr>
              <a:t>12:00 Noon</a:t>
            </a:r>
            <a:endParaRPr sz="1300">
              <a:solidFill>
                <a:schemeClr val="dk1"/>
              </a:solidFill>
              <a:latin typeface="Calibri"/>
              <a:ea typeface="Calibri"/>
              <a:cs typeface="Calibri"/>
              <a:sym typeface="Calibri"/>
            </a:endParaRPr>
          </a:p>
        </p:txBody>
      </p:sp>
      <p:sp>
        <p:nvSpPr>
          <p:cNvPr id="539" name="Google Shape;539;p11"/>
          <p:cNvSpPr/>
          <p:nvPr/>
        </p:nvSpPr>
        <p:spPr>
          <a:xfrm>
            <a:off x="5687568" y="2706624"/>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Most orders placed mid-day</a:t>
            </a:r>
            <a:endParaRPr sz="900">
              <a:solidFill>
                <a:schemeClr val="dk1"/>
              </a:solidFill>
              <a:latin typeface="Calibri"/>
              <a:ea typeface="Calibri"/>
              <a:cs typeface="Calibri"/>
              <a:sym typeface="Calibri"/>
            </a:endParaRPr>
          </a:p>
        </p:txBody>
      </p:sp>
      <p:sp>
        <p:nvSpPr>
          <p:cNvPr id="540" name="Google Shape;540;p11"/>
          <p:cNvSpPr/>
          <p:nvPr/>
        </p:nvSpPr>
        <p:spPr>
          <a:xfrm>
            <a:off x="5532120" y="3108960"/>
            <a:ext cx="3383280" cy="82296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1" name="Google Shape;541;p11"/>
          <p:cNvSpPr/>
          <p:nvPr/>
        </p:nvSpPr>
        <p:spPr>
          <a:xfrm>
            <a:off x="5532120" y="3108960"/>
            <a:ext cx="73152" cy="822960"/>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2" name="Google Shape;542;p11"/>
          <p:cNvSpPr/>
          <p:nvPr/>
        </p:nvSpPr>
        <p:spPr>
          <a:xfrm>
            <a:off x="5687568" y="3182112"/>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 Saturday</a:t>
            </a:r>
            <a:endParaRPr sz="1100">
              <a:solidFill>
                <a:schemeClr val="dk1"/>
              </a:solidFill>
              <a:latin typeface="Calibri"/>
              <a:ea typeface="Calibri"/>
              <a:cs typeface="Calibri"/>
              <a:sym typeface="Calibri"/>
            </a:endParaRPr>
          </a:p>
        </p:txBody>
      </p:sp>
      <p:sp>
        <p:nvSpPr>
          <p:cNvPr id="543" name="Google Shape;543;p11"/>
          <p:cNvSpPr/>
          <p:nvPr/>
        </p:nvSpPr>
        <p:spPr>
          <a:xfrm>
            <a:off x="5687568" y="3438144"/>
            <a:ext cx="1828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300"/>
              <a:buFont typeface="Calibri"/>
              <a:buNone/>
            </a:pPr>
            <a:r>
              <a:rPr lang="en-US" sz="1300" b="1">
                <a:solidFill>
                  <a:srgbClr val="EF4444"/>
                </a:solidFill>
                <a:latin typeface="Calibri"/>
                <a:ea typeface="Calibri"/>
                <a:cs typeface="Calibri"/>
                <a:sym typeface="Calibri"/>
              </a:rPr>
              <a:t>Zero Revenue</a:t>
            </a:r>
            <a:endParaRPr sz="1300">
              <a:solidFill>
                <a:schemeClr val="dk1"/>
              </a:solidFill>
              <a:latin typeface="Calibri"/>
              <a:ea typeface="Calibri"/>
              <a:cs typeface="Calibri"/>
              <a:sym typeface="Calibri"/>
            </a:endParaRPr>
          </a:p>
        </p:txBody>
      </p:sp>
      <p:sp>
        <p:nvSpPr>
          <p:cNvPr id="544" name="Google Shape;544;p11"/>
          <p:cNvSpPr/>
          <p:nvPr/>
        </p:nvSpPr>
        <p:spPr>
          <a:xfrm>
            <a:off x="5687568" y="3675888"/>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B2B wholesale pattern — no weekend ops</a:t>
            </a:r>
            <a:endParaRPr sz="900">
              <a:solidFill>
                <a:schemeClr val="dk1"/>
              </a:solidFill>
              <a:latin typeface="Calibri"/>
              <a:ea typeface="Calibri"/>
              <a:cs typeface="Calibri"/>
              <a:sym typeface="Calibri"/>
            </a:endParaRPr>
          </a:p>
        </p:txBody>
      </p:sp>
      <p:sp>
        <p:nvSpPr>
          <p:cNvPr id="545" name="Google Shape;545;p11"/>
          <p:cNvSpPr/>
          <p:nvPr/>
        </p:nvSpPr>
        <p:spPr>
          <a:xfrm>
            <a:off x="5532120" y="4078224"/>
            <a:ext cx="3383280" cy="82296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6" name="Google Shape;546;p11"/>
          <p:cNvSpPr/>
          <p:nvPr/>
        </p:nvSpPr>
        <p:spPr>
          <a:xfrm>
            <a:off x="5532120" y="4078224"/>
            <a:ext cx="73152" cy="82296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7" name="Google Shape;547;p11"/>
          <p:cNvSpPr/>
          <p:nvPr/>
        </p:nvSpPr>
        <p:spPr>
          <a:xfrm>
            <a:off x="5687568" y="4151376"/>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 Q4 Growth</a:t>
            </a:r>
            <a:endParaRPr sz="1100">
              <a:solidFill>
                <a:schemeClr val="dk1"/>
              </a:solidFill>
              <a:latin typeface="Calibri"/>
              <a:ea typeface="Calibri"/>
              <a:cs typeface="Calibri"/>
              <a:sym typeface="Calibri"/>
            </a:endParaRPr>
          </a:p>
        </p:txBody>
      </p:sp>
      <p:sp>
        <p:nvSpPr>
          <p:cNvPr id="548" name="Google Shape;548;p11"/>
          <p:cNvSpPr/>
          <p:nvPr/>
        </p:nvSpPr>
        <p:spPr>
          <a:xfrm>
            <a:off x="5687568" y="4407408"/>
            <a:ext cx="1828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300"/>
              <a:buFont typeface="Calibri"/>
              <a:buNone/>
            </a:pPr>
            <a:r>
              <a:rPr lang="en-US" sz="1300" b="1">
                <a:solidFill>
                  <a:srgbClr val="F59E0B"/>
                </a:solidFill>
                <a:latin typeface="Calibri"/>
                <a:ea typeface="Calibri"/>
                <a:cs typeface="Calibri"/>
                <a:sym typeface="Calibri"/>
              </a:rPr>
              <a:t>Oct – Nov</a:t>
            </a:r>
            <a:endParaRPr sz="1300">
              <a:solidFill>
                <a:schemeClr val="dk1"/>
              </a:solidFill>
              <a:latin typeface="Calibri"/>
              <a:ea typeface="Calibri"/>
              <a:cs typeface="Calibri"/>
              <a:sym typeface="Calibri"/>
            </a:endParaRPr>
          </a:p>
        </p:txBody>
      </p:sp>
      <p:sp>
        <p:nvSpPr>
          <p:cNvPr id="549" name="Google Shape;549;p11"/>
          <p:cNvSpPr/>
          <p:nvPr/>
        </p:nvSpPr>
        <p:spPr>
          <a:xfrm>
            <a:off x="5687568" y="4645152"/>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Pre-Christmas demand surge every year</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554"/>
        <p:cNvGrpSpPr/>
        <p:nvPr/>
      </p:nvGrpSpPr>
      <p:grpSpPr>
        <a:xfrm>
          <a:off x="0" y="0"/>
          <a:ext cx="0" cy="0"/>
          <a:chOff x="0" y="0"/>
          <a:chExt cx="0" cy="0"/>
        </a:xfrm>
      </p:grpSpPr>
      <p:sp>
        <p:nvSpPr>
          <p:cNvPr id="555" name="Google Shape;555;p12"/>
          <p:cNvSpPr/>
          <p:nvPr/>
        </p:nvSpPr>
        <p:spPr>
          <a:xfrm>
            <a:off x="0" y="0"/>
            <a:ext cx="9144000"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6" name="Google Shape;556;p12"/>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2 — EDA  |  PRODUCT &amp; CUSTOMER ANALYSIS</a:t>
            </a:r>
            <a:endParaRPr sz="900">
              <a:solidFill>
                <a:schemeClr val="dk1"/>
              </a:solidFill>
              <a:latin typeface="Calibri"/>
              <a:ea typeface="Calibri"/>
              <a:cs typeface="Calibri"/>
              <a:sym typeface="Calibri"/>
            </a:endParaRPr>
          </a:p>
        </p:txBody>
      </p:sp>
      <p:sp>
        <p:nvSpPr>
          <p:cNvPr id="557" name="Google Shape;557;p12"/>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8" name="Google Shape;558;p12"/>
          <p:cNvSpPr/>
          <p:nvPr/>
        </p:nvSpPr>
        <p:spPr>
          <a:xfrm>
            <a:off x="0" y="960120"/>
            <a:ext cx="9144000" cy="5486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9" name="Google Shape;559;p12"/>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Product &amp; Customer Analysis</a:t>
            </a:r>
            <a:endParaRPr sz="2000">
              <a:solidFill>
                <a:schemeClr val="dk1"/>
              </a:solidFill>
              <a:latin typeface="Calibri"/>
              <a:ea typeface="Calibri"/>
              <a:cs typeface="Calibri"/>
              <a:sym typeface="Calibri"/>
            </a:endParaRPr>
          </a:p>
        </p:txBody>
      </p:sp>
      <p:sp>
        <p:nvSpPr>
          <p:cNvPr id="560" name="Google Shape;560;p12"/>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Top products · Price bands · RFM framework · Customer frequency</a:t>
            </a:r>
            <a:endParaRPr sz="1100">
              <a:solidFill>
                <a:schemeClr val="dk1"/>
              </a:solidFill>
              <a:latin typeface="Calibri"/>
              <a:ea typeface="Calibri"/>
              <a:cs typeface="Calibri"/>
              <a:sym typeface="Calibri"/>
            </a:endParaRPr>
          </a:p>
        </p:txBody>
      </p:sp>
      <p:sp>
        <p:nvSpPr>
          <p:cNvPr id="561" name="Google Shape;561;p12"/>
          <p:cNvSpPr/>
          <p:nvPr/>
        </p:nvSpPr>
        <p:spPr>
          <a:xfrm>
            <a:off x="274320" y="1170432"/>
            <a:ext cx="4160520" cy="22860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2" name="Google Shape;562;p12"/>
          <p:cNvSpPr/>
          <p:nvPr/>
        </p:nvSpPr>
        <p:spPr>
          <a:xfrm>
            <a:off x="274320" y="1170432"/>
            <a:ext cx="4160520" cy="36576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12"/>
          <p:cNvSpPr/>
          <p:nvPr/>
        </p:nvSpPr>
        <p:spPr>
          <a:xfrm>
            <a:off x="365760" y="1207008"/>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TOP PRODUCTS BY REVENUE</a:t>
            </a:r>
            <a:endParaRPr sz="1000">
              <a:solidFill>
                <a:schemeClr val="dk1"/>
              </a:solidFill>
              <a:latin typeface="Calibri"/>
              <a:ea typeface="Calibri"/>
              <a:cs typeface="Calibri"/>
              <a:sym typeface="Calibri"/>
            </a:endParaRPr>
          </a:p>
        </p:txBody>
      </p:sp>
      <p:sp>
        <p:nvSpPr>
          <p:cNvPr id="564" name="Google Shape;564;p12"/>
          <p:cNvSpPr/>
          <p:nvPr/>
        </p:nvSpPr>
        <p:spPr>
          <a:xfrm>
            <a:off x="292608" y="1572768"/>
            <a:ext cx="4114800" cy="292608"/>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5" name="Google Shape;565;p12"/>
          <p:cNvSpPr/>
          <p:nvPr/>
        </p:nvSpPr>
        <p:spPr>
          <a:xfrm>
            <a:off x="347472" y="1627632"/>
            <a:ext cx="2282930"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6" name="Google Shape;566;p12"/>
          <p:cNvSpPr/>
          <p:nvPr/>
        </p:nvSpPr>
        <p:spPr>
          <a:xfrm>
            <a:off x="384048" y="161848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PARTY BUNTING</a:t>
            </a:r>
            <a:endParaRPr sz="900">
              <a:solidFill>
                <a:schemeClr val="dk1"/>
              </a:solidFill>
              <a:latin typeface="Calibri"/>
              <a:ea typeface="Calibri"/>
              <a:cs typeface="Calibri"/>
              <a:sym typeface="Calibri"/>
            </a:endParaRPr>
          </a:p>
        </p:txBody>
      </p:sp>
      <p:sp>
        <p:nvSpPr>
          <p:cNvPr id="567" name="Google Shape;567;p12"/>
          <p:cNvSpPr/>
          <p:nvPr/>
        </p:nvSpPr>
        <p:spPr>
          <a:xfrm>
            <a:off x="3474720" y="161848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£34,953</a:t>
            </a:r>
            <a:endParaRPr sz="900">
              <a:solidFill>
                <a:schemeClr val="dk1"/>
              </a:solidFill>
              <a:latin typeface="Calibri"/>
              <a:ea typeface="Calibri"/>
              <a:cs typeface="Calibri"/>
              <a:sym typeface="Calibri"/>
            </a:endParaRPr>
          </a:p>
        </p:txBody>
      </p:sp>
      <p:sp>
        <p:nvSpPr>
          <p:cNvPr id="568" name="Google Shape;568;p12"/>
          <p:cNvSpPr/>
          <p:nvPr/>
        </p:nvSpPr>
        <p:spPr>
          <a:xfrm>
            <a:off x="292608" y="1892808"/>
            <a:ext cx="4114800" cy="292608"/>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9" name="Google Shape;569;p12"/>
          <p:cNvSpPr/>
          <p:nvPr/>
        </p:nvSpPr>
        <p:spPr>
          <a:xfrm>
            <a:off x="347472" y="1947672"/>
            <a:ext cx="2074643"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0" name="Google Shape;570;p12"/>
          <p:cNvSpPr/>
          <p:nvPr/>
        </p:nvSpPr>
        <p:spPr>
          <a:xfrm>
            <a:off x="384048" y="193852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WHITE HANGING HEART T-LIGHT</a:t>
            </a:r>
            <a:endParaRPr sz="900">
              <a:solidFill>
                <a:schemeClr val="dk1"/>
              </a:solidFill>
              <a:latin typeface="Calibri"/>
              <a:ea typeface="Calibri"/>
              <a:cs typeface="Calibri"/>
              <a:sym typeface="Calibri"/>
            </a:endParaRPr>
          </a:p>
        </p:txBody>
      </p:sp>
      <p:sp>
        <p:nvSpPr>
          <p:cNvPr id="571" name="Google Shape;571;p12"/>
          <p:cNvSpPr/>
          <p:nvPr/>
        </p:nvSpPr>
        <p:spPr>
          <a:xfrm>
            <a:off x="3474720" y="193852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£31,764</a:t>
            </a:r>
            <a:endParaRPr sz="900">
              <a:solidFill>
                <a:schemeClr val="dk1"/>
              </a:solidFill>
              <a:latin typeface="Calibri"/>
              <a:ea typeface="Calibri"/>
              <a:cs typeface="Calibri"/>
              <a:sym typeface="Calibri"/>
            </a:endParaRPr>
          </a:p>
        </p:txBody>
      </p:sp>
      <p:sp>
        <p:nvSpPr>
          <p:cNvPr id="572" name="Google Shape;572;p12"/>
          <p:cNvSpPr/>
          <p:nvPr/>
        </p:nvSpPr>
        <p:spPr>
          <a:xfrm>
            <a:off x="292608" y="2212848"/>
            <a:ext cx="4114800" cy="292608"/>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3" name="Google Shape;573;p12"/>
          <p:cNvSpPr/>
          <p:nvPr/>
        </p:nvSpPr>
        <p:spPr>
          <a:xfrm>
            <a:off x="347472" y="2267712"/>
            <a:ext cx="1627893"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4" name="Google Shape;574;p12"/>
          <p:cNvSpPr/>
          <p:nvPr/>
        </p:nvSpPr>
        <p:spPr>
          <a:xfrm>
            <a:off x="384048" y="225856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JUMBO BAG RED RETROSPOT</a:t>
            </a:r>
            <a:endParaRPr sz="900">
              <a:solidFill>
                <a:schemeClr val="dk1"/>
              </a:solidFill>
              <a:latin typeface="Calibri"/>
              <a:ea typeface="Calibri"/>
              <a:cs typeface="Calibri"/>
              <a:sym typeface="Calibri"/>
            </a:endParaRPr>
          </a:p>
        </p:txBody>
      </p:sp>
      <p:sp>
        <p:nvSpPr>
          <p:cNvPr id="575" name="Google Shape;575;p12"/>
          <p:cNvSpPr/>
          <p:nvPr/>
        </p:nvSpPr>
        <p:spPr>
          <a:xfrm>
            <a:off x="3474720" y="225856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£24,924</a:t>
            </a:r>
            <a:endParaRPr sz="900">
              <a:solidFill>
                <a:schemeClr val="dk1"/>
              </a:solidFill>
              <a:latin typeface="Calibri"/>
              <a:ea typeface="Calibri"/>
              <a:cs typeface="Calibri"/>
              <a:sym typeface="Calibri"/>
            </a:endParaRPr>
          </a:p>
        </p:txBody>
      </p:sp>
      <p:sp>
        <p:nvSpPr>
          <p:cNvPr id="576" name="Google Shape;576;p12"/>
          <p:cNvSpPr/>
          <p:nvPr/>
        </p:nvSpPr>
        <p:spPr>
          <a:xfrm>
            <a:off x="292608" y="2532888"/>
            <a:ext cx="4114800" cy="292608"/>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7" name="Google Shape;577;p12"/>
          <p:cNvSpPr/>
          <p:nvPr/>
        </p:nvSpPr>
        <p:spPr>
          <a:xfrm>
            <a:off x="347472" y="2587752"/>
            <a:ext cx="1535735"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8" name="Google Shape;578;p12"/>
          <p:cNvSpPr/>
          <p:nvPr/>
        </p:nvSpPr>
        <p:spPr>
          <a:xfrm>
            <a:off x="384048" y="257860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SPOTTY BUNTING</a:t>
            </a:r>
            <a:endParaRPr sz="900">
              <a:solidFill>
                <a:schemeClr val="dk1"/>
              </a:solidFill>
              <a:latin typeface="Calibri"/>
              <a:ea typeface="Calibri"/>
              <a:cs typeface="Calibri"/>
              <a:sym typeface="Calibri"/>
            </a:endParaRPr>
          </a:p>
        </p:txBody>
      </p:sp>
      <p:sp>
        <p:nvSpPr>
          <p:cNvPr id="579" name="Google Shape;579;p12"/>
          <p:cNvSpPr/>
          <p:nvPr/>
        </p:nvSpPr>
        <p:spPr>
          <a:xfrm>
            <a:off x="3474720" y="257860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£23,513</a:t>
            </a:r>
            <a:endParaRPr sz="900">
              <a:solidFill>
                <a:schemeClr val="dk1"/>
              </a:solidFill>
              <a:latin typeface="Calibri"/>
              <a:ea typeface="Calibri"/>
              <a:cs typeface="Calibri"/>
              <a:sym typeface="Calibri"/>
            </a:endParaRPr>
          </a:p>
        </p:txBody>
      </p:sp>
      <p:sp>
        <p:nvSpPr>
          <p:cNvPr id="580" name="Google Shape;580;p12"/>
          <p:cNvSpPr/>
          <p:nvPr/>
        </p:nvSpPr>
        <p:spPr>
          <a:xfrm>
            <a:off x="292608" y="2852928"/>
            <a:ext cx="4114800" cy="292608"/>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1" name="Google Shape;581;p12"/>
          <p:cNvSpPr/>
          <p:nvPr/>
        </p:nvSpPr>
        <p:spPr>
          <a:xfrm>
            <a:off x="347472" y="2907792"/>
            <a:ext cx="1498310"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2" name="Google Shape;582;p12"/>
          <p:cNvSpPr/>
          <p:nvPr/>
        </p:nvSpPr>
        <p:spPr>
          <a:xfrm>
            <a:off x="384048" y="289864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ASSORTED BIRD ORNAMENT</a:t>
            </a:r>
            <a:endParaRPr sz="900">
              <a:solidFill>
                <a:schemeClr val="dk1"/>
              </a:solidFill>
              <a:latin typeface="Calibri"/>
              <a:ea typeface="Calibri"/>
              <a:cs typeface="Calibri"/>
              <a:sym typeface="Calibri"/>
            </a:endParaRPr>
          </a:p>
        </p:txBody>
      </p:sp>
      <p:sp>
        <p:nvSpPr>
          <p:cNvPr id="583" name="Google Shape;583;p12"/>
          <p:cNvSpPr/>
          <p:nvPr/>
        </p:nvSpPr>
        <p:spPr>
          <a:xfrm>
            <a:off x="3474720" y="289864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£22,940</a:t>
            </a:r>
            <a:endParaRPr sz="900">
              <a:solidFill>
                <a:schemeClr val="dk1"/>
              </a:solidFill>
              <a:latin typeface="Calibri"/>
              <a:ea typeface="Calibri"/>
              <a:cs typeface="Calibri"/>
              <a:sym typeface="Calibri"/>
            </a:endParaRPr>
          </a:p>
        </p:txBody>
      </p:sp>
      <p:sp>
        <p:nvSpPr>
          <p:cNvPr id="584" name="Google Shape;584;p12"/>
          <p:cNvSpPr/>
          <p:nvPr/>
        </p:nvSpPr>
        <p:spPr>
          <a:xfrm>
            <a:off x="292608" y="3172968"/>
            <a:ext cx="4114800" cy="292608"/>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5" name="Google Shape;585;p12"/>
          <p:cNvSpPr/>
          <p:nvPr/>
        </p:nvSpPr>
        <p:spPr>
          <a:xfrm>
            <a:off x="347472" y="3227832"/>
            <a:ext cx="1380548" cy="182880"/>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2"/>
          <p:cNvSpPr/>
          <p:nvPr/>
        </p:nvSpPr>
        <p:spPr>
          <a:xfrm>
            <a:off x="384048" y="321868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JAM MAKING SET WITH JARS</a:t>
            </a:r>
            <a:endParaRPr sz="900">
              <a:solidFill>
                <a:schemeClr val="dk1"/>
              </a:solidFill>
              <a:latin typeface="Calibri"/>
              <a:ea typeface="Calibri"/>
              <a:cs typeface="Calibri"/>
              <a:sym typeface="Calibri"/>
            </a:endParaRPr>
          </a:p>
        </p:txBody>
      </p:sp>
      <p:sp>
        <p:nvSpPr>
          <p:cNvPr id="587" name="Google Shape;587;p12"/>
          <p:cNvSpPr/>
          <p:nvPr/>
        </p:nvSpPr>
        <p:spPr>
          <a:xfrm>
            <a:off x="3474720" y="3218688"/>
            <a:ext cx="86868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£21,137</a:t>
            </a:r>
            <a:endParaRPr sz="900">
              <a:solidFill>
                <a:schemeClr val="dk1"/>
              </a:solidFill>
              <a:latin typeface="Calibri"/>
              <a:ea typeface="Calibri"/>
              <a:cs typeface="Calibri"/>
              <a:sym typeface="Calibri"/>
            </a:endParaRPr>
          </a:p>
        </p:txBody>
      </p:sp>
      <p:sp>
        <p:nvSpPr>
          <p:cNvPr id="588" name="Google Shape;588;p12"/>
          <p:cNvSpPr/>
          <p:nvPr/>
        </p:nvSpPr>
        <p:spPr>
          <a:xfrm>
            <a:off x="4617720" y="1170432"/>
            <a:ext cx="4251960" cy="1078992"/>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9" name="Google Shape;589;p12"/>
          <p:cNvSpPr/>
          <p:nvPr/>
        </p:nvSpPr>
        <p:spPr>
          <a:xfrm>
            <a:off x="4617720" y="1170432"/>
            <a:ext cx="4251960" cy="36576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0" name="Google Shape;590;p12"/>
          <p:cNvSpPr/>
          <p:nvPr/>
        </p:nvSpPr>
        <p:spPr>
          <a:xfrm>
            <a:off x="4709160" y="1207008"/>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PRICE BAND DISTRIBUTION</a:t>
            </a:r>
            <a:endParaRPr sz="1000">
              <a:solidFill>
                <a:schemeClr val="dk1"/>
              </a:solidFill>
              <a:latin typeface="Calibri"/>
              <a:ea typeface="Calibri"/>
              <a:cs typeface="Calibri"/>
              <a:sym typeface="Calibri"/>
            </a:endParaRPr>
          </a:p>
        </p:txBody>
      </p:sp>
      <p:sp>
        <p:nvSpPr>
          <p:cNvPr id="591" name="Google Shape;591;p12"/>
          <p:cNvSpPr/>
          <p:nvPr/>
        </p:nvSpPr>
        <p:spPr>
          <a:xfrm>
            <a:off x="4754880" y="1959630"/>
            <a:ext cx="594360" cy="70338"/>
          </a:xfrm>
          <a:prstGeom prst="rect">
            <a:avLst/>
          </a:prstGeom>
          <a:solidFill>
            <a:srgbClr val="1A162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2" name="Google Shape;592;p12"/>
          <p:cNvSpPr/>
          <p:nvPr/>
        </p:nvSpPr>
        <p:spPr>
          <a:xfrm>
            <a:off x="4754880" y="1804182"/>
            <a:ext cx="5943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628"/>
              </a:buClr>
              <a:buSzPts val="900"/>
              <a:buFont typeface="Calibri"/>
              <a:buNone/>
            </a:pPr>
            <a:r>
              <a:rPr lang="en-US" sz="900" b="1">
                <a:solidFill>
                  <a:srgbClr val="1A1628"/>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
        <p:nvSpPr>
          <p:cNvPr id="593" name="Google Shape;593;p12"/>
          <p:cNvSpPr/>
          <p:nvPr/>
        </p:nvSpPr>
        <p:spPr>
          <a:xfrm>
            <a:off x="4754880" y="2048256"/>
            <a:ext cx="59436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750"/>
              <a:buFont typeface="Calibri"/>
              <a:buNone/>
            </a:pPr>
            <a:r>
              <a:rPr lang="en-US" sz="750">
                <a:solidFill>
                  <a:srgbClr val="94A3B8"/>
                </a:solidFill>
                <a:latin typeface="Calibri"/>
                <a:ea typeface="Calibri"/>
                <a:cs typeface="Calibri"/>
                <a:sym typeface="Calibri"/>
              </a:rPr>
              <a:t>&lt;£1</a:t>
            </a:r>
            <a:endParaRPr sz="750">
              <a:solidFill>
                <a:schemeClr val="dk1"/>
              </a:solidFill>
              <a:latin typeface="Calibri"/>
              <a:ea typeface="Calibri"/>
              <a:cs typeface="Calibri"/>
              <a:sym typeface="Calibri"/>
            </a:endParaRPr>
          </a:p>
        </p:txBody>
      </p:sp>
      <p:sp>
        <p:nvSpPr>
          <p:cNvPr id="594" name="Google Shape;594;p12"/>
          <p:cNvSpPr/>
          <p:nvPr/>
        </p:nvSpPr>
        <p:spPr>
          <a:xfrm>
            <a:off x="5559552" y="1572768"/>
            <a:ext cx="594360" cy="457200"/>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5" name="Google Shape;595;p12"/>
          <p:cNvSpPr/>
          <p:nvPr/>
        </p:nvSpPr>
        <p:spPr>
          <a:xfrm>
            <a:off x="5559552" y="1417320"/>
            <a:ext cx="5943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52%</a:t>
            </a:r>
            <a:endParaRPr sz="900">
              <a:solidFill>
                <a:schemeClr val="dk1"/>
              </a:solidFill>
              <a:latin typeface="Calibri"/>
              <a:ea typeface="Calibri"/>
              <a:cs typeface="Calibri"/>
              <a:sym typeface="Calibri"/>
            </a:endParaRPr>
          </a:p>
        </p:txBody>
      </p:sp>
      <p:sp>
        <p:nvSpPr>
          <p:cNvPr id="596" name="Google Shape;596;p12"/>
          <p:cNvSpPr/>
          <p:nvPr/>
        </p:nvSpPr>
        <p:spPr>
          <a:xfrm>
            <a:off x="5559552" y="2048256"/>
            <a:ext cx="59436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750"/>
              <a:buFont typeface="Calibri"/>
              <a:buNone/>
            </a:pPr>
            <a:r>
              <a:rPr lang="en-US" sz="750">
                <a:solidFill>
                  <a:srgbClr val="94A3B8"/>
                </a:solidFill>
                <a:latin typeface="Calibri"/>
                <a:ea typeface="Calibri"/>
                <a:cs typeface="Calibri"/>
                <a:sym typeface="Calibri"/>
              </a:rPr>
              <a:t>£1–£3</a:t>
            </a:r>
            <a:endParaRPr sz="750">
              <a:solidFill>
                <a:schemeClr val="dk1"/>
              </a:solidFill>
              <a:latin typeface="Calibri"/>
              <a:ea typeface="Calibri"/>
              <a:cs typeface="Calibri"/>
              <a:sym typeface="Calibri"/>
            </a:endParaRPr>
          </a:p>
        </p:txBody>
      </p:sp>
      <p:sp>
        <p:nvSpPr>
          <p:cNvPr id="597" name="Google Shape;597;p12"/>
          <p:cNvSpPr/>
          <p:nvPr/>
        </p:nvSpPr>
        <p:spPr>
          <a:xfrm>
            <a:off x="6364224" y="1818953"/>
            <a:ext cx="594360" cy="211015"/>
          </a:xfrm>
          <a:prstGeom prst="rect">
            <a:avLst/>
          </a:prstGeom>
          <a:solidFill>
            <a:srgbClr val="06B6D4"/>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8" name="Google Shape;598;p12"/>
          <p:cNvSpPr/>
          <p:nvPr/>
        </p:nvSpPr>
        <p:spPr>
          <a:xfrm>
            <a:off x="6364224" y="1663505"/>
            <a:ext cx="5943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B6D4"/>
              </a:buClr>
              <a:buSzPts val="900"/>
              <a:buFont typeface="Calibri"/>
              <a:buNone/>
            </a:pPr>
            <a:r>
              <a:rPr lang="en-US" sz="900" b="1">
                <a:solidFill>
                  <a:srgbClr val="06B6D4"/>
                </a:solidFill>
                <a:latin typeface="Calibri"/>
                <a:ea typeface="Calibri"/>
                <a:cs typeface="Calibri"/>
                <a:sym typeface="Calibri"/>
              </a:rPr>
              <a:t>24%</a:t>
            </a:r>
            <a:endParaRPr sz="900">
              <a:solidFill>
                <a:schemeClr val="dk1"/>
              </a:solidFill>
              <a:latin typeface="Calibri"/>
              <a:ea typeface="Calibri"/>
              <a:cs typeface="Calibri"/>
              <a:sym typeface="Calibri"/>
            </a:endParaRPr>
          </a:p>
        </p:txBody>
      </p:sp>
      <p:sp>
        <p:nvSpPr>
          <p:cNvPr id="599" name="Google Shape;599;p12"/>
          <p:cNvSpPr/>
          <p:nvPr/>
        </p:nvSpPr>
        <p:spPr>
          <a:xfrm>
            <a:off x="6364224" y="2048256"/>
            <a:ext cx="59436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750"/>
              <a:buFont typeface="Calibri"/>
              <a:buNone/>
            </a:pPr>
            <a:r>
              <a:rPr lang="en-US" sz="750">
                <a:solidFill>
                  <a:srgbClr val="94A3B8"/>
                </a:solidFill>
                <a:latin typeface="Calibri"/>
                <a:ea typeface="Calibri"/>
                <a:cs typeface="Calibri"/>
                <a:sym typeface="Calibri"/>
              </a:rPr>
              <a:t>£3–£5</a:t>
            </a:r>
            <a:endParaRPr sz="750">
              <a:solidFill>
                <a:schemeClr val="dk1"/>
              </a:solidFill>
              <a:latin typeface="Calibri"/>
              <a:ea typeface="Calibri"/>
              <a:cs typeface="Calibri"/>
              <a:sym typeface="Calibri"/>
            </a:endParaRPr>
          </a:p>
        </p:txBody>
      </p:sp>
      <p:sp>
        <p:nvSpPr>
          <p:cNvPr id="600" name="Google Shape;600;p12"/>
          <p:cNvSpPr/>
          <p:nvPr/>
        </p:nvSpPr>
        <p:spPr>
          <a:xfrm>
            <a:off x="7168896" y="1924460"/>
            <a:ext cx="594360" cy="105508"/>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1" name="Google Shape;601;p12"/>
          <p:cNvSpPr/>
          <p:nvPr/>
        </p:nvSpPr>
        <p:spPr>
          <a:xfrm>
            <a:off x="7168896" y="1769012"/>
            <a:ext cx="5943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82F6"/>
              </a:buClr>
              <a:buSzPts val="900"/>
              <a:buFont typeface="Calibri"/>
              <a:buNone/>
            </a:pPr>
            <a:r>
              <a:rPr lang="en-US" sz="900" b="1">
                <a:solidFill>
                  <a:srgbClr val="3B82F6"/>
                </a:solidFill>
                <a:latin typeface="Calibri"/>
                <a:ea typeface="Calibri"/>
                <a:cs typeface="Calibri"/>
                <a:sym typeface="Calibri"/>
              </a:rPr>
              <a:t>12%</a:t>
            </a:r>
            <a:endParaRPr sz="900">
              <a:solidFill>
                <a:schemeClr val="dk1"/>
              </a:solidFill>
              <a:latin typeface="Calibri"/>
              <a:ea typeface="Calibri"/>
              <a:cs typeface="Calibri"/>
              <a:sym typeface="Calibri"/>
            </a:endParaRPr>
          </a:p>
        </p:txBody>
      </p:sp>
      <p:sp>
        <p:nvSpPr>
          <p:cNvPr id="602" name="Google Shape;602;p12"/>
          <p:cNvSpPr/>
          <p:nvPr/>
        </p:nvSpPr>
        <p:spPr>
          <a:xfrm>
            <a:off x="7168896" y="2048256"/>
            <a:ext cx="59436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750"/>
              <a:buFont typeface="Calibri"/>
              <a:buNone/>
            </a:pPr>
            <a:r>
              <a:rPr lang="en-US" sz="750">
                <a:solidFill>
                  <a:srgbClr val="94A3B8"/>
                </a:solidFill>
                <a:latin typeface="Calibri"/>
                <a:ea typeface="Calibri"/>
                <a:cs typeface="Calibri"/>
                <a:sym typeface="Calibri"/>
              </a:rPr>
              <a:t>£5–£10</a:t>
            </a:r>
            <a:endParaRPr sz="750">
              <a:solidFill>
                <a:schemeClr val="dk1"/>
              </a:solidFill>
              <a:latin typeface="Calibri"/>
              <a:ea typeface="Calibri"/>
              <a:cs typeface="Calibri"/>
              <a:sym typeface="Calibri"/>
            </a:endParaRPr>
          </a:p>
        </p:txBody>
      </p:sp>
      <p:sp>
        <p:nvSpPr>
          <p:cNvPr id="603" name="Google Shape;603;p12"/>
          <p:cNvSpPr/>
          <p:nvPr/>
        </p:nvSpPr>
        <p:spPr>
          <a:xfrm>
            <a:off x="7973568" y="1994799"/>
            <a:ext cx="594360" cy="35169"/>
          </a:xfrm>
          <a:prstGeom prst="rect">
            <a:avLst/>
          </a:prstGeom>
          <a:solidFill>
            <a:srgbClr val="8B5C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4" name="Google Shape;604;p12"/>
          <p:cNvSpPr/>
          <p:nvPr/>
        </p:nvSpPr>
        <p:spPr>
          <a:xfrm>
            <a:off x="7973568" y="1839351"/>
            <a:ext cx="5943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900"/>
              <a:buFont typeface="Calibri"/>
              <a:buNone/>
            </a:pPr>
            <a:r>
              <a:rPr lang="en-US" sz="900" b="1">
                <a:solidFill>
                  <a:srgbClr val="8B5CF6"/>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605" name="Google Shape;605;p12"/>
          <p:cNvSpPr/>
          <p:nvPr/>
        </p:nvSpPr>
        <p:spPr>
          <a:xfrm>
            <a:off x="7973568" y="2048256"/>
            <a:ext cx="59436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750"/>
              <a:buFont typeface="Calibri"/>
              <a:buNone/>
            </a:pPr>
            <a:r>
              <a:rPr lang="en-US" sz="750">
                <a:solidFill>
                  <a:srgbClr val="94A3B8"/>
                </a:solidFill>
                <a:latin typeface="Calibri"/>
                <a:ea typeface="Calibri"/>
                <a:cs typeface="Calibri"/>
                <a:sym typeface="Calibri"/>
              </a:rPr>
              <a:t>£10+</a:t>
            </a:r>
            <a:endParaRPr sz="750">
              <a:solidFill>
                <a:schemeClr val="dk1"/>
              </a:solidFill>
              <a:latin typeface="Calibri"/>
              <a:ea typeface="Calibri"/>
              <a:cs typeface="Calibri"/>
              <a:sym typeface="Calibri"/>
            </a:endParaRPr>
          </a:p>
        </p:txBody>
      </p:sp>
      <p:sp>
        <p:nvSpPr>
          <p:cNvPr id="606" name="Google Shape;606;p12"/>
          <p:cNvSpPr/>
          <p:nvPr/>
        </p:nvSpPr>
        <p:spPr>
          <a:xfrm>
            <a:off x="4709160" y="2231136"/>
            <a:ext cx="40233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00"/>
              <a:buFont typeface="Calibri"/>
              <a:buNone/>
            </a:pPr>
            <a:r>
              <a:rPr lang="en-US" sz="900" b="1">
                <a:solidFill>
                  <a:srgbClr val="F59E0B"/>
                </a:solidFill>
                <a:latin typeface="Calibri"/>
                <a:ea typeface="Calibri"/>
                <a:cs typeface="Calibri"/>
                <a:sym typeface="Calibri"/>
              </a:rPr>
              <a:t>£1–£3 band drives 52% of all transaction volume</a:t>
            </a:r>
            <a:endParaRPr sz="900">
              <a:solidFill>
                <a:schemeClr val="dk1"/>
              </a:solidFill>
              <a:latin typeface="Calibri"/>
              <a:ea typeface="Calibri"/>
              <a:cs typeface="Calibri"/>
              <a:sym typeface="Calibri"/>
            </a:endParaRPr>
          </a:p>
        </p:txBody>
      </p:sp>
      <p:sp>
        <p:nvSpPr>
          <p:cNvPr id="607" name="Google Shape;607;p12"/>
          <p:cNvSpPr/>
          <p:nvPr/>
        </p:nvSpPr>
        <p:spPr>
          <a:xfrm>
            <a:off x="4617720" y="2395728"/>
            <a:ext cx="4251960" cy="1078992"/>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8" name="Google Shape;608;p12"/>
          <p:cNvSpPr/>
          <p:nvPr/>
        </p:nvSpPr>
        <p:spPr>
          <a:xfrm>
            <a:off x="4617720" y="2395728"/>
            <a:ext cx="4251960" cy="36576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9" name="Google Shape;609;p12"/>
          <p:cNvSpPr/>
          <p:nvPr/>
        </p:nvSpPr>
        <p:spPr>
          <a:xfrm>
            <a:off x="4709160" y="2432304"/>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RFM SUMMARY STATISTICS</a:t>
            </a:r>
            <a:endParaRPr sz="1000">
              <a:solidFill>
                <a:schemeClr val="dk1"/>
              </a:solidFill>
              <a:latin typeface="Calibri"/>
              <a:ea typeface="Calibri"/>
              <a:cs typeface="Calibri"/>
              <a:sym typeface="Calibri"/>
            </a:endParaRPr>
          </a:p>
        </p:txBody>
      </p:sp>
      <p:sp>
        <p:nvSpPr>
          <p:cNvPr id="610" name="Google Shape;610;p12"/>
          <p:cNvSpPr/>
          <p:nvPr/>
        </p:nvSpPr>
        <p:spPr>
          <a:xfrm>
            <a:off x="4681728" y="2816352"/>
            <a:ext cx="4114800" cy="201168"/>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1" name="Google Shape;611;p12"/>
          <p:cNvSpPr/>
          <p:nvPr/>
        </p:nvSpPr>
        <p:spPr>
          <a:xfrm>
            <a:off x="4681728" y="2816352"/>
            <a:ext cx="54864" cy="20116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2" name="Google Shape;612;p12"/>
          <p:cNvSpPr/>
          <p:nvPr/>
        </p:nvSpPr>
        <p:spPr>
          <a:xfrm>
            <a:off x="4791456" y="2834640"/>
            <a:ext cx="14630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b="1">
                <a:solidFill>
                  <a:srgbClr val="0D1B2A"/>
                </a:solidFill>
                <a:latin typeface="Calibri"/>
                <a:ea typeface="Calibri"/>
                <a:cs typeface="Calibri"/>
                <a:sym typeface="Calibri"/>
              </a:rPr>
              <a:t>Recency (avg)</a:t>
            </a:r>
            <a:endParaRPr sz="900">
              <a:solidFill>
                <a:schemeClr val="dk1"/>
              </a:solidFill>
              <a:latin typeface="Calibri"/>
              <a:ea typeface="Calibri"/>
              <a:cs typeface="Calibri"/>
              <a:sym typeface="Calibri"/>
            </a:endParaRPr>
          </a:p>
        </p:txBody>
      </p:sp>
      <p:sp>
        <p:nvSpPr>
          <p:cNvPr id="613" name="Google Shape;613;p12"/>
          <p:cNvSpPr/>
          <p:nvPr/>
        </p:nvSpPr>
        <p:spPr>
          <a:xfrm>
            <a:off x="6309360" y="2834640"/>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93 days since last purchase</a:t>
            </a:r>
            <a:endParaRPr sz="900">
              <a:solidFill>
                <a:schemeClr val="dk1"/>
              </a:solidFill>
              <a:latin typeface="Calibri"/>
              <a:ea typeface="Calibri"/>
              <a:cs typeface="Calibri"/>
              <a:sym typeface="Calibri"/>
            </a:endParaRPr>
          </a:p>
        </p:txBody>
      </p:sp>
      <p:sp>
        <p:nvSpPr>
          <p:cNvPr id="614" name="Google Shape;614;p12"/>
          <p:cNvSpPr/>
          <p:nvPr/>
        </p:nvSpPr>
        <p:spPr>
          <a:xfrm>
            <a:off x="4681728" y="3035808"/>
            <a:ext cx="4114800" cy="201168"/>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5" name="Google Shape;615;p12"/>
          <p:cNvSpPr/>
          <p:nvPr/>
        </p:nvSpPr>
        <p:spPr>
          <a:xfrm>
            <a:off x="4681728" y="3035808"/>
            <a:ext cx="54864"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6" name="Google Shape;616;p12"/>
          <p:cNvSpPr/>
          <p:nvPr/>
        </p:nvSpPr>
        <p:spPr>
          <a:xfrm>
            <a:off x="4791456" y="3054096"/>
            <a:ext cx="14630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b="1">
                <a:solidFill>
                  <a:srgbClr val="0D1B2A"/>
                </a:solidFill>
                <a:latin typeface="Calibri"/>
                <a:ea typeface="Calibri"/>
                <a:cs typeface="Calibri"/>
                <a:sym typeface="Calibri"/>
              </a:rPr>
              <a:t>Frequency (avg)</a:t>
            </a:r>
            <a:endParaRPr sz="900">
              <a:solidFill>
                <a:schemeClr val="dk1"/>
              </a:solidFill>
              <a:latin typeface="Calibri"/>
              <a:ea typeface="Calibri"/>
              <a:cs typeface="Calibri"/>
              <a:sym typeface="Calibri"/>
            </a:endParaRPr>
          </a:p>
        </p:txBody>
      </p:sp>
      <p:sp>
        <p:nvSpPr>
          <p:cNvPr id="617" name="Google Shape;617;p12"/>
          <p:cNvSpPr/>
          <p:nvPr/>
        </p:nvSpPr>
        <p:spPr>
          <a:xfrm>
            <a:off x="6309360" y="3054096"/>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4.0 orders per customer</a:t>
            </a:r>
            <a:endParaRPr sz="900">
              <a:solidFill>
                <a:schemeClr val="dk1"/>
              </a:solidFill>
              <a:latin typeface="Calibri"/>
              <a:ea typeface="Calibri"/>
              <a:cs typeface="Calibri"/>
              <a:sym typeface="Calibri"/>
            </a:endParaRPr>
          </a:p>
        </p:txBody>
      </p:sp>
      <p:sp>
        <p:nvSpPr>
          <p:cNvPr id="618" name="Google Shape;618;p12"/>
          <p:cNvSpPr/>
          <p:nvPr/>
        </p:nvSpPr>
        <p:spPr>
          <a:xfrm>
            <a:off x="4681728" y="3255264"/>
            <a:ext cx="4114800" cy="201168"/>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9" name="Google Shape;619;p12"/>
          <p:cNvSpPr/>
          <p:nvPr/>
        </p:nvSpPr>
        <p:spPr>
          <a:xfrm>
            <a:off x="4681728" y="3255264"/>
            <a:ext cx="54864" cy="20116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0" name="Google Shape;620;p12"/>
          <p:cNvSpPr/>
          <p:nvPr/>
        </p:nvSpPr>
        <p:spPr>
          <a:xfrm>
            <a:off x="4791456" y="3273552"/>
            <a:ext cx="14630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b="1">
                <a:solidFill>
                  <a:srgbClr val="0D1B2A"/>
                </a:solidFill>
                <a:latin typeface="Calibri"/>
                <a:ea typeface="Calibri"/>
                <a:cs typeface="Calibri"/>
                <a:sym typeface="Calibri"/>
              </a:rPr>
              <a:t>Monetary (avg)</a:t>
            </a:r>
            <a:endParaRPr sz="900">
              <a:solidFill>
                <a:schemeClr val="dk1"/>
              </a:solidFill>
              <a:latin typeface="Calibri"/>
              <a:ea typeface="Calibri"/>
              <a:cs typeface="Calibri"/>
              <a:sym typeface="Calibri"/>
            </a:endParaRPr>
          </a:p>
        </p:txBody>
      </p:sp>
      <p:sp>
        <p:nvSpPr>
          <p:cNvPr id="621" name="Google Shape;621;p12"/>
          <p:cNvSpPr/>
          <p:nvPr/>
        </p:nvSpPr>
        <p:spPr>
          <a:xfrm>
            <a:off x="6309360" y="3273552"/>
            <a:ext cx="237744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£1,026 lifetime spend</a:t>
            </a:r>
            <a:endParaRPr sz="900">
              <a:solidFill>
                <a:schemeClr val="dk1"/>
              </a:solidFill>
              <a:latin typeface="Calibri"/>
              <a:ea typeface="Calibri"/>
              <a:cs typeface="Calibri"/>
              <a:sym typeface="Calibri"/>
            </a:endParaRPr>
          </a:p>
        </p:txBody>
      </p:sp>
      <p:sp>
        <p:nvSpPr>
          <p:cNvPr id="622" name="Google Shape;622;p12"/>
          <p:cNvSpPr/>
          <p:nvPr/>
        </p:nvSpPr>
        <p:spPr>
          <a:xfrm>
            <a:off x="274320" y="3566160"/>
            <a:ext cx="8595360" cy="1371600"/>
          </a:xfrm>
          <a:prstGeom prst="rect">
            <a:avLst/>
          </a:prstGeom>
          <a:solidFill>
            <a:srgbClr val="0D1B2A"/>
          </a:solidFill>
          <a:ln w="12700" cap="flat" cmpd="sng">
            <a:solidFill>
              <a:srgbClr val="0D1B2A"/>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3" name="Google Shape;623;p12"/>
          <p:cNvSpPr/>
          <p:nvPr/>
        </p:nvSpPr>
        <p:spPr>
          <a:xfrm>
            <a:off x="411480" y="365760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KEY CUSTOMER INSIGHTS</a:t>
            </a:r>
            <a:endParaRPr sz="900">
              <a:solidFill>
                <a:schemeClr val="dk1"/>
              </a:solidFill>
              <a:latin typeface="Calibri"/>
              <a:ea typeface="Calibri"/>
              <a:cs typeface="Calibri"/>
              <a:sym typeface="Calibri"/>
            </a:endParaRPr>
          </a:p>
        </p:txBody>
      </p:sp>
      <p:sp>
        <p:nvSpPr>
          <p:cNvPr id="624" name="Google Shape;624;p12"/>
          <p:cNvSpPr/>
          <p:nvPr/>
        </p:nvSpPr>
        <p:spPr>
          <a:xfrm>
            <a:off x="384048" y="3931920"/>
            <a:ext cx="1600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600"/>
              <a:buFont typeface="Calibri"/>
              <a:buNone/>
            </a:pPr>
            <a:r>
              <a:rPr lang="en-US" sz="1600" b="1">
                <a:solidFill>
                  <a:srgbClr val="0D9488"/>
                </a:solidFill>
                <a:latin typeface="Calibri"/>
                <a:ea typeface="Calibri"/>
                <a:cs typeface="Calibri"/>
                <a:sym typeface="Calibri"/>
              </a:rPr>
              <a:t>35.5%</a:t>
            </a:r>
            <a:endParaRPr sz="1600">
              <a:solidFill>
                <a:schemeClr val="dk1"/>
              </a:solidFill>
              <a:latin typeface="Calibri"/>
              <a:ea typeface="Calibri"/>
              <a:cs typeface="Calibri"/>
              <a:sym typeface="Calibri"/>
            </a:endParaRPr>
          </a:p>
        </p:txBody>
      </p:sp>
      <p:sp>
        <p:nvSpPr>
          <p:cNvPr id="625" name="Google Shape;625;p12"/>
          <p:cNvSpPr/>
          <p:nvPr/>
        </p:nvSpPr>
        <p:spPr>
          <a:xfrm>
            <a:off x="384048" y="4279392"/>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One-time customers</a:t>
            </a:r>
            <a:endParaRPr sz="850">
              <a:solidFill>
                <a:schemeClr val="dk1"/>
              </a:solidFill>
              <a:latin typeface="Calibri"/>
              <a:ea typeface="Calibri"/>
              <a:cs typeface="Calibri"/>
              <a:sym typeface="Calibri"/>
            </a:endParaRPr>
          </a:p>
        </p:txBody>
      </p:sp>
      <p:sp>
        <p:nvSpPr>
          <p:cNvPr id="626" name="Google Shape;626;p12"/>
          <p:cNvSpPr/>
          <p:nvPr/>
        </p:nvSpPr>
        <p:spPr>
          <a:xfrm>
            <a:off x="384048" y="4480560"/>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Retention opportunity</a:t>
            </a:r>
            <a:endParaRPr sz="800">
              <a:solidFill>
                <a:schemeClr val="dk1"/>
              </a:solidFill>
              <a:latin typeface="Calibri"/>
              <a:ea typeface="Calibri"/>
              <a:cs typeface="Calibri"/>
              <a:sym typeface="Calibri"/>
            </a:endParaRPr>
          </a:p>
        </p:txBody>
      </p:sp>
      <p:sp>
        <p:nvSpPr>
          <p:cNvPr id="627" name="Google Shape;627;p12"/>
          <p:cNvSpPr/>
          <p:nvPr/>
        </p:nvSpPr>
        <p:spPr>
          <a:xfrm>
            <a:off x="2103120" y="3931920"/>
            <a:ext cx="1600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600"/>
              <a:buFont typeface="Calibri"/>
              <a:buNone/>
            </a:pPr>
            <a:r>
              <a:rPr lang="en-US" sz="1600" b="1">
                <a:solidFill>
                  <a:srgbClr val="0D9488"/>
                </a:solidFill>
                <a:latin typeface="Calibri"/>
                <a:ea typeface="Calibri"/>
                <a:cs typeface="Calibri"/>
                <a:sym typeface="Calibri"/>
              </a:rPr>
              <a:t>4.0</a:t>
            </a:r>
            <a:endParaRPr sz="1600">
              <a:solidFill>
                <a:schemeClr val="dk1"/>
              </a:solidFill>
              <a:latin typeface="Calibri"/>
              <a:ea typeface="Calibri"/>
              <a:cs typeface="Calibri"/>
              <a:sym typeface="Calibri"/>
            </a:endParaRPr>
          </a:p>
        </p:txBody>
      </p:sp>
      <p:sp>
        <p:nvSpPr>
          <p:cNvPr id="628" name="Google Shape;628;p12"/>
          <p:cNvSpPr/>
          <p:nvPr/>
        </p:nvSpPr>
        <p:spPr>
          <a:xfrm>
            <a:off x="2103120" y="4279392"/>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Avg orders/customer</a:t>
            </a:r>
            <a:endParaRPr sz="850">
              <a:solidFill>
                <a:schemeClr val="dk1"/>
              </a:solidFill>
              <a:latin typeface="Calibri"/>
              <a:ea typeface="Calibri"/>
              <a:cs typeface="Calibri"/>
              <a:sym typeface="Calibri"/>
            </a:endParaRPr>
          </a:p>
        </p:txBody>
      </p:sp>
      <p:sp>
        <p:nvSpPr>
          <p:cNvPr id="629" name="Google Shape;629;p12"/>
          <p:cNvSpPr/>
          <p:nvPr/>
        </p:nvSpPr>
        <p:spPr>
          <a:xfrm>
            <a:off x="2103120" y="4480560"/>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Repeat buyer base</a:t>
            </a:r>
            <a:endParaRPr sz="800">
              <a:solidFill>
                <a:schemeClr val="dk1"/>
              </a:solidFill>
              <a:latin typeface="Calibri"/>
              <a:ea typeface="Calibri"/>
              <a:cs typeface="Calibri"/>
              <a:sym typeface="Calibri"/>
            </a:endParaRPr>
          </a:p>
        </p:txBody>
      </p:sp>
      <p:sp>
        <p:nvSpPr>
          <p:cNvPr id="630" name="Google Shape;630;p12"/>
          <p:cNvSpPr/>
          <p:nvPr/>
        </p:nvSpPr>
        <p:spPr>
          <a:xfrm>
            <a:off x="3822192" y="3931920"/>
            <a:ext cx="1600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600"/>
              <a:buFont typeface="Calibri"/>
              <a:buNone/>
            </a:pPr>
            <a:r>
              <a:rPr lang="en-US" sz="1600" b="1">
                <a:solidFill>
                  <a:srgbClr val="0D9488"/>
                </a:solidFill>
                <a:latin typeface="Calibri"/>
                <a:ea typeface="Calibri"/>
                <a:cs typeface="Calibri"/>
                <a:sym typeface="Calibri"/>
              </a:rPr>
              <a:t>45%</a:t>
            </a:r>
            <a:endParaRPr sz="1600">
              <a:solidFill>
                <a:schemeClr val="dk1"/>
              </a:solidFill>
              <a:latin typeface="Calibri"/>
              <a:ea typeface="Calibri"/>
              <a:cs typeface="Calibri"/>
              <a:sym typeface="Calibri"/>
            </a:endParaRPr>
          </a:p>
        </p:txBody>
      </p:sp>
      <p:sp>
        <p:nvSpPr>
          <p:cNvPr id="631" name="Google Shape;631;p12"/>
          <p:cNvSpPr/>
          <p:nvPr/>
        </p:nvSpPr>
        <p:spPr>
          <a:xfrm>
            <a:off x="3822192" y="4279392"/>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2–5 order customers</a:t>
            </a:r>
            <a:endParaRPr sz="850">
              <a:solidFill>
                <a:schemeClr val="dk1"/>
              </a:solidFill>
              <a:latin typeface="Calibri"/>
              <a:ea typeface="Calibri"/>
              <a:cs typeface="Calibri"/>
              <a:sym typeface="Calibri"/>
            </a:endParaRPr>
          </a:p>
        </p:txBody>
      </p:sp>
      <p:sp>
        <p:nvSpPr>
          <p:cNvPr id="632" name="Google Shape;632;p12"/>
          <p:cNvSpPr/>
          <p:nvPr/>
        </p:nvSpPr>
        <p:spPr>
          <a:xfrm>
            <a:off x="3822192" y="4480560"/>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Core loyal segment</a:t>
            </a:r>
            <a:endParaRPr sz="800">
              <a:solidFill>
                <a:schemeClr val="dk1"/>
              </a:solidFill>
              <a:latin typeface="Calibri"/>
              <a:ea typeface="Calibri"/>
              <a:cs typeface="Calibri"/>
              <a:sym typeface="Calibri"/>
            </a:endParaRPr>
          </a:p>
        </p:txBody>
      </p:sp>
      <p:sp>
        <p:nvSpPr>
          <p:cNvPr id="633" name="Google Shape;633;p12"/>
          <p:cNvSpPr/>
          <p:nvPr/>
        </p:nvSpPr>
        <p:spPr>
          <a:xfrm>
            <a:off x="5541264" y="3931920"/>
            <a:ext cx="1600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600"/>
              <a:buFont typeface="Calibri"/>
              <a:buNone/>
            </a:pPr>
            <a:r>
              <a:rPr lang="en-US" sz="1600" b="1">
                <a:solidFill>
                  <a:srgbClr val="0D9488"/>
                </a:solidFill>
                <a:latin typeface="Calibri"/>
                <a:ea typeface="Calibri"/>
                <a:cs typeface="Calibri"/>
                <a:sym typeface="Calibri"/>
              </a:rPr>
              <a:t>Top 20%</a:t>
            </a:r>
            <a:endParaRPr sz="1600">
              <a:solidFill>
                <a:schemeClr val="dk1"/>
              </a:solidFill>
              <a:latin typeface="Calibri"/>
              <a:ea typeface="Calibri"/>
              <a:cs typeface="Calibri"/>
              <a:sym typeface="Calibri"/>
            </a:endParaRPr>
          </a:p>
        </p:txBody>
      </p:sp>
      <p:sp>
        <p:nvSpPr>
          <p:cNvPr id="634" name="Google Shape;634;p12"/>
          <p:cNvSpPr/>
          <p:nvPr/>
        </p:nvSpPr>
        <p:spPr>
          <a:xfrm>
            <a:off x="5541264" y="4279392"/>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Generate ~65% revenue</a:t>
            </a:r>
            <a:endParaRPr sz="850">
              <a:solidFill>
                <a:schemeClr val="dk1"/>
              </a:solidFill>
              <a:latin typeface="Calibri"/>
              <a:ea typeface="Calibri"/>
              <a:cs typeface="Calibri"/>
              <a:sym typeface="Calibri"/>
            </a:endParaRPr>
          </a:p>
        </p:txBody>
      </p:sp>
      <p:sp>
        <p:nvSpPr>
          <p:cNvPr id="635" name="Google Shape;635;p12"/>
          <p:cNvSpPr/>
          <p:nvPr/>
        </p:nvSpPr>
        <p:spPr>
          <a:xfrm>
            <a:off x="5541264" y="4480560"/>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Pareto principle</a:t>
            </a:r>
            <a:endParaRPr sz="800">
              <a:solidFill>
                <a:schemeClr val="dk1"/>
              </a:solidFill>
              <a:latin typeface="Calibri"/>
              <a:ea typeface="Calibri"/>
              <a:cs typeface="Calibri"/>
              <a:sym typeface="Calibri"/>
            </a:endParaRPr>
          </a:p>
        </p:txBody>
      </p:sp>
      <p:sp>
        <p:nvSpPr>
          <p:cNvPr id="636" name="Google Shape;636;p12"/>
          <p:cNvSpPr/>
          <p:nvPr/>
        </p:nvSpPr>
        <p:spPr>
          <a:xfrm>
            <a:off x="7260336" y="3931920"/>
            <a:ext cx="1600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600"/>
              <a:buFont typeface="Calibri"/>
              <a:buNone/>
            </a:pPr>
            <a:r>
              <a:rPr lang="en-US" sz="1600" b="1">
                <a:solidFill>
                  <a:srgbClr val="0D9488"/>
                </a:solidFill>
                <a:latin typeface="Calibri"/>
                <a:ea typeface="Calibri"/>
                <a:cs typeface="Calibri"/>
                <a:sym typeface="Calibri"/>
              </a:rPr>
              <a:t>£85K+</a:t>
            </a:r>
            <a:endParaRPr sz="1600">
              <a:solidFill>
                <a:schemeClr val="dk1"/>
              </a:solidFill>
              <a:latin typeface="Calibri"/>
              <a:ea typeface="Calibri"/>
              <a:cs typeface="Calibri"/>
              <a:sym typeface="Calibri"/>
            </a:endParaRPr>
          </a:p>
        </p:txBody>
      </p:sp>
      <p:sp>
        <p:nvSpPr>
          <p:cNvPr id="637" name="Google Shape;637;p12"/>
          <p:cNvSpPr/>
          <p:nvPr/>
        </p:nvSpPr>
        <p:spPr>
          <a:xfrm>
            <a:off x="7260336" y="4279392"/>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Customer 14911 alone</a:t>
            </a:r>
            <a:endParaRPr sz="850">
              <a:solidFill>
                <a:schemeClr val="dk1"/>
              </a:solidFill>
              <a:latin typeface="Calibri"/>
              <a:ea typeface="Calibri"/>
              <a:cs typeface="Calibri"/>
              <a:sym typeface="Calibri"/>
            </a:endParaRPr>
          </a:p>
        </p:txBody>
      </p:sp>
      <p:sp>
        <p:nvSpPr>
          <p:cNvPr id="638" name="Google Shape;638;p12"/>
          <p:cNvSpPr/>
          <p:nvPr/>
        </p:nvSpPr>
        <p:spPr>
          <a:xfrm>
            <a:off x="7260336" y="4480560"/>
            <a:ext cx="16002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VIP segment exists</a:t>
            </a:r>
            <a:endParaRPr sz="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3"/>
        <p:cNvGrpSpPr/>
        <p:nvPr/>
      </p:nvGrpSpPr>
      <p:grpSpPr>
        <a:xfrm>
          <a:off x="0" y="0"/>
          <a:ext cx="0" cy="0"/>
          <a:chOff x="0" y="0"/>
          <a:chExt cx="0" cy="0"/>
        </a:xfrm>
      </p:grpSpPr>
      <p:sp>
        <p:nvSpPr>
          <p:cNvPr id="644" name="Google Shape;644;p13"/>
          <p:cNvSpPr/>
          <p:nvPr/>
        </p:nvSpPr>
        <p:spPr>
          <a:xfrm>
            <a:off x="0" y="0"/>
            <a:ext cx="9144000"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5" name="Google Shape;645;p13"/>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2 — EDA  |  GEOGRAPHIC ANALYSIS &amp; CORRELATION</a:t>
            </a:r>
            <a:endParaRPr sz="900">
              <a:solidFill>
                <a:schemeClr val="dk1"/>
              </a:solidFill>
              <a:latin typeface="Calibri"/>
              <a:ea typeface="Calibri"/>
              <a:cs typeface="Calibri"/>
              <a:sym typeface="Calibri"/>
            </a:endParaRPr>
          </a:p>
        </p:txBody>
      </p:sp>
      <p:sp>
        <p:nvSpPr>
          <p:cNvPr id="646" name="Google Shape;646;p13"/>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7" name="Google Shape;647;p13"/>
          <p:cNvSpPr/>
          <p:nvPr/>
        </p:nvSpPr>
        <p:spPr>
          <a:xfrm>
            <a:off x="0" y="960120"/>
            <a:ext cx="9144000" cy="5486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8" name="Google Shape;648;p13"/>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Geographic Analysis &amp; Correlation</a:t>
            </a:r>
            <a:endParaRPr sz="2000">
              <a:solidFill>
                <a:schemeClr val="dk1"/>
              </a:solidFill>
              <a:latin typeface="Calibri"/>
              <a:ea typeface="Calibri"/>
              <a:cs typeface="Calibri"/>
              <a:sym typeface="Calibri"/>
            </a:endParaRPr>
          </a:p>
        </p:txBody>
      </p:sp>
      <p:sp>
        <p:nvSpPr>
          <p:cNvPr id="649" name="Google Shape;649;p13"/>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UK dominance · International markets · Feature relationships · Anomaly detection</a:t>
            </a:r>
            <a:endParaRPr sz="1100">
              <a:solidFill>
                <a:schemeClr val="dk1"/>
              </a:solidFill>
              <a:latin typeface="Calibri"/>
              <a:ea typeface="Calibri"/>
              <a:cs typeface="Calibri"/>
              <a:sym typeface="Calibri"/>
            </a:endParaRPr>
          </a:p>
        </p:txBody>
      </p:sp>
      <p:sp>
        <p:nvSpPr>
          <p:cNvPr id="650" name="Google Shape;650;p13"/>
          <p:cNvSpPr/>
          <p:nvPr/>
        </p:nvSpPr>
        <p:spPr>
          <a:xfrm>
            <a:off x="274320" y="1170432"/>
            <a:ext cx="4160520" cy="205740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1" name="Google Shape;651;p13"/>
          <p:cNvSpPr/>
          <p:nvPr/>
        </p:nvSpPr>
        <p:spPr>
          <a:xfrm>
            <a:off x="274320" y="1170432"/>
            <a:ext cx="4160520" cy="36576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2" name="Google Shape;652;p13"/>
          <p:cNvSpPr/>
          <p:nvPr/>
        </p:nvSpPr>
        <p:spPr>
          <a:xfrm>
            <a:off x="365760" y="1207008"/>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REVENUE BY COUNTRY (TOP 8)</a:t>
            </a:r>
            <a:endParaRPr sz="1000">
              <a:solidFill>
                <a:schemeClr val="dk1"/>
              </a:solidFill>
              <a:latin typeface="Calibri"/>
              <a:ea typeface="Calibri"/>
              <a:cs typeface="Calibri"/>
              <a:sym typeface="Calibri"/>
            </a:endParaRPr>
          </a:p>
        </p:txBody>
      </p:sp>
      <p:sp>
        <p:nvSpPr>
          <p:cNvPr id="653" name="Google Shape;653;p13"/>
          <p:cNvSpPr/>
          <p:nvPr/>
        </p:nvSpPr>
        <p:spPr>
          <a:xfrm>
            <a:off x="292608" y="1572768"/>
            <a:ext cx="4114800" cy="256032"/>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13"/>
          <p:cNvSpPr/>
          <p:nvPr/>
        </p:nvSpPr>
        <p:spPr>
          <a:xfrm>
            <a:off x="347472" y="1618488"/>
            <a:ext cx="3185514" cy="164592"/>
          </a:xfrm>
          <a:prstGeom prst="rect">
            <a:avLst/>
          </a:prstGeom>
          <a:solidFill>
            <a:srgbClr val="0D9488">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5" name="Google Shape;655;p13"/>
          <p:cNvSpPr/>
          <p:nvPr/>
        </p:nvSpPr>
        <p:spPr>
          <a:xfrm>
            <a:off x="384048" y="1609344"/>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b="1">
                <a:solidFill>
                  <a:srgbClr val="0D1B2A"/>
                </a:solidFill>
                <a:latin typeface="Calibri"/>
                <a:ea typeface="Calibri"/>
                <a:cs typeface="Calibri"/>
                <a:sym typeface="Calibri"/>
              </a:rPr>
              <a:t>United Kingdom</a:t>
            </a:r>
            <a:endParaRPr sz="900">
              <a:solidFill>
                <a:schemeClr val="dk1"/>
              </a:solidFill>
              <a:latin typeface="Calibri"/>
              <a:ea typeface="Calibri"/>
              <a:cs typeface="Calibri"/>
              <a:sym typeface="Calibri"/>
            </a:endParaRPr>
          </a:p>
        </p:txBody>
      </p:sp>
      <p:sp>
        <p:nvSpPr>
          <p:cNvPr id="656" name="Google Shape;656;p13"/>
          <p:cNvSpPr/>
          <p:nvPr/>
        </p:nvSpPr>
        <p:spPr>
          <a:xfrm>
            <a:off x="3291840" y="1609344"/>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85.6%</a:t>
            </a:r>
            <a:endParaRPr sz="900">
              <a:solidFill>
                <a:schemeClr val="dk1"/>
              </a:solidFill>
              <a:latin typeface="Calibri"/>
              <a:ea typeface="Calibri"/>
              <a:cs typeface="Calibri"/>
              <a:sym typeface="Calibri"/>
            </a:endParaRPr>
          </a:p>
        </p:txBody>
      </p:sp>
      <p:sp>
        <p:nvSpPr>
          <p:cNvPr id="657" name="Google Shape;657;p13"/>
          <p:cNvSpPr/>
          <p:nvPr/>
        </p:nvSpPr>
        <p:spPr>
          <a:xfrm>
            <a:off x="3877056" y="1609344"/>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£3,680,989</a:t>
            </a:r>
            <a:endParaRPr sz="800">
              <a:solidFill>
                <a:schemeClr val="dk1"/>
              </a:solidFill>
              <a:latin typeface="Calibri"/>
              <a:ea typeface="Calibri"/>
              <a:cs typeface="Calibri"/>
              <a:sym typeface="Calibri"/>
            </a:endParaRPr>
          </a:p>
        </p:txBody>
      </p:sp>
      <p:sp>
        <p:nvSpPr>
          <p:cNvPr id="658" name="Google Shape;658;p13"/>
          <p:cNvSpPr/>
          <p:nvPr/>
        </p:nvSpPr>
        <p:spPr>
          <a:xfrm>
            <a:off x="292608" y="1865376"/>
            <a:ext cx="4114800" cy="256032"/>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9" name="Google Shape;659;p13"/>
          <p:cNvSpPr/>
          <p:nvPr/>
        </p:nvSpPr>
        <p:spPr>
          <a:xfrm>
            <a:off x="347472" y="1911096"/>
            <a:ext cx="115363" cy="164592"/>
          </a:xfrm>
          <a:prstGeom prst="rect">
            <a:avLst/>
          </a:prstGeom>
          <a:solidFill>
            <a:srgbClr val="06B6D4">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0" name="Google Shape;660;p13"/>
          <p:cNvSpPr/>
          <p:nvPr/>
        </p:nvSpPr>
        <p:spPr>
          <a:xfrm>
            <a:off x="384048" y="1901952"/>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Netherlands</a:t>
            </a:r>
            <a:endParaRPr sz="900">
              <a:solidFill>
                <a:schemeClr val="dk1"/>
              </a:solidFill>
              <a:latin typeface="Calibri"/>
              <a:ea typeface="Calibri"/>
              <a:cs typeface="Calibri"/>
              <a:sym typeface="Calibri"/>
            </a:endParaRPr>
          </a:p>
        </p:txBody>
      </p:sp>
      <p:sp>
        <p:nvSpPr>
          <p:cNvPr id="661" name="Google Shape;661;p13"/>
          <p:cNvSpPr/>
          <p:nvPr/>
        </p:nvSpPr>
        <p:spPr>
          <a:xfrm>
            <a:off x="3291840" y="1901952"/>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6B6D4"/>
              </a:buClr>
              <a:buSzPts val="900"/>
              <a:buFont typeface="Calibri"/>
              <a:buNone/>
            </a:pPr>
            <a:r>
              <a:rPr lang="en-US" sz="900" b="1">
                <a:solidFill>
                  <a:srgbClr val="06B6D4"/>
                </a:solidFill>
                <a:latin typeface="Calibri"/>
                <a:ea typeface="Calibri"/>
                <a:cs typeface="Calibri"/>
                <a:sym typeface="Calibri"/>
              </a:rPr>
              <a:t>3.1%</a:t>
            </a:r>
            <a:endParaRPr sz="900">
              <a:solidFill>
                <a:schemeClr val="dk1"/>
              </a:solidFill>
              <a:latin typeface="Calibri"/>
              <a:ea typeface="Calibri"/>
              <a:cs typeface="Calibri"/>
              <a:sym typeface="Calibri"/>
            </a:endParaRPr>
          </a:p>
        </p:txBody>
      </p:sp>
      <p:sp>
        <p:nvSpPr>
          <p:cNvPr id="662" name="Google Shape;662;p13"/>
          <p:cNvSpPr/>
          <p:nvPr/>
        </p:nvSpPr>
        <p:spPr>
          <a:xfrm>
            <a:off x="3877056" y="1901952"/>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£133,418</a:t>
            </a:r>
            <a:endParaRPr sz="800">
              <a:solidFill>
                <a:schemeClr val="dk1"/>
              </a:solidFill>
              <a:latin typeface="Calibri"/>
              <a:ea typeface="Calibri"/>
              <a:cs typeface="Calibri"/>
              <a:sym typeface="Calibri"/>
            </a:endParaRPr>
          </a:p>
        </p:txBody>
      </p:sp>
      <p:sp>
        <p:nvSpPr>
          <p:cNvPr id="663" name="Google Shape;663;p13"/>
          <p:cNvSpPr/>
          <p:nvPr/>
        </p:nvSpPr>
        <p:spPr>
          <a:xfrm>
            <a:off x="292608" y="2157984"/>
            <a:ext cx="4114800" cy="256032"/>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4" name="Google Shape;664;p13"/>
          <p:cNvSpPr/>
          <p:nvPr/>
        </p:nvSpPr>
        <p:spPr>
          <a:xfrm>
            <a:off x="347472" y="2203704"/>
            <a:ext cx="104199" cy="164592"/>
          </a:xfrm>
          <a:prstGeom prst="rect">
            <a:avLst/>
          </a:prstGeom>
          <a:solidFill>
            <a:srgbClr val="3B82F6">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5" name="Google Shape;665;p13"/>
          <p:cNvSpPr/>
          <p:nvPr/>
        </p:nvSpPr>
        <p:spPr>
          <a:xfrm>
            <a:off x="384048" y="2194560"/>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EIRE</a:t>
            </a:r>
            <a:endParaRPr sz="900">
              <a:solidFill>
                <a:schemeClr val="dk1"/>
              </a:solidFill>
              <a:latin typeface="Calibri"/>
              <a:ea typeface="Calibri"/>
              <a:cs typeface="Calibri"/>
              <a:sym typeface="Calibri"/>
            </a:endParaRPr>
          </a:p>
        </p:txBody>
      </p:sp>
      <p:sp>
        <p:nvSpPr>
          <p:cNvPr id="666" name="Google Shape;666;p13"/>
          <p:cNvSpPr/>
          <p:nvPr/>
        </p:nvSpPr>
        <p:spPr>
          <a:xfrm>
            <a:off x="3291840" y="2194560"/>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3B82F6"/>
              </a:buClr>
              <a:buSzPts val="900"/>
              <a:buFont typeface="Calibri"/>
              <a:buNone/>
            </a:pPr>
            <a:r>
              <a:rPr lang="en-US" sz="900" b="1">
                <a:solidFill>
                  <a:srgbClr val="3B82F6"/>
                </a:solidFill>
                <a:latin typeface="Calibri"/>
                <a:ea typeface="Calibri"/>
                <a:cs typeface="Calibri"/>
                <a:sym typeface="Calibri"/>
              </a:rPr>
              <a:t>2.8%</a:t>
            </a:r>
            <a:endParaRPr sz="900">
              <a:solidFill>
                <a:schemeClr val="dk1"/>
              </a:solidFill>
              <a:latin typeface="Calibri"/>
              <a:ea typeface="Calibri"/>
              <a:cs typeface="Calibri"/>
              <a:sym typeface="Calibri"/>
            </a:endParaRPr>
          </a:p>
        </p:txBody>
      </p:sp>
      <p:sp>
        <p:nvSpPr>
          <p:cNvPr id="667" name="Google Shape;667;p13"/>
          <p:cNvSpPr/>
          <p:nvPr/>
        </p:nvSpPr>
        <p:spPr>
          <a:xfrm>
            <a:off x="3877056" y="2194560"/>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£120,362</a:t>
            </a:r>
            <a:endParaRPr sz="800">
              <a:solidFill>
                <a:schemeClr val="dk1"/>
              </a:solidFill>
              <a:latin typeface="Calibri"/>
              <a:ea typeface="Calibri"/>
              <a:cs typeface="Calibri"/>
              <a:sym typeface="Calibri"/>
            </a:endParaRPr>
          </a:p>
        </p:txBody>
      </p:sp>
      <p:sp>
        <p:nvSpPr>
          <p:cNvPr id="668" name="Google Shape;668;p13"/>
          <p:cNvSpPr/>
          <p:nvPr/>
        </p:nvSpPr>
        <p:spPr>
          <a:xfrm>
            <a:off x="292608" y="2450592"/>
            <a:ext cx="4114800" cy="256032"/>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9" name="Google Shape;669;p13"/>
          <p:cNvSpPr/>
          <p:nvPr/>
        </p:nvSpPr>
        <p:spPr>
          <a:xfrm>
            <a:off x="347472" y="2496312"/>
            <a:ext cx="100478" cy="164592"/>
          </a:xfrm>
          <a:prstGeom prst="rect">
            <a:avLst/>
          </a:prstGeom>
          <a:solidFill>
            <a:srgbClr val="8B5CF6">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0" name="Google Shape;670;p13"/>
          <p:cNvSpPr/>
          <p:nvPr/>
        </p:nvSpPr>
        <p:spPr>
          <a:xfrm>
            <a:off x="384048" y="2487168"/>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Germany</a:t>
            </a:r>
            <a:endParaRPr sz="900">
              <a:solidFill>
                <a:schemeClr val="dk1"/>
              </a:solidFill>
              <a:latin typeface="Calibri"/>
              <a:ea typeface="Calibri"/>
              <a:cs typeface="Calibri"/>
              <a:sym typeface="Calibri"/>
            </a:endParaRPr>
          </a:p>
        </p:txBody>
      </p:sp>
      <p:sp>
        <p:nvSpPr>
          <p:cNvPr id="671" name="Google Shape;671;p13"/>
          <p:cNvSpPr/>
          <p:nvPr/>
        </p:nvSpPr>
        <p:spPr>
          <a:xfrm>
            <a:off x="3291840" y="2487168"/>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5CF6"/>
              </a:buClr>
              <a:buSzPts val="900"/>
              <a:buFont typeface="Calibri"/>
              <a:buNone/>
            </a:pPr>
            <a:r>
              <a:rPr lang="en-US" sz="900" b="1">
                <a:solidFill>
                  <a:srgbClr val="8B5CF6"/>
                </a:solidFill>
                <a:latin typeface="Calibri"/>
                <a:ea typeface="Calibri"/>
                <a:cs typeface="Calibri"/>
                <a:sym typeface="Calibri"/>
              </a:rPr>
              <a:t>2.7%</a:t>
            </a:r>
            <a:endParaRPr sz="900">
              <a:solidFill>
                <a:schemeClr val="dk1"/>
              </a:solidFill>
              <a:latin typeface="Calibri"/>
              <a:ea typeface="Calibri"/>
              <a:cs typeface="Calibri"/>
              <a:sym typeface="Calibri"/>
            </a:endParaRPr>
          </a:p>
        </p:txBody>
      </p:sp>
      <p:sp>
        <p:nvSpPr>
          <p:cNvPr id="672" name="Google Shape;672;p13"/>
          <p:cNvSpPr/>
          <p:nvPr/>
        </p:nvSpPr>
        <p:spPr>
          <a:xfrm>
            <a:off x="3877056" y="2487168"/>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£116,116</a:t>
            </a:r>
            <a:endParaRPr sz="800">
              <a:solidFill>
                <a:schemeClr val="dk1"/>
              </a:solidFill>
              <a:latin typeface="Calibri"/>
              <a:ea typeface="Calibri"/>
              <a:cs typeface="Calibri"/>
              <a:sym typeface="Calibri"/>
            </a:endParaRPr>
          </a:p>
        </p:txBody>
      </p:sp>
      <p:sp>
        <p:nvSpPr>
          <p:cNvPr id="673" name="Google Shape;673;p13"/>
          <p:cNvSpPr/>
          <p:nvPr/>
        </p:nvSpPr>
        <p:spPr>
          <a:xfrm>
            <a:off x="292608" y="2743200"/>
            <a:ext cx="4114800" cy="256032"/>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4" name="Google Shape;674;p13"/>
          <p:cNvSpPr/>
          <p:nvPr/>
        </p:nvSpPr>
        <p:spPr>
          <a:xfrm>
            <a:off x="347472" y="2788920"/>
            <a:ext cx="89313" cy="164592"/>
          </a:xfrm>
          <a:prstGeom prst="rect">
            <a:avLst/>
          </a:prstGeom>
          <a:solidFill>
            <a:srgbClr val="F59E0B">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5" name="Google Shape;675;p13"/>
          <p:cNvSpPr/>
          <p:nvPr/>
        </p:nvSpPr>
        <p:spPr>
          <a:xfrm>
            <a:off x="384048" y="2779776"/>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France</a:t>
            </a:r>
            <a:endParaRPr sz="900">
              <a:solidFill>
                <a:schemeClr val="dk1"/>
              </a:solidFill>
              <a:latin typeface="Calibri"/>
              <a:ea typeface="Calibri"/>
              <a:cs typeface="Calibri"/>
              <a:sym typeface="Calibri"/>
            </a:endParaRPr>
          </a:p>
        </p:txBody>
      </p:sp>
      <p:sp>
        <p:nvSpPr>
          <p:cNvPr id="676" name="Google Shape;676;p13"/>
          <p:cNvSpPr/>
          <p:nvPr/>
        </p:nvSpPr>
        <p:spPr>
          <a:xfrm>
            <a:off x="3291840" y="2779776"/>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9E0B"/>
              </a:buClr>
              <a:buSzPts val="900"/>
              <a:buFont typeface="Calibri"/>
              <a:buNone/>
            </a:pPr>
            <a:r>
              <a:rPr lang="en-US" sz="900" b="1">
                <a:solidFill>
                  <a:srgbClr val="F59E0B"/>
                </a:solidFill>
                <a:latin typeface="Calibri"/>
                <a:ea typeface="Calibri"/>
                <a:cs typeface="Calibri"/>
                <a:sym typeface="Calibri"/>
              </a:rPr>
              <a:t>2.4%</a:t>
            </a:r>
            <a:endParaRPr sz="900">
              <a:solidFill>
                <a:schemeClr val="dk1"/>
              </a:solidFill>
              <a:latin typeface="Calibri"/>
              <a:ea typeface="Calibri"/>
              <a:cs typeface="Calibri"/>
              <a:sym typeface="Calibri"/>
            </a:endParaRPr>
          </a:p>
        </p:txBody>
      </p:sp>
      <p:sp>
        <p:nvSpPr>
          <p:cNvPr id="677" name="Google Shape;677;p13"/>
          <p:cNvSpPr/>
          <p:nvPr/>
        </p:nvSpPr>
        <p:spPr>
          <a:xfrm>
            <a:off x="3877056" y="2779776"/>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£103,255</a:t>
            </a:r>
            <a:endParaRPr sz="800">
              <a:solidFill>
                <a:schemeClr val="dk1"/>
              </a:solidFill>
              <a:latin typeface="Calibri"/>
              <a:ea typeface="Calibri"/>
              <a:cs typeface="Calibri"/>
              <a:sym typeface="Calibri"/>
            </a:endParaRPr>
          </a:p>
        </p:txBody>
      </p:sp>
      <p:sp>
        <p:nvSpPr>
          <p:cNvPr id="678" name="Google Shape;678;p13"/>
          <p:cNvSpPr/>
          <p:nvPr/>
        </p:nvSpPr>
        <p:spPr>
          <a:xfrm>
            <a:off x="292608" y="3035808"/>
            <a:ext cx="4114800" cy="256032"/>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9" name="Google Shape;679;p13"/>
          <p:cNvSpPr/>
          <p:nvPr/>
        </p:nvSpPr>
        <p:spPr>
          <a:xfrm>
            <a:off x="347472" y="3081528"/>
            <a:ext cx="33493" cy="164592"/>
          </a:xfrm>
          <a:prstGeom prst="rect">
            <a:avLst/>
          </a:prstGeom>
          <a:solidFill>
            <a:srgbClr val="22C55E">
              <a:alpha val="60000"/>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0" name="Google Shape;680;p13"/>
          <p:cNvSpPr/>
          <p:nvPr/>
        </p:nvSpPr>
        <p:spPr>
          <a:xfrm>
            <a:off x="384048" y="3072384"/>
            <a:ext cx="20116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Australia</a:t>
            </a:r>
            <a:endParaRPr sz="900">
              <a:solidFill>
                <a:schemeClr val="dk1"/>
              </a:solidFill>
              <a:latin typeface="Calibri"/>
              <a:ea typeface="Calibri"/>
              <a:cs typeface="Calibri"/>
              <a:sym typeface="Calibri"/>
            </a:endParaRPr>
          </a:p>
        </p:txBody>
      </p:sp>
      <p:sp>
        <p:nvSpPr>
          <p:cNvPr id="681" name="Google Shape;681;p13"/>
          <p:cNvSpPr/>
          <p:nvPr/>
        </p:nvSpPr>
        <p:spPr>
          <a:xfrm>
            <a:off x="3291840" y="3072384"/>
            <a:ext cx="566928"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22C55E"/>
              </a:buClr>
              <a:buSzPts val="900"/>
              <a:buFont typeface="Calibri"/>
              <a:buNone/>
            </a:pPr>
            <a:r>
              <a:rPr lang="en-US" sz="900" b="1">
                <a:solidFill>
                  <a:srgbClr val="22C55E"/>
                </a:solidFill>
                <a:latin typeface="Calibri"/>
                <a:ea typeface="Calibri"/>
                <a:cs typeface="Calibri"/>
                <a:sym typeface="Calibri"/>
              </a:rPr>
              <a:t>0.9%</a:t>
            </a:r>
            <a:endParaRPr sz="900">
              <a:solidFill>
                <a:schemeClr val="dk1"/>
              </a:solidFill>
              <a:latin typeface="Calibri"/>
              <a:ea typeface="Calibri"/>
              <a:cs typeface="Calibri"/>
              <a:sym typeface="Calibri"/>
            </a:endParaRPr>
          </a:p>
        </p:txBody>
      </p:sp>
      <p:sp>
        <p:nvSpPr>
          <p:cNvPr id="682" name="Google Shape;682;p13"/>
          <p:cNvSpPr/>
          <p:nvPr/>
        </p:nvSpPr>
        <p:spPr>
          <a:xfrm>
            <a:off x="3877056" y="3072384"/>
            <a:ext cx="50292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00"/>
              <a:buFont typeface="Calibri"/>
              <a:buNone/>
            </a:pPr>
            <a:r>
              <a:rPr lang="en-US" sz="800">
                <a:solidFill>
                  <a:srgbClr val="94A3B8"/>
                </a:solidFill>
                <a:latin typeface="Calibri"/>
                <a:ea typeface="Calibri"/>
                <a:cs typeface="Calibri"/>
                <a:sym typeface="Calibri"/>
              </a:rPr>
              <a:t>£38,702</a:t>
            </a:r>
            <a:endParaRPr sz="800">
              <a:solidFill>
                <a:schemeClr val="dk1"/>
              </a:solidFill>
              <a:latin typeface="Calibri"/>
              <a:ea typeface="Calibri"/>
              <a:cs typeface="Calibri"/>
              <a:sym typeface="Calibri"/>
            </a:endParaRPr>
          </a:p>
        </p:txBody>
      </p:sp>
      <p:sp>
        <p:nvSpPr>
          <p:cNvPr id="683" name="Google Shape;683;p13"/>
          <p:cNvSpPr/>
          <p:nvPr/>
        </p:nvSpPr>
        <p:spPr>
          <a:xfrm>
            <a:off x="274320" y="3319272"/>
            <a:ext cx="4114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UK = 85.6% revenue  |  Germany, France &amp; EIRE = key intl growth markets  |  37 countries served</a:t>
            </a:r>
            <a:endParaRPr sz="900">
              <a:solidFill>
                <a:schemeClr val="dk1"/>
              </a:solidFill>
              <a:latin typeface="Calibri"/>
              <a:ea typeface="Calibri"/>
              <a:cs typeface="Calibri"/>
              <a:sym typeface="Calibri"/>
            </a:endParaRPr>
          </a:p>
        </p:txBody>
      </p:sp>
      <p:sp>
        <p:nvSpPr>
          <p:cNvPr id="684" name="Google Shape;684;p13"/>
          <p:cNvSpPr/>
          <p:nvPr/>
        </p:nvSpPr>
        <p:spPr>
          <a:xfrm>
            <a:off x="4617720" y="1170432"/>
            <a:ext cx="4251960" cy="2057400"/>
          </a:xfrm>
          <a:prstGeom prst="rect">
            <a:avLst/>
          </a:prstGeom>
          <a:solidFill>
            <a:srgbClr val="0D1B2A"/>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5" name="Google Shape;685;p13"/>
          <p:cNvSpPr/>
          <p:nvPr/>
        </p:nvSpPr>
        <p:spPr>
          <a:xfrm>
            <a:off x="4709160" y="1261872"/>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CORRELATION MATRIX</a:t>
            </a:r>
            <a:endParaRPr sz="1000">
              <a:solidFill>
                <a:schemeClr val="dk1"/>
              </a:solidFill>
              <a:latin typeface="Calibri"/>
              <a:ea typeface="Calibri"/>
              <a:cs typeface="Calibri"/>
              <a:sym typeface="Calibri"/>
            </a:endParaRPr>
          </a:p>
        </p:txBody>
      </p:sp>
      <p:sp>
        <p:nvSpPr>
          <p:cNvPr id="686" name="Google Shape;686;p13"/>
          <p:cNvSpPr/>
          <p:nvPr/>
        </p:nvSpPr>
        <p:spPr>
          <a:xfrm>
            <a:off x="5376672" y="16367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b="1">
                <a:solidFill>
                  <a:srgbClr val="94A3B8"/>
                </a:solidFill>
                <a:latin typeface="Calibri"/>
                <a:ea typeface="Calibri"/>
                <a:cs typeface="Calibri"/>
                <a:sym typeface="Calibri"/>
              </a:rPr>
              <a:t>Qty</a:t>
            </a:r>
            <a:endParaRPr sz="800">
              <a:solidFill>
                <a:schemeClr val="dk1"/>
              </a:solidFill>
              <a:latin typeface="Calibri"/>
              <a:ea typeface="Calibri"/>
              <a:cs typeface="Calibri"/>
              <a:sym typeface="Calibri"/>
            </a:endParaRPr>
          </a:p>
        </p:txBody>
      </p:sp>
      <p:sp>
        <p:nvSpPr>
          <p:cNvPr id="687" name="Google Shape;687;p13"/>
          <p:cNvSpPr/>
          <p:nvPr/>
        </p:nvSpPr>
        <p:spPr>
          <a:xfrm>
            <a:off x="6089904" y="16367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b="1">
                <a:solidFill>
                  <a:srgbClr val="94A3B8"/>
                </a:solidFill>
                <a:latin typeface="Calibri"/>
                <a:ea typeface="Calibri"/>
                <a:cs typeface="Calibri"/>
                <a:sym typeface="Calibri"/>
              </a:rPr>
              <a:t>Price</a:t>
            </a:r>
            <a:endParaRPr sz="800">
              <a:solidFill>
                <a:schemeClr val="dk1"/>
              </a:solidFill>
              <a:latin typeface="Calibri"/>
              <a:ea typeface="Calibri"/>
              <a:cs typeface="Calibri"/>
              <a:sym typeface="Calibri"/>
            </a:endParaRPr>
          </a:p>
        </p:txBody>
      </p:sp>
      <p:sp>
        <p:nvSpPr>
          <p:cNvPr id="688" name="Google Shape;688;p13"/>
          <p:cNvSpPr/>
          <p:nvPr/>
        </p:nvSpPr>
        <p:spPr>
          <a:xfrm>
            <a:off x="6803136" y="16367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b="1">
                <a:solidFill>
                  <a:srgbClr val="94A3B8"/>
                </a:solidFill>
                <a:latin typeface="Calibri"/>
                <a:ea typeface="Calibri"/>
                <a:cs typeface="Calibri"/>
                <a:sym typeface="Calibri"/>
              </a:rPr>
              <a:t>Revenue</a:t>
            </a:r>
            <a:endParaRPr sz="800">
              <a:solidFill>
                <a:schemeClr val="dk1"/>
              </a:solidFill>
              <a:latin typeface="Calibri"/>
              <a:ea typeface="Calibri"/>
              <a:cs typeface="Calibri"/>
              <a:sym typeface="Calibri"/>
            </a:endParaRPr>
          </a:p>
        </p:txBody>
      </p:sp>
      <p:sp>
        <p:nvSpPr>
          <p:cNvPr id="689" name="Google Shape;689;p13"/>
          <p:cNvSpPr/>
          <p:nvPr/>
        </p:nvSpPr>
        <p:spPr>
          <a:xfrm>
            <a:off x="7516368" y="16367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b="1">
                <a:solidFill>
                  <a:srgbClr val="94A3B8"/>
                </a:solidFill>
                <a:latin typeface="Calibri"/>
                <a:ea typeface="Calibri"/>
                <a:cs typeface="Calibri"/>
                <a:sym typeface="Calibri"/>
              </a:rPr>
              <a:t>Month</a:t>
            </a:r>
            <a:endParaRPr sz="800">
              <a:solidFill>
                <a:schemeClr val="dk1"/>
              </a:solidFill>
              <a:latin typeface="Calibri"/>
              <a:ea typeface="Calibri"/>
              <a:cs typeface="Calibri"/>
              <a:sym typeface="Calibri"/>
            </a:endParaRPr>
          </a:p>
        </p:txBody>
      </p:sp>
      <p:sp>
        <p:nvSpPr>
          <p:cNvPr id="690" name="Google Shape;690;p13"/>
          <p:cNvSpPr/>
          <p:nvPr/>
        </p:nvSpPr>
        <p:spPr>
          <a:xfrm>
            <a:off x="8229600" y="16367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US" sz="800" b="1">
                <a:solidFill>
                  <a:srgbClr val="94A3B8"/>
                </a:solidFill>
                <a:latin typeface="Calibri"/>
                <a:ea typeface="Calibri"/>
                <a:cs typeface="Calibri"/>
                <a:sym typeface="Calibri"/>
              </a:rPr>
              <a:t>Hour</a:t>
            </a:r>
            <a:endParaRPr sz="800">
              <a:solidFill>
                <a:schemeClr val="dk1"/>
              </a:solidFill>
              <a:latin typeface="Calibri"/>
              <a:ea typeface="Calibri"/>
              <a:cs typeface="Calibri"/>
              <a:sym typeface="Calibri"/>
            </a:endParaRPr>
          </a:p>
        </p:txBody>
      </p:sp>
      <p:sp>
        <p:nvSpPr>
          <p:cNvPr id="691" name="Google Shape;691;p13"/>
          <p:cNvSpPr/>
          <p:nvPr/>
        </p:nvSpPr>
        <p:spPr>
          <a:xfrm>
            <a:off x="4663440"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b="1">
                <a:solidFill>
                  <a:srgbClr val="94A3B8"/>
                </a:solidFill>
                <a:latin typeface="Calibri"/>
                <a:ea typeface="Calibri"/>
                <a:cs typeface="Calibri"/>
                <a:sym typeface="Calibri"/>
              </a:rPr>
              <a:t>Quantity</a:t>
            </a:r>
            <a:endParaRPr sz="900">
              <a:solidFill>
                <a:schemeClr val="dk1"/>
              </a:solidFill>
              <a:latin typeface="Calibri"/>
              <a:ea typeface="Calibri"/>
              <a:cs typeface="Calibri"/>
              <a:sym typeface="Calibri"/>
            </a:endParaRPr>
          </a:p>
        </p:txBody>
      </p:sp>
      <p:sp>
        <p:nvSpPr>
          <p:cNvPr id="692" name="Google Shape;692;p13"/>
          <p:cNvSpPr/>
          <p:nvPr/>
        </p:nvSpPr>
        <p:spPr>
          <a:xfrm>
            <a:off x="5376672" y="188366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3" name="Google Shape;693;p13"/>
          <p:cNvSpPr/>
          <p:nvPr/>
        </p:nvSpPr>
        <p:spPr>
          <a:xfrm>
            <a:off x="5376672"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1.000</a:t>
            </a:r>
            <a:endParaRPr sz="900">
              <a:solidFill>
                <a:schemeClr val="dk1"/>
              </a:solidFill>
              <a:latin typeface="Calibri"/>
              <a:ea typeface="Calibri"/>
              <a:cs typeface="Calibri"/>
              <a:sym typeface="Calibri"/>
            </a:endParaRPr>
          </a:p>
        </p:txBody>
      </p:sp>
      <p:sp>
        <p:nvSpPr>
          <p:cNvPr id="694" name="Google Shape;694;p13"/>
          <p:cNvSpPr/>
          <p:nvPr/>
        </p:nvSpPr>
        <p:spPr>
          <a:xfrm>
            <a:off x="6089904" y="188366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5" name="Google Shape;695;p13"/>
          <p:cNvSpPr/>
          <p:nvPr/>
        </p:nvSpPr>
        <p:spPr>
          <a:xfrm>
            <a:off x="6089904"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-0.350</a:t>
            </a:r>
            <a:endParaRPr sz="900">
              <a:solidFill>
                <a:schemeClr val="dk1"/>
              </a:solidFill>
              <a:latin typeface="Calibri"/>
              <a:ea typeface="Calibri"/>
              <a:cs typeface="Calibri"/>
              <a:sym typeface="Calibri"/>
            </a:endParaRPr>
          </a:p>
        </p:txBody>
      </p:sp>
      <p:sp>
        <p:nvSpPr>
          <p:cNvPr id="696" name="Google Shape;696;p13"/>
          <p:cNvSpPr/>
          <p:nvPr/>
        </p:nvSpPr>
        <p:spPr>
          <a:xfrm>
            <a:off x="6803136" y="188366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7" name="Google Shape;697;p13"/>
          <p:cNvSpPr/>
          <p:nvPr/>
        </p:nvSpPr>
        <p:spPr>
          <a:xfrm>
            <a:off x="6803136"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0.513</a:t>
            </a:r>
            <a:endParaRPr sz="900">
              <a:solidFill>
                <a:schemeClr val="dk1"/>
              </a:solidFill>
              <a:latin typeface="Calibri"/>
              <a:ea typeface="Calibri"/>
              <a:cs typeface="Calibri"/>
              <a:sym typeface="Calibri"/>
            </a:endParaRPr>
          </a:p>
        </p:txBody>
      </p:sp>
      <p:sp>
        <p:nvSpPr>
          <p:cNvPr id="698" name="Google Shape;698;p13"/>
          <p:cNvSpPr/>
          <p:nvPr/>
        </p:nvSpPr>
        <p:spPr>
          <a:xfrm>
            <a:off x="7516368" y="188366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9" name="Google Shape;699;p13"/>
          <p:cNvSpPr/>
          <p:nvPr/>
        </p:nvSpPr>
        <p:spPr>
          <a:xfrm>
            <a:off x="7516368"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-0.043</a:t>
            </a:r>
            <a:endParaRPr sz="900">
              <a:solidFill>
                <a:schemeClr val="dk1"/>
              </a:solidFill>
              <a:latin typeface="Calibri"/>
              <a:ea typeface="Calibri"/>
              <a:cs typeface="Calibri"/>
              <a:sym typeface="Calibri"/>
            </a:endParaRPr>
          </a:p>
        </p:txBody>
      </p:sp>
      <p:sp>
        <p:nvSpPr>
          <p:cNvPr id="700" name="Google Shape;700;p13"/>
          <p:cNvSpPr/>
          <p:nvPr/>
        </p:nvSpPr>
        <p:spPr>
          <a:xfrm>
            <a:off x="8229600" y="188366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1" name="Google Shape;701;p13"/>
          <p:cNvSpPr/>
          <p:nvPr/>
        </p:nvSpPr>
        <p:spPr>
          <a:xfrm>
            <a:off x="8229600" y="191109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-0.142</a:t>
            </a:r>
            <a:endParaRPr sz="900">
              <a:solidFill>
                <a:schemeClr val="dk1"/>
              </a:solidFill>
              <a:latin typeface="Calibri"/>
              <a:ea typeface="Calibri"/>
              <a:cs typeface="Calibri"/>
              <a:sym typeface="Calibri"/>
            </a:endParaRPr>
          </a:p>
        </p:txBody>
      </p:sp>
      <p:sp>
        <p:nvSpPr>
          <p:cNvPr id="702" name="Google Shape;702;p13"/>
          <p:cNvSpPr/>
          <p:nvPr/>
        </p:nvSpPr>
        <p:spPr>
          <a:xfrm>
            <a:off x="4663440"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b="1">
                <a:solidFill>
                  <a:srgbClr val="94A3B8"/>
                </a:solidFill>
                <a:latin typeface="Calibri"/>
                <a:ea typeface="Calibri"/>
                <a:cs typeface="Calibri"/>
                <a:sym typeface="Calibri"/>
              </a:rPr>
              <a:t>Price</a:t>
            </a:r>
            <a:endParaRPr sz="900">
              <a:solidFill>
                <a:schemeClr val="dk1"/>
              </a:solidFill>
              <a:latin typeface="Calibri"/>
              <a:ea typeface="Calibri"/>
              <a:cs typeface="Calibri"/>
              <a:sym typeface="Calibri"/>
            </a:endParaRPr>
          </a:p>
        </p:txBody>
      </p:sp>
      <p:sp>
        <p:nvSpPr>
          <p:cNvPr id="703" name="Google Shape;703;p13"/>
          <p:cNvSpPr/>
          <p:nvPr/>
        </p:nvSpPr>
        <p:spPr>
          <a:xfrm>
            <a:off x="5376672" y="215798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4" name="Google Shape;704;p13"/>
          <p:cNvSpPr/>
          <p:nvPr/>
        </p:nvSpPr>
        <p:spPr>
          <a:xfrm>
            <a:off x="5376672"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-0.350</a:t>
            </a:r>
            <a:endParaRPr sz="900">
              <a:solidFill>
                <a:schemeClr val="dk1"/>
              </a:solidFill>
              <a:latin typeface="Calibri"/>
              <a:ea typeface="Calibri"/>
              <a:cs typeface="Calibri"/>
              <a:sym typeface="Calibri"/>
            </a:endParaRPr>
          </a:p>
        </p:txBody>
      </p:sp>
      <p:sp>
        <p:nvSpPr>
          <p:cNvPr id="705" name="Google Shape;705;p13"/>
          <p:cNvSpPr/>
          <p:nvPr/>
        </p:nvSpPr>
        <p:spPr>
          <a:xfrm>
            <a:off x="6089904" y="215798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p13"/>
          <p:cNvSpPr/>
          <p:nvPr/>
        </p:nvSpPr>
        <p:spPr>
          <a:xfrm>
            <a:off x="6089904"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1.000</a:t>
            </a:r>
            <a:endParaRPr sz="900">
              <a:solidFill>
                <a:schemeClr val="dk1"/>
              </a:solidFill>
              <a:latin typeface="Calibri"/>
              <a:ea typeface="Calibri"/>
              <a:cs typeface="Calibri"/>
              <a:sym typeface="Calibri"/>
            </a:endParaRPr>
          </a:p>
        </p:txBody>
      </p:sp>
      <p:sp>
        <p:nvSpPr>
          <p:cNvPr id="707" name="Google Shape;707;p13"/>
          <p:cNvSpPr/>
          <p:nvPr/>
        </p:nvSpPr>
        <p:spPr>
          <a:xfrm>
            <a:off x="6803136" y="215798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8" name="Google Shape;708;p13"/>
          <p:cNvSpPr/>
          <p:nvPr/>
        </p:nvSpPr>
        <p:spPr>
          <a:xfrm>
            <a:off x="6803136"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0.358</a:t>
            </a:r>
            <a:endParaRPr sz="900">
              <a:solidFill>
                <a:schemeClr val="dk1"/>
              </a:solidFill>
              <a:latin typeface="Calibri"/>
              <a:ea typeface="Calibri"/>
              <a:cs typeface="Calibri"/>
              <a:sym typeface="Calibri"/>
            </a:endParaRPr>
          </a:p>
        </p:txBody>
      </p:sp>
      <p:sp>
        <p:nvSpPr>
          <p:cNvPr id="709" name="Google Shape;709;p13"/>
          <p:cNvSpPr/>
          <p:nvPr/>
        </p:nvSpPr>
        <p:spPr>
          <a:xfrm>
            <a:off x="7516368" y="215798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0" name="Google Shape;710;p13"/>
          <p:cNvSpPr/>
          <p:nvPr/>
        </p:nvSpPr>
        <p:spPr>
          <a:xfrm>
            <a:off x="7516368"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-0.003</a:t>
            </a:r>
            <a:endParaRPr sz="900">
              <a:solidFill>
                <a:schemeClr val="dk1"/>
              </a:solidFill>
              <a:latin typeface="Calibri"/>
              <a:ea typeface="Calibri"/>
              <a:cs typeface="Calibri"/>
              <a:sym typeface="Calibri"/>
            </a:endParaRPr>
          </a:p>
        </p:txBody>
      </p:sp>
      <p:sp>
        <p:nvSpPr>
          <p:cNvPr id="711" name="Google Shape;711;p13"/>
          <p:cNvSpPr/>
          <p:nvPr/>
        </p:nvSpPr>
        <p:spPr>
          <a:xfrm>
            <a:off x="8229600" y="215798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2" name="Google Shape;712;p13"/>
          <p:cNvSpPr/>
          <p:nvPr/>
        </p:nvSpPr>
        <p:spPr>
          <a:xfrm>
            <a:off x="8229600" y="218541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-0.011</a:t>
            </a:r>
            <a:endParaRPr sz="900">
              <a:solidFill>
                <a:schemeClr val="dk1"/>
              </a:solidFill>
              <a:latin typeface="Calibri"/>
              <a:ea typeface="Calibri"/>
              <a:cs typeface="Calibri"/>
              <a:sym typeface="Calibri"/>
            </a:endParaRPr>
          </a:p>
        </p:txBody>
      </p:sp>
      <p:sp>
        <p:nvSpPr>
          <p:cNvPr id="713" name="Google Shape;713;p13"/>
          <p:cNvSpPr/>
          <p:nvPr/>
        </p:nvSpPr>
        <p:spPr>
          <a:xfrm>
            <a:off x="4663440"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b="1">
                <a:solidFill>
                  <a:srgbClr val="94A3B8"/>
                </a:solidFill>
                <a:latin typeface="Calibri"/>
                <a:ea typeface="Calibri"/>
                <a:cs typeface="Calibri"/>
                <a:sym typeface="Calibri"/>
              </a:rPr>
              <a:t>Revenue</a:t>
            </a:r>
            <a:endParaRPr sz="900">
              <a:solidFill>
                <a:schemeClr val="dk1"/>
              </a:solidFill>
              <a:latin typeface="Calibri"/>
              <a:ea typeface="Calibri"/>
              <a:cs typeface="Calibri"/>
              <a:sym typeface="Calibri"/>
            </a:endParaRPr>
          </a:p>
        </p:txBody>
      </p:sp>
      <p:sp>
        <p:nvSpPr>
          <p:cNvPr id="714" name="Google Shape;714;p13"/>
          <p:cNvSpPr/>
          <p:nvPr/>
        </p:nvSpPr>
        <p:spPr>
          <a:xfrm>
            <a:off x="5376672" y="243230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5" name="Google Shape;715;p13"/>
          <p:cNvSpPr/>
          <p:nvPr/>
        </p:nvSpPr>
        <p:spPr>
          <a:xfrm>
            <a:off x="5376672"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0.513</a:t>
            </a:r>
            <a:endParaRPr sz="900">
              <a:solidFill>
                <a:schemeClr val="dk1"/>
              </a:solidFill>
              <a:latin typeface="Calibri"/>
              <a:ea typeface="Calibri"/>
              <a:cs typeface="Calibri"/>
              <a:sym typeface="Calibri"/>
            </a:endParaRPr>
          </a:p>
        </p:txBody>
      </p:sp>
      <p:sp>
        <p:nvSpPr>
          <p:cNvPr id="716" name="Google Shape;716;p13"/>
          <p:cNvSpPr/>
          <p:nvPr/>
        </p:nvSpPr>
        <p:spPr>
          <a:xfrm>
            <a:off x="6089904" y="243230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7" name="Google Shape;717;p13"/>
          <p:cNvSpPr/>
          <p:nvPr/>
        </p:nvSpPr>
        <p:spPr>
          <a:xfrm>
            <a:off x="6089904"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0.358</a:t>
            </a:r>
            <a:endParaRPr sz="900">
              <a:solidFill>
                <a:schemeClr val="dk1"/>
              </a:solidFill>
              <a:latin typeface="Calibri"/>
              <a:ea typeface="Calibri"/>
              <a:cs typeface="Calibri"/>
              <a:sym typeface="Calibri"/>
            </a:endParaRPr>
          </a:p>
        </p:txBody>
      </p:sp>
      <p:sp>
        <p:nvSpPr>
          <p:cNvPr id="718" name="Google Shape;718;p13"/>
          <p:cNvSpPr/>
          <p:nvPr/>
        </p:nvSpPr>
        <p:spPr>
          <a:xfrm>
            <a:off x="6803136" y="243230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9" name="Google Shape;719;p13"/>
          <p:cNvSpPr/>
          <p:nvPr/>
        </p:nvSpPr>
        <p:spPr>
          <a:xfrm>
            <a:off x="6803136"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1.000</a:t>
            </a:r>
            <a:endParaRPr sz="900">
              <a:solidFill>
                <a:schemeClr val="dk1"/>
              </a:solidFill>
              <a:latin typeface="Calibri"/>
              <a:ea typeface="Calibri"/>
              <a:cs typeface="Calibri"/>
              <a:sym typeface="Calibri"/>
            </a:endParaRPr>
          </a:p>
        </p:txBody>
      </p:sp>
      <p:sp>
        <p:nvSpPr>
          <p:cNvPr id="720" name="Google Shape;720;p13"/>
          <p:cNvSpPr/>
          <p:nvPr/>
        </p:nvSpPr>
        <p:spPr>
          <a:xfrm>
            <a:off x="7516368" y="243230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13"/>
          <p:cNvSpPr/>
          <p:nvPr/>
        </p:nvSpPr>
        <p:spPr>
          <a:xfrm>
            <a:off x="7516368"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-0.027</a:t>
            </a:r>
            <a:endParaRPr sz="900">
              <a:solidFill>
                <a:schemeClr val="dk1"/>
              </a:solidFill>
              <a:latin typeface="Calibri"/>
              <a:ea typeface="Calibri"/>
              <a:cs typeface="Calibri"/>
              <a:sym typeface="Calibri"/>
            </a:endParaRPr>
          </a:p>
        </p:txBody>
      </p:sp>
      <p:sp>
        <p:nvSpPr>
          <p:cNvPr id="722" name="Google Shape;722;p13"/>
          <p:cNvSpPr/>
          <p:nvPr/>
        </p:nvSpPr>
        <p:spPr>
          <a:xfrm>
            <a:off x="8229600" y="243230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3" name="Google Shape;723;p13"/>
          <p:cNvSpPr/>
          <p:nvPr/>
        </p:nvSpPr>
        <p:spPr>
          <a:xfrm>
            <a:off x="8229600" y="245973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-0.133</a:t>
            </a:r>
            <a:endParaRPr sz="900">
              <a:solidFill>
                <a:schemeClr val="dk1"/>
              </a:solidFill>
              <a:latin typeface="Calibri"/>
              <a:ea typeface="Calibri"/>
              <a:cs typeface="Calibri"/>
              <a:sym typeface="Calibri"/>
            </a:endParaRPr>
          </a:p>
        </p:txBody>
      </p:sp>
      <p:sp>
        <p:nvSpPr>
          <p:cNvPr id="724" name="Google Shape;724;p13"/>
          <p:cNvSpPr/>
          <p:nvPr/>
        </p:nvSpPr>
        <p:spPr>
          <a:xfrm>
            <a:off x="4663440"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b="1">
                <a:solidFill>
                  <a:srgbClr val="94A3B8"/>
                </a:solidFill>
                <a:latin typeface="Calibri"/>
                <a:ea typeface="Calibri"/>
                <a:cs typeface="Calibri"/>
                <a:sym typeface="Calibri"/>
              </a:rPr>
              <a:t>Month</a:t>
            </a:r>
            <a:endParaRPr sz="900">
              <a:solidFill>
                <a:schemeClr val="dk1"/>
              </a:solidFill>
              <a:latin typeface="Calibri"/>
              <a:ea typeface="Calibri"/>
              <a:cs typeface="Calibri"/>
              <a:sym typeface="Calibri"/>
            </a:endParaRPr>
          </a:p>
        </p:txBody>
      </p:sp>
      <p:sp>
        <p:nvSpPr>
          <p:cNvPr id="725" name="Google Shape;725;p13"/>
          <p:cNvSpPr/>
          <p:nvPr/>
        </p:nvSpPr>
        <p:spPr>
          <a:xfrm>
            <a:off x="5376672" y="270662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6" name="Google Shape;726;p13"/>
          <p:cNvSpPr/>
          <p:nvPr/>
        </p:nvSpPr>
        <p:spPr>
          <a:xfrm>
            <a:off x="5376672"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-0.043</a:t>
            </a:r>
            <a:endParaRPr sz="900">
              <a:solidFill>
                <a:schemeClr val="dk1"/>
              </a:solidFill>
              <a:latin typeface="Calibri"/>
              <a:ea typeface="Calibri"/>
              <a:cs typeface="Calibri"/>
              <a:sym typeface="Calibri"/>
            </a:endParaRPr>
          </a:p>
        </p:txBody>
      </p:sp>
      <p:sp>
        <p:nvSpPr>
          <p:cNvPr id="727" name="Google Shape;727;p13"/>
          <p:cNvSpPr/>
          <p:nvPr/>
        </p:nvSpPr>
        <p:spPr>
          <a:xfrm>
            <a:off x="6089904" y="270662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8" name="Google Shape;728;p13"/>
          <p:cNvSpPr/>
          <p:nvPr/>
        </p:nvSpPr>
        <p:spPr>
          <a:xfrm>
            <a:off x="6089904"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-0.003</a:t>
            </a:r>
            <a:endParaRPr sz="900">
              <a:solidFill>
                <a:schemeClr val="dk1"/>
              </a:solidFill>
              <a:latin typeface="Calibri"/>
              <a:ea typeface="Calibri"/>
              <a:cs typeface="Calibri"/>
              <a:sym typeface="Calibri"/>
            </a:endParaRPr>
          </a:p>
        </p:txBody>
      </p:sp>
      <p:sp>
        <p:nvSpPr>
          <p:cNvPr id="729" name="Google Shape;729;p13"/>
          <p:cNvSpPr/>
          <p:nvPr/>
        </p:nvSpPr>
        <p:spPr>
          <a:xfrm>
            <a:off x="6803136" y="270662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0" name="Google Shape;730;p13"/>
          <p:cNvSpPr/>
          <p:nvPr/>
        </p:nvSpPr>
        <p:spPr>
          <a:xfrm>
            <a:off x="6803136"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-0.027</a:t>
            </a:r>
            <a:endParaRPr sz="900">
              <a:solidFill>
                <a:schemeClr val="dk1"/>
              </a:solidFill>
              <a:latin typeface="Calibri"/>
              <a:ea typeface="Calibri"/>
              <a:cs typeface="Calibri"/>
              <a:sym typeface="Calibri"/>
            </a:endParaRPr>
          </a:p>
        </p:txBody>
      </p:sp>
      <p:sp>
        <p:nvSpPr>
          <p:cNvPr id="731" name="Google Shape;731;p13"/>
          <p:cNvSpPr/>
          <p:nvPr/>
        </p:nvSpPr>
        <p:spPr>
          <a:xfrm>
            <a:off x="7516368" y="270662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2" name="Google Shape;732;p13"/>
          <p:cNvSpPr/>
          <p:nvPr/>
        </p:nvSpPr>
        <p:spPr>
          <a:xfrm>
            <a:off x="7516368"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1.000</a:t>
            </a:r>
            <a:endParaRPr sz="900">
              <a:solidFill>
                <a:schemeClr val="dk1"/>
              </a:solidFill>
              <a:latin typeface="Calibri"/>
              <a:ea typeface="Calibri"/>
              <a:cs typeface="Calibri"/>
              <a:sym typeface="Calibri"/>
            </a:endParaRPr>
          </a:p>
        </p:txBody>
      </p:sp>
      <p:sp>
        <p:nvSpPr>
          <p:cNvPr id="733" name="Google Shape;733;p13"/>
          <p:cNvSpPr/>
          <p:nvPr/>
        </p:nvSpPr>
        <p:spPr>
          <a:xfrm>
            <a:off x="8229600" y="2706624"/>
            <a:ext cx="658368" cy="237744"/>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4" name="Google Shape;734;p13"/>
          <p:cNvSpPr/>
          <p:nvPr/>
        </p:nvSpPr>
        <p:spPr>
          <a:xfrm>
            <a:off x="8229600" y="273405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0.054</a:t>
            </a:r>
            <a:endParaRPr sz="900">
              <a:solidFill>
                <a:schemeClr val="dk1"/>
              </a:solidFill>
              <a:latin typeface="Calibri"/>
              <a:ea typeface="Calibri"/>
              <a:cs typeface="Calibri"/>
              <a:sym typeface="Calibri"/>
            </a:endParaRPr>
          </a:p>
        </p:txBody>
      </p:sp>
      <p:sp>
        <p:nvSpPr>
          <p:cNvPr id="735" name="Google Shape;735;p13"/>
          <p:cNvSpPr/>
          <p:nvPr/>
        </p:nvSpPr>
        <p:spPr>
          <a:xfrm>
            <a:off x="4663440"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b="1">
                <a:solidFill>
                  <a:srgbClr val="94A3B8"/>
                </a:solidFill>
                <a:latin typeface="Calibri"/>
                <a:ea typeface="Calibri"/>
                <a:cs typeface="Calibri"/>
                <a:sym typeface="Calibri"/>
              </a:rPr>
              <a:t>Hour</a:t>
            </a:r>
            <a:endParaRPr sz="900">
              <a:solidFill>
                <a:schemeClr val="dk1"/>
              </a:solidFill>
              <a:latin typeface="Calibri"/>
              <a:ea typeface="Calibri"/>
              <a:cs typeface="Calibri"/>
              <a:sym typeface="Calibri"/>
            </a:endParaRPr>
          </a:p>
        </p:txBody>
      </p:sp>
      <p:sp>
        <p:nvSpPr>
          <p:cNvPr id="736" name="Google Shape;736;p13"/>
          <p:cNvSpPr/>
          <p:nvPr/>
        </p:nvSpPr>
        <p:spPr>
          <a:xfrm>
            <a:off x="5376672" y="298094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7" name="Google Shape;737;p13"/>
          <p:cNvSpPr/>
          <p:nvPr/>
        </p:nvSpPr>
        <p:spPr>
          <a:xfrm>
            <a:off x="5376672"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-0.142</a:t>
            </a:r>
            <a:endParaRPr sz="900">
              <a:solidFill>
                <a:schemeClr val="dk1"/>
              </a:solidFill>
              <a:latin typeface="Calibri"/>
              <a:ea typeface="Calibri"/>
              <a:cs typeface="Calibri"/>
              <a:sym typeface="Calibri"/>
            </a:endParaRPr>
          </a:p>
        </p:txBody>
      </p:sp>
      <p:sp>
        <p:nvSpPr>
          <p:cNvPr id="738" name="Google Shape;738;p13"/>
          <p:cNvSpPr/>
          <p:nvPr/>
        </p:nvSpPr>
        <p:spPr>
          <a:xfrm>
            <a:off x="6089904" y="2980944"/>
            <a:ext cx="658368" cy="237744"/>
          </a:xfrm>
          <a:prstGeom prst="rect">
            <a:avLst/>
          </a:prstGeom>
          <a:solidFill>
            <a:srgbClr val="1E3A5F">
              <a:alpha val="3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9" name="Google Shape;739;p13"/>
          <p:cNvSpPr/>
          <p:nvPr/>
        </p:nvSpPr>
        <p:spPr>
          <a:xfrm>
            <a:off x="6089904"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-0.011</a:t>
            </a:r>
            <a:endParaRPr sz="900">
              <a:solidFill>
                <a:schemeClr val="dk1"/>
              </a:solidFill>
              <a:latin typeface="Calibri"/>
              <a:ea typeface="Calibri"/>
              <a:cs typeface="Calibri"/>
              <a:sym typeface="Calibri"/>
            </a:endParaRPr>
          </a:p>
        </p:txBody>
      </p:sp>
      <p:sp>
        <p:nvSpPr>
          <p:cNvPr id="740" name="Google Shape;740;p13"/>
          <p:cNvSpPr/>
          <p:nvPr/>
        </p:nvSpPr>
        <p:spPr>
          <a:xfrm>
            <a:off x="6803136" y="2980944"/>
            <a:ext cx="658368" cy="237744"/>
          </a:xfrm>
          <a:prstGeom prst="rect">
            <a:avLst/>
          </a:prstGeom>
          <a:solidFill>
            <a:srgbClr val="3B82F6"/>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1" name="Google Shape;741;p13"/>
          <p:cNvSpPr/>
          <p:nvPr/>
        </p:nvSpPr>
        <p:spPr>
          <a:xfrm>
            <a:off x="6803136"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-0.133</a:t>
            </a:r>
            <a:endParaRPr sz="900">
              <a:solidFill>
                <a:schemeClr val="dk1"/>
              </a:solidFill>
              <a:latin typeface="Calibri"/>
              <a:ea typeface="Calibri"/>
              <a:cs typeface="Calibri"/>
              <a:sym typeface="Calibri"/>
            </a:endParaRPr>
          </a:p>
        </p:txBody>
      </p:sp>
      <p:sp>
        <p:nvSpPr>
          <p:cNvPr id="742" name="Google Shape;742;p13"/>
          <p:cNvSpPr/>
          <p:nvPr/>
        </p:nvSpPr>
        <p:spPr>
          <a:xfrm>
            <a:off x="7516368" y="2980944"/>
            <a:ext cx="658368" cy="237744"/>
          </a:xfrm>
          <a:prstGeom prst="rect">
            <a:avLst/>
          </a:prstGeom>
          <a:solidFill>
            <a:srgbClr val="1E3A5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3" name="Google Shape;743;p13"/>
          <p:cNvSpPr/>
          <p:nvPr/>
        </p:nvSpPr>
        <p:spPr>
          <a:xfrm>
            <a:off x="7516368"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0.054</a:t>
            </a:r>
            <a:endParaRPr sz="900">
              <a:solidFill>
                <a:schemeClr val="dk1"/>
              </a:solidFill>
              <a:latin typeface="Calibri"/>
              <a:ea typeface="Calibri"/>
              <a:cs typeface="Calibri"/>
              <a:sym typeface="Calibri"/>
            </a:endParaRPr>
          </a:p>
        </p:txBody>
      </p:sp>
      <p:sp>
        <p:nvSpPr>
          <p:cNvPr id="744" name="Google Shape;744;p13"/>
          <p:cNvSpPr/>
          <p:nvPr/>
        </p:nvSpPr>
        <p:spPr>
          <a:xfrm>
            <a:off x="8229600" y="2980944"/>
            <a:ext cx="658368" cy="237744"/>
          </a:xfrm>
          <a:prstGeom prst="rect">
            <a:avLst/>
          </a:prstGeom>
          <a:solidFill>
            <a:srgbClr val="0D948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5" name="Google Shape;745;p13"/>
          <p:cNvSpPr/>
          <p:nvPr/>
        </p:nvSpPr>
        <p:spPr>
          <a:xfrm>
            <a:off x="8229600" y="3008376"/>
            <a:ext cx="658368"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1.000</a:t>
            </a:r>
            <a:endParaRPr sz="900">
              <a:solidFill>
                <a:schemeClr val="dk1"/>
              </a:solidFill>
              <a:latin typeface="Calibri"/>
              <a:ea typeface="Calibri"/>
              <a:cs typeface="Calibri"/>
              <a:sym typeface="Calibri"/>
            </a:endParaRPr>
          </a:p>
        </p:txBody>
      </p:sp>
      <p:sp>
        <p:nvSpPr>
          <p:cNvPr id="746" name="Google Shape;746;p13"/>
          <p:cNvSpPr/>
          <p:nvPr/>
        </p:nvSpPr>
        <p:spPr>
          <a:xfrm>
            <a:off x="4617720" y="3241196"/>
            <a:ext cx="40233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Key: Qty ↔ Revenue = 0.513  |  Price ↔ Revenue = 0.358  |  Month/Hour weak</a:t>
            </a:r>
            <a:endParaRPr sz="850">
              <a:solidFill>
                <a:schemeClr val="dk1"/>
              </a:solidFill>
              <a:latin typeface="Calibri"/>
              <a:ea typeface="Calibri"/>
              <a:cs typeface="Calibri"/>
              <a:sym typeface="Calibri"/>
            </a:endParaRPr>
          </a:p>
        </p:txBody>
      </p:sp>
      <p:sp>
        <p:nvSpPr>
          <p:cNvPr id="747" name="Google Shape;747;p13"/>
          <p:cNvSpPr/>
          <p:nvPr/>
        </p:nvSpPr>
        <p:spPr>
          <a:xfrm>
            <a:off x="274320" y="3474720"/>
            <a:ext cx="8595360" cy="1481328"/>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8" name="Google Shape;748;p13"/>
          <p:cNvSpPr/>
          <p:nvPr/>
        </p:nvSpPr>
        <p:spPr>
          <a:xfrm>
            <a:off x="274320" y="3474720"/>
            <a:ext cx="8595360" cy="347472"/>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9" name="Google Shape;749;p13"/>
          <p:cNvSpPr/>
          <p:nvPr/>
        </p:nvSpPr>
        <p:spPr>
          <a:xfrm>
            <a:off x="384048" y="3511296"/>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ANOMALY DETECTION &amp; PARETO ANALYSIS</a:t>
            </a:r>
            <a:endParaRPr sz="1000">
              <a:solidFill>
                <a:schemeClr val="dk1"/>
              </a:solidFill>
              <a:latin typeface="Calibri"/>
              <a:ea typeface="Calibri"/>
              <a:cs typeface="Calibri"/>
              <a:sym typeface="Calibri"/>
            </a:endParaRPr>
          </a:p>
        </p:txBody>
      </p:sp>
      <p:sp>
        <p:nvSpPr>
          <p:cNvPr id="750" name="Google Shape;750;p13"/>
          <p:cNvSpPr/>
          <p:nvPr/>
        </p:nvSpPr>
        <p:spPr>
          <a:xfrm>
            <a:off x="292608" y="3858768"/>
            <a:ext cx="8558784" cy="256032"/>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1" name="Google Shape;751;p13"/>
          <p:cNvSpPr/>
          <p:nvPr/>
        </p:nvSpPr>
        <p:spPr>
          <a:xfrm>
            <a:off x="384048" y="3895344"/>
            <a:ext cx="109728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Method</a:t>
            </a:r>
            <a:endParaRPr sz="900">
              <a:solidFill>
                <a:schemeClr val="dk1"/>
              </a:solidFill>
              <a:latin typeface="Calibri"/>
              <a:ea typeface="Calibri"/>
              <a:cs typeface="Calibri"/>
              <a:sym typeface="Calibri"/>
            </a:endParaRPr>
          </a:p>
        </p:txBody>
      </p:sp>
      <p:sp>
        <p:nvSpPr>
          <p:cNvPr id="752" name="Google Shape;752;p13"/>
          <p:cNvSpPr/>
          <p:nvPr/>
        </p:nvSpPr>
        <p:spPr>
          <a:xfrm>
            <a:off x="1508760" y="389534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Mean + 3σ threshold = £52.55</a:t>
            </a:r>
            <a:endParaRPr sz="900">
              <a:solidFill>
                <a:schemeClr val="dk1"/>
              </a:solidFill>
              <a:latin typeface="Calibri"/>
              <a:ea typeface="Calibri"/>
              <a:cs typeface="Calibri"/>
              <a:sym typeface="Calibri"/>
            </a:endParaRPr>
          </a:p>
        </p:txBody>
      </p:sp>
      <p:sp>
        <p:nvSpPr>
          <p:cNvPr id="753" name="Google Shape;753;p13"/>
          <p:cNvSpPr/>
          <p:nvPr/>
        </p:nvSpPr>
        <p:spPr>
          <a:xfrm>
            <a:off x="5166360" y="389534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Top 20% customers = ~65% revenue</a:t>
            </a:r>
            <a:endParaRPr sz="900">
              <a:solidFill>
                <a:schemeClr val="dk1"/>
              </a:solidFill>
              <a:latin typeface="Calibri"/>
              <a:ea typeface="Calibri"/>
              <a:cs typeface="Calibri"/>
              <a:sym typeface="Calibri"/>
            </a:endParaRPr>
          </a:p>
        </p:txBody>
      </p:sp>
      <p:sp>
        <p:nvSpPr>
          <p:cNvPr id="754" name="Google Shape;754;p13"/>
          <p:cNvSpPr/>
          <p:nvPr/>
        </p:nvSpPr>
        <p:spPr>
          <a:xfrm>
            <a:off x="292608" y="4133088"/>
            <a:ext cx="8558784" cy="256032"/>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13"/>
          <p:cNvSpPr/>
          <p:nvPr/>
        </p:nvSpPr>
        <p:spPr>
          <a:xfrm>
            <a:off x="384048" y="4169664"/>
            <a:ext cx="109728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Finding</a:t>
            </a:r>
            <a:endParaRPr sz="900">
              <a:solidFill>
                <a:schemeClr val="dk1"/>
              </a:solidFill>
              <a:latin typeface="Calibri"/>
              <a:ea typeface="Calibri"/>
              <a:cs typeface="Calibri"/>
              <a:sym typeface="Calibri"/>
            </a:endParaRPr>
          </a:p>
        </p:txBody>
      </p:sp>
      <p:sp>
        <p:nvSpPr>
          <p:cNvPr id="756" name="Google Shape;756;p13"/>
          <p:cNvSpPr/>
          <p:nvPr/>
        </p:nvSpPr>
        <p:spPr>
          <a:xfrm>
            <a:off x="1508760" y="416966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6,320 anomalous transactions (1.90%)</a:t>
            </a:r>
            <a:endParaRPr sz="900">
              <a:solidFill>
                <a:schemeClr val="dk1"/>
              </a:solidFill>
              <a:latin typeface="Calibri"/>
              <a:ea typeface="Calibri"/>
              <a:cs typeface="Calibri"/>
              <a:sym typeface="Calibri"/>
            </a:endParaRPr>
          </a:p>
        </p:txBody>
      </p:sp>
      <p:sp>
        <p:nvSpPr>
          <p:cNvPr id="757" name="Google Shape;757;p13"/>
          <p:cNvSpPr/>
          <p:nvPr/>
        </p:nvSpPr>
        <p:spPr>
          <a:xfrm>
            <a:off x="5166360" y="416966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34.3% customers generate 80% revenue</a:t>
            </a:r>
            <a:endParaRPr sz="900">
              <a:solidFill>
                <a:schemeClr val="dk1"/>
              </a:solidFill>
              <a:latin typeface="Calibri"/>
              <a:ea typeface="Calibri"/>
              <a:cs typeface="Calibri"/>
              <a:sym typeface="Calibri"/>
            </a:endParaRPr>
          </a:p>
        </p:txBody>
      </p:sp>
      <p:sp>
        <p:nvSpPr>
          <p:cNvPr id="758" name="Google Shape;758;p13"/>
          <p:cNvSpPr/>
          <p:nvPr/>
        </p:nvSpPr>
        <p:spPr>
          <a:xfrm>
            <a:off x="292608" y="4407408"/>
            <a:ext cx="8558784" cy="256032"/>
          </a:xfrm>
          <a:prstGeom prst="rect">
            <a:avLst/>
          </a:prstGeom>
          <a:solidFill>
            <a:srgbClr val="FFFFFF"/>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9" name="Google Shape;759;p13"/>
          <p:cNvSpPr/>
          <p:nvPr/>
        </p:nvSpPr>
        <p:spPr>
          <a:xfrm>
            <a:off x="384048" y="4443984"/>
            <a:ext cx="109728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Pattern</a:t>
            </a:r>
            <a:endParaRPr sz="900">
              <a:solidFill>
                <a:schemeClr val="dk1"/>
              </a:solidFill>
              <a:latin typeface="Calibri"/>
              <a:ea typeface="Calibri"/>
              <a:cs typeface="Calibri"/>
              <a:sym typeface="Calibri"/>
            </a:endParaRPr>
          </a:p>
        </p:txBody>
      </p:sp>
      <p:sp>
        <p:nvSpPr>
          <p:cNvPr id="760" name="Google Shape;760;p13"/>
          <p:cNvSpPr/>
          <p:nvPr/>
        </p:nvSpPr>
        <p:spPr>
          <a:xfrm>
            <a:off x="1508760" y="444398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Concentrated in Nov 2011 — Q4 bulk orders</a:t>
            </a:r>
            <a:endParaRPr sz="900">
              <a:solidFill>
                <a:schemeClr val="dk1"/>
              </a:solidFill>
              <a:latin typeface="Calibri"/>
              <a:ea typeface="Calibri"/>
              <a:cs typeface="Calibri"/>
              <a:sym typeface="Calibri"/>
            </a:endParaRPr>
          </a:p>
        </p:txBody>
      </p:sp>
      <p:sp>
        <p:nvSpPr>
          <p:cNvPr id="761" name="Google Shape;761;p13"/>
          <p:cNvSpPr/>
          <p:nvPr/>
        </p:nvSpPr>
        <p:spPr>
          <a:xfrm>
            <a:off x="5166360" y="444398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Classic Pareto principle confirmed</a:t>
            </a:r>
            <a:endParaRPr sz="900">
              <a:solidFill>
                <a:schemeClr val="dk1"/>
              </a:solidFill>
              <a:latin typeface="Calibri"/>
              <a:ea typeface="Calibri"/>
              <a:cs typeface="Calibri"/>
              <a:sym typeface="Calibri"/>
            </a:endParaRPr>
          </a:p>
        </p:txBody>
      </p:sp>
      <p:sp>
        <p:nvSpPr>
          <p:cNvPr id="762" name="Google Shape;762;p13"/>
          <p:cNvSpPr/>
          <p:nvPr/>
        </p:nvSpPr>
        <p:spPr>
          <a:xfrm>
            <a:off x="292608" y="4681728"/>
            <a:ext cx="8558784" cy="256032"/>
          </a:xfrm>
          <a:prstGeom prst="rect">
            <a:avLst/>
          </a:prstGeom>
          <a:solidFill>
            <a:srgbClr val="F1F5F9"/>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3" name="Google Shape;763;p13"/>
          <p:cNvSpPr/>
          <p:nvPr/>
        </p:nvSpPr>
        <p:spPr>
          <a:xfrm>
            <a:off x="384048" y="4718304"/>
            <a:ext cx="109728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Action</a:t>
            </a:r>
            <a:endParaRPr sz="900">
              <a:solidFill>
                <a:schemeClr val="dk1"/>
              </a:solidFill>
              <a:latin typeface="Calibri"/>
              <a:ea typeface="Calibri"/>
              <a:cs typeface="Calibri"/>
              <a:sym typeface="Calibri"/>
            </a:endParaRPr>
          </a:p>
        </p:txBody>
      </p:sp>
      <p:sp>
        <p:nvSpPr>
          <p:cNvPr id="764" name="Google Shape;764;p13"/>
          <p:cNvSpPr/>
          <p:nvPr/>
        </p:nvSpPr>
        <p:spPr>
          <a:xfrm>
            <a:off x="1508760" y="471830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Investigate B2B segment separately</a:t>
            </a:r>
            <a:endParaRPr sz="900">
              <a:solidFill>
                <a:schemeClr val="dk1"/>
              </a:solidFill>
              <a:latin typeface="Calibri"/>
              <a:ea typeface="Calibri"/>
              <a:cs typeface="Calibri"/>
              <a:sym typeface="Calibri"/>
            </a:endParaRPr>
          </a:p>
        </p:txBody>
      </p:sp>
      <p:sp>
        <p:nvSpPr>
          <p:cNvPr id="765" name="Google Shape;765;p13"/>
          <p:cNvSpPr/>
          <p:nvPr/>
        </p:nvSpPr>
        <p:spPr>
          <a:xfrm>
            <a:off x="5166360" y="4718304"/>
            <a:ext cx="35661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Prioritise VIP retention strategy</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770"/>
        <p:cNvGrpSpPr/>
        <p:nvPr/>
      </p:nvGrpSpPr>
      <p:grpSpPr>
        <a:xfrm>
          <a:off x="0" y="0"/>
          <a:ext cx="0" cy="0"/>
          <a:chOff x="0" y="0"/>
          <a:chExt cx="0" cy="0"/>
        </a:xfrm>
      </p:grpSpPr>
      <p:sp>
        <p:nvSpPr>
          <p:cNvPr id="771" name="Google Shape;771;p14"/>
          <p:cNvSpPr/>
          <p:nvPr/>
        </p:nvSpPr>
        <p:spPr>
          <a:xfrm>
            <a:off x="0" y="0"/>
            <a:ext cx="9144000" cy="20116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2" name="Google Shape;772;p14"/>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2 — EDA  |  KEY INSIGHTS &amp; RECOMMENDATIONS</a:t>
            </a:r>
            <a:endParaRPr sz="900">
              <a:solidFill>
                <a:schemeClr val="dk1"/>
              </a:solidFill>
              <a:latin typeface="Calibri"/>
              <a:ea typeface="Calibri"/>
              <a:cs typeface="Calibri"/>
              <a:sym typeface="Calibri"/>
            </a:endParaRPr>
          </a:p>
        </p:txBody>
      </p:sp>
      <p:sp>
        <p:nvSpPr>
          <p:cNvPr id="773" name="Google Shape;773;p14"/>
          <p:cNvSpPr/>
          <p:nvPr/>
        </p:nvSpPr>
        <p:spPr>
          <a:xfrm>
            <a:off x="365760" y="320040"/>
            <a:ext cx="8412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EDA Key Insights &amp; Business Recommendations</a:t>
            </a:r>
            <a:endParaRPr sz="2200">
              <a:solidFill>
                <a:schemeClr val="dk1"/>
              </a:solidFill>
              <a:latin typeface="Calibri"/>
              <a:ea typeface="Calibri"/>
              <a:cs typeface="Calibri"/>
              <a:sym typeface="Calibri"/>
            </a:endParaRPr>
          </a:p>
        </p:txBody>
      </p:sp>
      <p:sp>
        <p:nvSpPr>
          <p:cNvPr id="774" name="Google Shape;774;p14"/>
          <p:cNvSpPr/>
          <p:nvPr/>
        </p:nvSpPr>
        <p:spPr>
          <a:xfrm>
            <a:off x="365760" y="777240"/>
            <a:ext cx="8229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Six actionable insights directly informing operational and strategic decisions</a:t>
            </a:r>
            <a:endParaRPr sz="1100">
              <a:solidFill>
                <a:schemeClr val="dk1"/>
              </a:solidFill>
              <a:latin typeface="Calibri"/>
              <a:ea typeface="Calibri"/>
              <a:cs typeface="Calibri"/>
              <a:sym typeface="Calibri"/>
            </a:endParaRPr>
          </a:p>
        </p:txBody>
      </p:sp>
      <p:sp>
        <p:nvSpPr>
          <p:cNvPr id="775" name="Google Shape;775;p14"/>
          <p:cNvSpPr/>
          <p:nvPr/>
        </p:nvSpPr>
        <p:spPr>
          <a:xfrm>
            <a:off x="256032" y="1115568"/>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6" name="Google Shape;776;p14"/>
          <p:cNvSpPr/>
          <p:nvPr/>
        </p:nvSpPr>
        <p:spPr>
          <a:xfrm>
            <a:off x="256032" y="1115568"/>
            <a:ext cx="2852928" cy="4114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7" name="Google Shape;777;p14"/>
          <p:cNvSpPr/>
          <p:nvPr/>
        </p:nvSpPr>
        <p:spPr>
          <a:xfrm>
            <a:off x="365760" y="1207008"/>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Q4 Peak Demand</a:t>
            </a:r>
            <a:endParaRPr sz="1200">
              <a:solidFill>
                <a:schemeClr val="dk1"/>
              </a:solidFill>
              <a:latin typeface="Calibri"/>
              <a:ea typeface="Calibri"/>
              <a:cs typeface="Calibri"/>
              <a:sym typeface="Calibri"/>
            </a:endParaRPr>
          </a:p>
        </p:txBody>
      </p:sp>
      <p:sp>
        <p:nvSpPr>
          <p:cNvPr id="778" name="Google Shape;778;p14"/>
          <p:cNvSpPr/>
          <p:nvPr/>
        </p:nvSpPr>
        <p:spPr>
          <a:xfrm>
            <a:off x="365760" y="1618488"/>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Revenue spikes in Oct–Nov every year. November 2011 hit £642,985. Focus marketing and stock replenishment budget on this window for maximum ROI.</a:t>
            </a:r>
            <a:endParaRPr sz="900">
              <a:solidFill>
                <a:schemeClr val="dk1"/>
              </a:solidFill>
              <a:latin typeface="Calibri"/>
              <a:ea typeface="Calibri"/>
              <a:cs typeface="Calibri"/>
              <a:sym typeface="Calibri"/>
            </a:endParaRPr>
          </a:p>
        </p:txBody>
      </p:sp>
      <p:sp>
        <p:nvSpPr>
          <p:cNvPr id="779" name="Google Shape;779;p14"/>
          <p:cNvSpPr/>
          <p:nvPr/>
        </p:nvSpPr>
        <p:spPr>
          <a:xfrm>
            <a:off x="365760" y="2505456"/>
            <a:ext cx="2633472" cy="274320"/>
          </a:xfrm>
          <a:prstGeom prst="rect">
            <a:avLst/>
          </a:prstGeom>
          <a:solidFill>
            <a:srgbClr val="0D9488">
              <a:alpha val="20000"/>
            </a:srgbClr>
          </a:solidFill>
          <a:ln w="9525" cap="flat" cmpd="sng">
            <a:solidFill>
              <a:srgbClr val="0D9488">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0" name="Google Shape;780;p14"/>
          <p:cNvSpPr/>
          <p:nvPr/>
        </p:nvSpPr>
        <p:spPr>
          <a:xfrm>
            <a:off x="393192" y="2523744"/>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Action: Pre-position inventory by September</a:t>
            </a:r>
            <a:endParaRPr sz="850">
              <a:solidFill>
                <a:schemeClr val="dk1"/>
              </a:solidFill>
              <a:latin typeface="Calibri"/>
              <a:ea typeface="Calibri"/>
              <a:cs typeface="Calibri"/>
              <a:sym typeface="Calibri"/>
            </a:endParaRPr>
          </a:p>
        </p:txBody>
      </p:sp>
      <p:sp>
        <p:nvSpPr>
          <p:cNvPr id="781" name="Google Shape;781;p14"/>
          <p:cNvSpPr/>
          <p:nvPr/>
        </p:nvSpPr>
        <p:spPr>
          <a:xfrm>
            <a:off x="3255264" y="1115568"/>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2" name="Google Shape;782;p14"/>
          <p:cNvSpPr/>
          <p:nvPr/>
        </p:nvSpPr>
        <p:spPr>
          <a:xfrm>
            <a:off x="3255264" y="1115568"/>
            <a:ext cx="2852928" cy="41148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3" name="Google Shape;783;p14"/>
          <p:cNvSpPr/>
          <p:nvPr/>
        </p:nvSpPr>
        <p:spPr>
          <a:xfrm>
            <a:off x="3364992" y="1207008"/>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Pareto Customer Base</a:t>
            </a:r>
            <a:endParaRPr sz="1200">
              <a:solidFill>
                <a:schemeClr val="dk1"/>
              </a:solidFill>
              <a:latin typeface="Calibri"/>
              <a:ea typeface="Calibri"/>
              <a:cs typeface="Calibri"/>
              <a:sym typeface="Calibri"/>
            </a:endParaRPr>
          </a:p>
        </p:txBody>
      </p:sp>
      <p:sp>
        <p:nvSpPr>
          <p:cNvPr id="784" name="Google Shape;784;p14"/>
          <p:cNvSpPr/>
          <p:nvPr/>
        </p:nvSpPr>
        <p:spPr>
          <a:xfrm>
            <a:off x="3364992" y="1618488"/>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Top 20% of customers generate ~65% of revenue. Customer 14911 alone accounts for £85K+. These VIPs must be protected and nurtured.</a:t>
            </a:r>
            <a:endParaRPr sz="900">
              <a:solidFill>
                <a:schemeClr val="dk1"/>
              </a:solidFill>
              <a:latin typeface="Calibri"/>
              <a:ea typeface="Calibri"/>
              <a:cs typeface="Calibri"/>
              <a:sym typeface="Calibri"/>
            </a:endParaRPr>
          </a:p>
        </p:txBody>
      </p:sp>
      <p:sp>
        <p:nvSpPr>
          <p:cNvPr id="785" name="Google Shape;785;p14"/>
          <p:cNvSpPr/>
          <p:nvPr/>
        </p:nvSpPr>
        <p:spPr>
          <a:xfrm>
            <a:off x="3364992" y="2505456"/>
            <a:ext cx="2633472" cy="274320"/>
          </a:xfrm>
          <a:prstGeom prst="rect">
            <a:avLst/>
          </a:prstGeom>
          <a:solidFill>
            <a:srgbClr val="F59E0B">
              <a:alpha val="20000"/>
            </a:srgbClr>
          </a:solidFill>
          <a:ln w="9525" cap="flat" cmpd="sng">
            <a:solidFill>
              <a:srgbClr val="F59E0B">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6" name="Google Shape;786;p14"/>
          <p:cNvSpPr/>
          <p:nvPr/>
        </p:nvSpPr>
        <p:spPr>
          <a:xfrm>
            <a:off x="3392424" y="2523744"/>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850"/>
              <a:buFont typeface="Calibri"/>
              <a:buNone/>
            </a:pPr>
            <a:r>
              <a:rPr lang="en-US" sz="850" b="1">
                <a:solidFill>
                  <a:srgbClr val="F59E0B"/>
                </a:solidFill>
                <a:latin typeface="Calibri"/>
                <a:ea typeface="Calibri"/>
                <a:cs typeface="Calibri"/>
                <a:sym typeface="Calibri"/>
              </a:rPr>
              <a:t>Action: Launch VIP loyalty programme immediately</a:t>
            </a:r>
            <a:endParaRPr sz="850">
              <a:solidFill>
                <a:schemeClr val="dk1"/>
              </a:solidFill>
              <a:latin typeface="Calibri"/>
              <a:ea typeface="Calibri"/>
              <a:cs typeface="Calibri"/>
              <a:sym typeface="Calibri"/>
            </a:endParaRPr>
          </a:p>
        </p:txBody>
      </p:sp>
      <p:sp>
        <p:nvSpPr>
          <p:cNvPr id="787" name="Google Shape;787;p14"/>
          <p:cNvSpPr/>
          <p:nvPr/>
        </p:nvSpPr>
        <p:spPr>
          <a:xfrm>
            <a:off x="6254496" y="1115568"/>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8" name="Google Shape;788;p14"/>
          <p:cNvSpPr/>
          <p:nvPr/>
        </p:nvSpPr>
        <p:spPr>
          <a:xfrm>
            <a:off x="6254496" y="1115568"/>
            <a:ext cx="2852928" cy="411480"/>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9" name="Google Shape;789;p14"/>
          <p:cNvSpPr/>
          <p:nvPr/>
        </p:nvSpPr>
        <p:spPr>
          <a:xfrm>
            <a:off x="6364224" y="1207008"/>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UK Market Dominance</a:t>
            </a:r>
            <a:endParaRPr sz="1200">
              <a:solidFill>
                <a:schemeClr val="dk1"/>
              </a:solidFill>
              <a:latin typeface="Calibri"/>
              <a:ea typeface="Calibri"/>
              <a:cs typeface="Calibri"/>
              <a:sym typeface="Calibri"/>
            </a:endParaRPr>
          </a:p>
        </p:txBody>
      </p:sp>
      <p:sp>
        <p:nvSpPr>
          <p:cNvPr id="790" name="Google Shape;790;p14"/>
          <p:cNvSpPr/>
          <p:nvPr/>
        </p:nvSpPr>
        <p:spPr>
          <a:xfrm>
            <a:off x="6364224" y="1618488"/>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UK = 85.6% of total revenue. Germany, France &amp; EIRE are the highest-potential international markets showing consistent order patterns.</a:t>
            </a:r>
            <a:endParaRPr sz="900">
              <a:solidFill>
                <a:schemeClr val="dk1"/>
              </a:solidFill>
              <a:latin typeface="Calibri"/>
              <a:ea typeface="Calibri"/>
              <a:cs typeface="Calibri"/>
              <a:sym typeface="Calibri"/>
            </a:endParaRPr>
          </a:p>
        </p:txBody>
      </p:sp>
      <p:sp>
        <p:nvSpPr>
          <p:cNvPr id="791" name="Google Shape;791;p14"/>
          <p:cNvSpPr/>
          <p:nvPr/>
        </p:nvSpPr>
        <p:spPr>
          <a:xfrm>
            <a:off x="6364224" y="2505456"/>
            <a:ext cx="2633472" cy="274320"/>
          </a:xfrm>
          <a:prstGeom prst="rect">
            <a:avLst/>
          </a:prstGeom>
          <a:solidFill>
            <a:srgbClr val="06B6D4">
              <a:alpha val="20000"/>
            </a:srgbClr>
          </a:solidFill>
          <a:ln w="9525" cap="flat" cmpd="sng">
            <a:solidFill>
              <a:srgbClr val="06B6D4">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2" name="Google Shape;792;p14"/>
          <p:cNvSpPr/>
          <p:nvPr/>
        </p:nvSpPr>
        <p:spPr>
          <a:xfrm>
            <a:off x="6391656" y="2523744"/>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850"/>
              <a:buFont typeface="Calibri"/>
              <a:buNone/>
            </a:pPr>
            <a:r>
              <a:rPr lang="en-US" sz="850" b="1">
                <a:solidFill>
                  <a:srgbClr val="06B6D4"/>
                </a:solidFill>
                <a:latin typeface="Calibri"/>
                <a:ea typeface="Calibri"/>
                <a:cs typeface="Calibri"/>
                <a:sym typeface="Calibri"/>
              </a:rPr>
              <a:t>Action: Localise product listings for DE/FR/IE</a:t>
            </a:r>
            <a:endParaRPr sz="850">
              <a:solidFill>
                <a:schemeClr val="dk1"/>
              </a:solidFill>
              <a:latin typeface="Calibri"/>
              <a:ea typeface="Calibri"/>
              <a:cs typeface="Calibri"/>
              <a:sym typeface="Calibri"/>
            </a:endParaRPr>
          </a:p>
        </p:txBody>
      </p:sp>
      <p:sp>
        <p:nvSpPr>
          <p:cNvPr id="793" name="Google Shape;793;p14"/>
          <p:cNvSpPr/>
          <p:nvPr/>
        </p:nvSpPr>
        <p:spPr>
          <a:xfrm>
            <a:off x="256032" y="3108960"/>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4" name="Google Shape;794;p14"/>
          <p:cNvSpPr/>
          <p:nvPr/>
        </p:nvSpPr>
        <p:spPr>
          <a:xfrm>
            <a:off x="256032" y="3108960"/>
            <a:ext cx="2852928" cy="411480"/>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5" name="Google Shape;795;p14"/>
          <p:cNvSpPr/>
          <p:nvPr/>
        </p:nvSpPr>
        <p:spPr>
          <a:xfrm>
            <a:off x="365760" y="3200400"/>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Peak Trading Window</a:t>
            </a:r>
            <a:endParaRPr sz="1200">
              <a:solidFill>
                <a:schemeClr val="dk1"/>
              </a:solidFill>
              <a:latin typeface="Calibri"/>
              <a:ea typeface="Calibri"/>
              <a:cs typeface="Calibri"/>
              <a:sym typeface="Calibri"/>
            </a:endParaRPr>
          </a:p>
        </p:txBody>
      </p:sp>
      <p:sp>
        <p:nvSpPr>
          <p:cNvPr id="796" name="Google Shape;796;p14"/>
          <p:cNvSpPr/>
          <p:nvPr/>
        </p:nvSpPr>
        <p:spPr>
          <a:xfrm>
            <a:off x="365760" y="3611880"/>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Thursday generates £927K — the highest of any day. Orders peak at 12:00 noon. Saturday shows zero activity — clear B2B operating pattern.</a:t>
            </a:r>
            <a:endParaRPr sz="900">
              <a:solidFill>
                <a:schemeClr val="dk1"/>
              </a:solidFill>
              <a:latin typeface="Calibri"/>
              <a:ea typeface="Calibri"/>
              <a:cs typeface="Calibri"/>
              <a:sym typeface="Calibri"/>
            </a:endParaRPr>
          </a:p>
        </p:txBody>
      </p:sp>
      <p:sp>
        <p:nvSpPr>
          <p:cNvPr id="797" name="Google Shape;797;p14"/>
          <p:cNvSpPr/>
          <p:nvPr/>
        </p:nvSpPr>
        <p:spPr>
          <a:xfrm>
            <a:off x="365760" y="4498848"/>
            <a:ext cx="2633472" cy="274320"/>
          </a:xfrm>
          <a:prstGeom prst="rect">
            <a:avLst/>
          </a:prstGeom>
          <a:solidFill>
            <a:srgbClr val="8B5CF6">
              <a:alpha val="20000"/>
            </a:srgbClr>
          </a:solidFill>
          <a:ln w="9525" cap="flat" cmpd="sng">
            <a:solidFill>
              <a:srgbClr val="8B5CF6">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8" name="Google Shape;798;p14"/>
          <p:cNvSpPr/>
          <p:nvPr/>
        </p:nvSpPr>
        <p:spPr>
          <a:xfrm>
            <a:off x="393192" y="4517136"/>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CF6"/>
              </a:buClr>
              <a:buSzPts val="850"/>
              <a:buFont typeface="Calibri"/>
              <a:buNone/>
            </a:pPr>
            <a:r>
              <a:rPr lang="en-US" sz="850" b="1">
                <a:solidFill>
                  <a:srgbClr val="8B5CF6"/>
                </a:solidFill>
                <a:latin typeface="Calibri"/>
                <a:ea typeface="Calibri"/>
                <a:cs typeface="Calibri"/>
                <a:sym typeface="Calibri"/>
              </a:rPr>
              <a:t>Action: Schedule promotions for Thu 10am–2pm</a:t>
            </a:r>
            <a:endParaRPr sz="850">
              <a:solidFill>
                <a:schemeClr val="dk1"/>
              </a:solidFill>
              <a:latin typeface="Calibri"/>
              <a:ea typeface="Calibri"/>
              <a:cs typeface="Calibri"/>
              <a:sym typeface="Calibri"/>
            </a:endParaRPr>
          </a:p>
        </p:txBody>
      </p:sp>
      <p:sp>
        <p:nvSpPr>
          <p:cNvPr id="799" name="Google Shape;799;p14"/>
          <p:cNvSpPr/>
          <p:nvPr/>
        </p:nvSpPr>
        <p:spPr>
          <a:xfrm>
            <a:off x="3255264" y="3108960"/>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0" name="Google Shape;800;p14"/>
          <p:cNvSpPr/>
          <p:nvPr/>
        </p:nvSpPr>
        <p:spPr>
          <a:xfrm>
            <a:off x="3255264" y="3108960"/>
            <a:ext cx="2852928" cy="411480"/>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1" name="Google Shape;801;p14"/>
          <p:cNvSpPr/>
          <p:nvPr/>
        </p:nvSpPr>
        <p:spPr>
          <a:xfrm>
            <a:off x="3364992" y="3200400"/>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Price Sweet Spot</a:t>
            </a:r>
            <a:endParaRPr sz="1200">
              <a:solidFill>
                <a:schemeClr val="dk1"/>
              </a:solidFill>
              <a:latin typeface="Calibri"/>
              <a:ea typeface="Calibri"/>
              <a:cs typeface="Calibri"/>
              <a:sym typeface="Calibri"/>
            </a:endParaRPr>
          </a:p>
        </p:txBody>
      </p:sp>
      <p:sp>
        <p:nvSpPr>
          <p:cNvPr id="802" name="Google Shape;802;p14"/>
          <p:cNvSpPr/>
          <p:nvPr/>
        </p:nvSpPr>
        <p:spPr>
          <a:xfrm>
            <a:off x="3364992" y="3611880"/>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£1–£3 items drive 52% of all transaction volume. PARTY BUNTING leads revenue at £34,953. Mid-range giftware is the core product category.</a:t>
            </a:r>
            <a:endParaRPr sz="900">
              <a:solidFill>
                <a:schemeClr val="dk1"/>
              </a:solidFill>
              <a:latin typeface="Calibri"/>
              <a:ea typeface="Calibri"/>
              <a:cs typeface="Calibri"/>
              <a:sym typeface="Calibri"/>
            </a:endParaRPr>
          </a:p>
        </p:txBody>
      </p:sp>
      <p:sp>
        <p:nvSpPr>
          <p:cNvPr id="803" name="Google Shape;803;p14"/>
          <p:cNvSpPr/>
          <p:nvPr/>
        </p:nvSpPr>
        <p:spPr>
          <a:xfrm>
            <a:off x="3364992" y="4498848"/>
            <a:ext cx="2633472" cy="274320"/>
          </a:xfrm>
          <a:prstGeom prst="rect">
            <a:avLst/>
          </a:prstGeom>
          <a:solidFill>
            <a:srgbClr val="22C55E">
              <a:alpha val="20000"/>
            </a:srgbClr>
          </a:solidFill>
          <a:ln w="9525" cap="flat" cmpd="sng">
            <a:solidFill>
              <a:srgbClr val="22C55E">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4" name="Google Shape;804;p14"/>
          <p:cNvSpPr/>
          <p:nvPr/>
        </p:nvSpPr>
        <p:spPr>
          <a:xfrm>
            <a:off x="3392424" y="4517136"/>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850"/>
              <a:buFont typeface="Calibri"/>
              <a:buNone/>
            </a:pPr>
            <a:r>
              <a:rPr lang="en-US" sz="850" b="1">
                <a:solidFill>
                  <a:srgbClr val="22C55E"/>
                </a:solidFill>
                <a:latin typeface="Calibri"/>
                <a:ea typeface="Calibri"/>
                <a:cs typeface="Calibri"/>
                <a:sym typeface="Calibri"/>
              </a:rPr>
              <a:t>Action: Expand £1–£3 product range</a:t>
            </a:r>
            <a:endParaRPr sz="850">
              <a:solidFill>
                <a:schemeClr val="dk1"/>
              </a:solidFill>
              <a:latin typeface="Calibri"/>
              <a:ea typeface="Calibri"/>
              <a:cs typeface="Calibri"/>
              <a:sym typeface="Calibri"/>
            </a:endParaRPr>
          </a:p>
        </p:txBody>
      </p:sp>
      <p:sp>
        <p:nvSpPr>
          <p:cNvPr id="805" name="Google Shape;805;p14"/>
          <p:cNvSpPr/>
          <p:nvPr/>
        </p:nvSpPr>
        <p:spPr>
          <a:xfrm>
            <a:off x="6254496" y="3108960"/>
            <a:ext cx="2852928" cy="178308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6" name="Google Shape;806;p14"/>
          <p:cNvSpPr/>
          <p:nvPr/>
        </p:nvSpPr>
        <p:spPr>
          <a:xfrm>
            <a:off x="6254496" y="3108960"/>
            <a:ext cx="2852928" cy="411480"/>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7" name="Google Shape;807;p14"/>
          <p:cNvSpPr/>
          <p:nvPr/>
        </p:nvSpPr>
        <p:spPr>
          <a:xfrm>
            <a:off x="6364224" y="3200400"/>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 Anomaly Investigation</a:t>
            </a:r>
            <a:endParaRPr sz="1200">
              <a:solidFill>
                <a:schemeClr val="dk1"/>
              </a:solidFill>
              <a:latin typeface="Calibri"/>
              <a:ea typeface="Calibri"/>
              <a:cs typeface="Calibri"/>
              <a:sym typeface="Calibri"/>
            </a:endParaRPr>
          </a:p>
        </p:txBody>
      </p:sp>
      <p:sp>
        <p:nvSpPr>
          <p:cNvPr id="808" name="Google Shape;808;p14"/>
          <p:cNvSpPr/>
          <p:nvPr/>
        </p:nvSpPr>
        <p:spPr>
          <a:xfrm>
            <a:off x="6364224" y="3611880"/>
            <a:ext cx="2651760" cy="8046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1.90% of transactions exceed Mean+3σ threshold (£52.55), concentrated in Q4. These likely represent B2B bulk orders worth separate analysis.</a:t>
            </a:r>
            <a:endParaRPr sz="900">
              <a:solidFill>
                <a:schemeClr val="dk1"/>
              </a:solidFill>
              <a:latin typeface="Calibri"/>
              <a:ea typeface="Calibri"/>
              <a:cs typeface="Calibri"/>
              <a:sym typeface="Calibri"/>
            </a:endParaRPr>
          </a:p>
        </p:txBody>
      </p:sp>
      <p:sp>
        <p:nvSpPr>
          <p:cNvPr id="809" name="Google Shape;809;p14"/>
          <p:cNvSpPr/>
          <p:nvPr/>
        </p:nvSpPr>
        <p:spPr>
          <a:xfrm>
            <a:off x="6364224" y="4498848"/>
            <a:ext cx="2633472" cy="274320"/>
          </a:xfrm>
          <a:prstGeom prst="rect">
            <a:avLst/>
          </a:prstGeom>
          <a:solidFill>
            <a:srgbClr val="EF4444">
              <a:alpha val="20000"/>
            </a:srgbClr>
          </a:solidFill>
          <a:ln w="9525" cap="flat" cmpd="sng">
            <a:solidFill>
              <a:srgbClr val="EF4444">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0" name="Google Shape;810;p14"/>
          <p:cNvSpPr/>
          <p:nvPr/>
        </p:nvSpPr>
        <p:spPr>
          <a:xfrm>
            <a:off x="6391656" y="4517136"/>
            <a:ext cx="25786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850"/>
              <a:buFont typeface="Calibri"/>
              <a:buNone/>
            </a:pPr>
            <a:r>
              <a:rPr lang="en-US" sz="850" b="1">
                <a:solidFill>
                  <a:srgbClr val="EF4444"/>
                </a:solidFill>
                <a:latin typeface="Calibri"/>
                <a:ea typeface="Calibri"/>
                <a:cs typeface="Calibri"/>
                <a:sym typeface="Calibri"/>
              </a:rPr>
              <a:t>Action: Create dedicated B2B customer segment</a:t>
            </a:r>
            <a:endParaRPr sz="8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815"/>
        <p:cNvGrpSpPr/>
        <p:nvPr/>
      </p:nvGrpSpPr>
      <p:grpSpPr>
        <a:xfrm>
          <a:off x="0" y="0"/>
          <a:ext cx="0" cy="0"/>
          <a:chOff x="0" y="0"/>
          <a:chExt cx="0" cy="0"/>
        </a:xfrm>
      </p:grpSpPr>
      <p:sp>
        <p:nvSpPr>
          <p:cNvPr id="816" name="Google Shape;816;p15"/>
          <p:cNvSpPr/>
          <p:nvPr/>
        </p:nvSpPr>
        <p:spPr>
          <a:xfrm>
            <a:off x="0" y="0"/>
            <a:ext cx="9144000" cy="20116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7" name="Google Shape;817;p15"/>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3 — CLUSTERING ANALYSIS  |  OVERVIEW</a:t>
            </a:r>
            <a:endParaRPr sz="900">
              <a:solidFill>
                <a:schemeClr val="dk1"/>
              </a:solidFill>
              <a:latin typeface="Calibri"/>
              <a:ea typeface="Calibri"/>
              <a:cs typeface="Calibri"/>
              <a:sym typeface="Calibri"/>
            </a:endParaRPr>
          </a:p>
        </p:txBody>
      </p:sp>
      <p:sp>
        <p:nvSpPr>
          <p:cNvPr id="818" name="Google Shape;818;p15"/>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9" name="Google Shape;819;p15"/>
          <p:cNvSpPr/>
          <p:nvPr/>
        </p:nvSpPr>
        <p:spPr>
          <a:xfrm>
            <a:off x="0" y="960120"/>
            <a:ext cx="9144000" cy="5486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 name="Google Shape;820;p15"/>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Clustering Analysis — Overview</a:t>
            </a:r>
            <a:endParaRPr sz="2000">
              <a:solidFill>
                <a:schemeClr val="dk1"/>
              </a:solidFill>
              <a:latin typeface="Calibri"/>
              <a:ea typeface="Calibri"/>
              <a:cs typeface="Calibri"/>
              <a:sym typeface="Calibri"/>
            </a:endParaRPr>
          </a:p>
        </p:txBody>
      </p:sp>
      <p:sp>
        <p:nvSpPr>
          <p:cNvPr id="821" name="Google Shape;821;p15"/>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K-Means + Hierarchical across 3 analytical dimensions | ARI cross-validation</a:t>
            </a:r>
            <a:endParaRPr sz="1100">
              <a:solidFill>
                <a:schemeClr val="dk1"/>
              </a:solidFill>
              <a:latin typeface="Calibri"/>
              <a:ea typeface="Calibri"/>
              <a:cs typeface="Calibri"/>
              <a:sym typeface="Calibri"/>
            </a:endParaRPr>
          </a:p>
        </p:txBody>
      </p:sp>
      <p:sp>
        <p:nvSpPr>
          <p:cNvPr id="822" name="Google Shape;822;p15"/>
          <p:cNvSpPr/>
          <p:nvPr/>
        </p:nvSpPr>
        <p:spPr>
          <a:xfrm>
            <a:off x="274320" y="1170432"/>
            <a:ext cx="2834640" cy="324612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3" name="Google Shape;823;p15"/>
          <p:cNvSpPr/>
          <p:nvPr/>
        </p:nvSpPr>
        <p:spPr>
          <a:xfrm>
            <a:off x="274320" y="1170432"/>
            <a:ext cx="2834640" cy="4572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4" name="Google Shape;824;p15"/>
          <p:cNvSpPr/>
          <p:nvPr/>
        </p:nvSpPr>
        <p:spPr>
          <a:xfrm>
            <a:off x="274320" y="1170432"/>
            <a:ext cx="502920" cy="457200"/>
          </a:xfrm>
          <a:prstGeom prst="rect">
            <a:avLst/>
          </a:prstGeom>
          <a:solidFill>
            <a:srgbClr val="0D1B2A">
              <a:alpha val="7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5" name="Google Shape;825;p15"/>
          <p:cNvSpPr/>
          <p:nvPr/>
        </p:nvSpPr>
        <p:spPr>
          <a:xfrm>
            <a:off x="274320" y="1170432"/>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a:solidFill>
                  <a:srgbClr val="FFFFFF"/>
                </a:solidFill>
                <a:latin typeface="Calibri"/>
                <a:ea typeface="Calibri"/>
                <a:cs typeface="Calibri"/>
                <a:sym typeface="Calibri"/>
              </a:rPr>
              <a:t>01</a:t>
            </a:r>
            <a:endParaRPr sz="1500">
              <a:solidFill>
                <a:schemeClr val="dk1"/>
              </a:solidFill>
              <a:latin typeface="Calibri"/>
              <a:ea typeface="Calibri"/>
              <a:cs typeface="Calibri"/>
              <a:sym typeface="Calibri"/>
            </a:endParaRPr>
          </a:p>
        </p:txBody>
      </p:sp>
      <p:sp>
        <p:nvSpPr>
          <p:cNvPr id="826" name="Google Shape;826;p15"/>
          <p:cNvSpPr/>
          <p:nvPr/>
        </p:nvSpPr>
        <p:spPr>
          <a:xfrm>
            <a:off x="841248" y="1234440"/>
            <a:ext cx="2194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Customer Segmentation</a:t>
            </a:r>
            <a:endParaRPr sz="1200">
              <a:solidFill>
                <a:schemeClr val="dk1"/>
              </a:solidFill>
              <a:latin typeface="Calibri"/>
              <a:ea typeface="Calibri"/>
              <a:cs typeface="Calibri"/>
              <a:sym typeface="Calibri"/>
            </a:endParaRPr>
          </a:p>
        </p:txBody>
      </p:sp>
      <p:sp>
        <p:nvSpPr>
          <p:cNvPr id="827" name="Google Shape;827;p15"/>
          <p:cNvSpPr/>
          <p:nvPr/>
        </p:nvSpPr>
        <p:spPr>
          <a:xfrm>
            <a:off x="411480" y="1719072"/>
            <a:ext cx="2578608"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RFM-based K-Means &amp; Hierarchical</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4,124 customers (after outlier removal)</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4 clusters: Loyal · Active · Occasional · Lapsed</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ARI = 0.762 — strong method agreement</a:t>
            </a:r>
            <a:endParaRPr sz="1000">
              <a:solidFill>
                <a:schemeClr val="dk1"/>
              </a:solidFill>
              <a:latin typeface="Calibri"/>
              <a:ea typeface="Calibri"/>
              <a:cs typeface="Calibri"/>
              <a:sym typeface="Calibri"/>
            </a:endParaRPr>
          </a:p>
        </p:txBody>
      </p:sp>
      <p:sp>
        <p:nvSpPr>
          <p:cNvPr id="828" name="Google Shape;828;p15"/>
          <p:cNvSpPr/>
          <p:nvPr/>
        </p:nvSpPr>
        <p:spPr>
          <a:xfrm>
            <a:off x="411480" y="3246120"/>
            <a:ext cx="2578608"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9" name="Google Shape;829;p15"/>
          <p:cNvSpPr/>
          <p:nvPr/>
        </p:nvSpPr>
        <p:spPr>
          <a:xfrm>
            <a:off x="411480" y="3246120"/>
            <a:ext cx="257860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Optimal k: k = 4</a:t>
            </a:r>
            <a:endParaRPr sz="1200">
              <a:solidFill>
                <a:schemeClr val="dk1"/>
              </a:solidFill>
              <a:latin typeface="Calibri"/>
              <a:ea typeface="Calibri"/>
              <a:cs typeface="Calibri"/>
              <a:sym typeface="Calibri"/>
            </a:endParaRPr>
          </a:p>
        </p:txBody>
      </p:sp>
      <p:sp>
        <p:nvSpPr>
          <p:cNvPr id="830" name="Google Shape;830;p15"/>
          <p:cNvSpPr/>
          <p:nvPr/>
        </p:nvSpPr>
        <p:spPr>
          <a:xfrm>
            <a:off x="411480" y="3621024"/>
            <a:ext cx="2578608" cy="640080"/>
          </a:xfrm>
          <a:prstGeom prst="rect">
            <a:avLst/>
          </a:prstGeom>
          <a:solidFill>
            <a:srgbClr val="F1F5F9"/>
          </a:solidFill>
          <a:ln w="12700"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1" name="Google Shape;831;p15"/>
          <p:cNvSpPr/>
          <p:nvPr/>
        </p:nvSpPr>
        <p:spPr>
          <a:xfrm>
            <a:off x="457200" y="3657600"/>
            <a:ext cx="2487168"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K-Means + Hierarchical (Ward)</a:t>
            </a:r>
            <a:endParaRPr sz="8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StandardScaler · PCA · Silhouette · ARI</a:t>
            </a:r>
            <a:endParaRPr sz="850">
              <a:solidFill>
                <a:schemeClr val="dk1"/>
              </a:solidFill>
              <a:latin typeface="Calibri"/>
              <a:ea typeface="Calibri"/>
              <a:cs typeface="Calibri"/>
              <a:sym typeface="Calibri"/>
            </a:endParaRPr>
          </a:p>
        </p:txBody>
      </p:sp>
      <p:sp>
        <p:nvSpPr>
          <p:cNvPr id="832" name="Google Shape;832;p15"/>
          <p:cNvSpPr/>
          <p:nvPr/>
        </p:nvSpPr>
        <p:spPr>
          <a:xfrm>
            <a:off x="3264408" y="1170432"/>
            <a:ext cx="2834640" cy="324612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3" name="Google Shape;833;p15"/>
          <p:cNvSpPr/>
          <p:nvPr/>
        </p:nvSpPr>
        <p:spPr>
          <a:xfrm>
            <a:off x="3264408" y="1170432"/>
            <a:ext cx="2834640" cy="457200"/>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4" name="Google Shape;834;p15"/>
          <p:cNvSpPr/>
          <p:nvPr/>
        </p:nvSpPr>
        <p:spPr>
          <a:xfrm>
            <a:off x="3264408" y="1170432"/>
            <a:ext cx="502920" cy="457200"/>
          </a:xfrm>
          <a:prstGeom prst="rect">
            <a:avLst/>
          </a:prstGeom>
          <a:solidFill>
            <a:srgbClr val="0D1B2A">
              <a:alpha val="7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5" name="Google Shape;835;p15"/>
          <p:cNvSpPr/>
          <p:nvPr/>
        </p:nvSpPr>
        <p:spPr>
          <a:xfrm>
            <a:off x="3264408" y="1170432"/>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a:solidFill>
                  <a:srgbClr val="FFFFFF"/>
                </a:solidFill>
                <a:latin typeface="Calibri"/>
                <a:ea typeface="Calibri"/>
                <a:cs typeface="Calibri"/>
                <a:sym typeface="Calibri"/>
              </a:rPr>
              <a:t>02</a:t>
            </a:r>
            <a:endParaRPr sz="1500">
              <a:solidFill>
                <a:schemeClr val="dk1"/>
              </a:solidFill>
              <a:latin typeface="Calibri"/>
              <a:ea typeface="Calibri"/>
              <a:cs typeface="Calibri"/>
              <a:sym typeface="Calibri"/>
            </a:endParaRPr>
          </a:p>
        </p:txBody>
      </p:sp>
      <p:sp>
        <p:nvSpPr>
          <p:cNvPr id="836" name="Google Shape;836;p15"/>
          <p:cNvSpPr/>
          <p:nvPr/>
        </p:nvSpPr>
        <p:spPr>
          <a:xfrm>
            <a:off x="3831336" y="1234440"/>
            <a:ext cx="2194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Demand Pattern Analysis</a:t>
            </a:r>
            <a:endParaRPr sz="1200">
              <a:solidFill>
                <a:schemeClr val="dk1"/>
              </a:solidFill>
              <a:latin typeface="Calibri"/>
              <a:ea typeface="Calibri"/>
              <a:cs typeface="Calibri"/>
              <a:sym typeface="Calibri"/>
            </a:endParaRPr>
          </a:p>
        </p:txBody>
      </p:sp>
      <p:sp>
        <p:nvSpPr>
          <p:cNvPr id="837" name="Google Shape;837;p15"/>
          <p:cNvSpPr/>
          <p:nvPr/>
        </p:nvSpPr>
        <p:spPr>
          <a:xfrm>
            <a:off x="3401568" y="1719072"/>
            <a:ext cx="2578608"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Product-Level RFM Clustering</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3,575 products clustered into 3 tiers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Fast-moving · Steady · Slow-moving</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Word analysis confirms product archetypes</a:t>
            </a:r>
            <a:endParaRPr sz="1000">
              <a:solidFill>
                <a:schemeClr val="dk1"/>
              </a:solidFill>
              <a:latin typeface="Calibri"/>
              <a:ea typeface="Calibri"/>
              <a:cs typeface="Calibri"/>
              <a:sym typeface="Calibri"/>
            </a:endParaRPr>
          </a:p>
        </p:txBody>
      </p:sp>
      <p:sp>
        <p:nvSpPr>
          <p:cNvPr id="838" name="Google Shape;838;p15"/>
          <p:cNvSpPr/>
          <p:nvPr/>
        </p:nvSpPr>
        <p:spPr>
          <a:xfrm>
            <a:off x="3401568" y="3246120"/>
            <a:ext cx="2578608" cy="347472"/>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9" name="Google Shape;839;p15"/>
          <p:cNvSpPr/>
          <p:nvPr/>
        </p:nvSpPr>
        <p:spPr>
          <a:xfrm>
            <a:off x="3401568" y="3246120"/>
            <a:ext cx="257860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Optimal k: k = 3</a:t>
            </a:r>
            <a:endParaRPr sz="1200">
              <a:solidFill>
                <a:schemeClr val="dk1"/>
              </a:solidFill>
              <a:latin typeface="Calibri"/>
              <a:ea typeface="Calibri"/>
              <a:cs typeface="Calibri"/>
              <a:sym typeface="Calibri"/>
            </a:endParaRPr>
          </a:p>
        </p:txBody>
      </p:sp>
      <p:sp>
        <p:nvSpPr>
          <p:cNvPr id="840" name="Google Shape;840;p15"/>
          <p:cNvSpPr/>
          <p:nvPr/>
        </p:nvSpPr>
        <p:spPr>
          <a:xfrm>
            <a:off x="3401568" y="3621024"/>
            <a:ext cx="2578608" cy="640080"/>
          </a:xfrm>
          <a:prstGeom prst="rect">
            <a:avLst/>
          </a:prstGeom>
          <a:solidFill>
            <a:srgbClr val="F1F5F9"/>
          </a:solidFill>
          <a:ln w="12700"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1" name="Google Shape;841;p15"/>
          <p:cNvSpPr/>
          <p:nvPr/>
        </p:nvSpPr>
        <p:spPr>
          <a:xfrm>
            <a:off x="3447288" y="3657600"/>
            <a:ext cx="2487168"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K-Means + Hierarchical (Ward)</a:t>
            </a:r>
            <a:endParaRPr sz="8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StandardScaler · PCA · Silhouette · ARI</a:t>
            </a:r>
            <a:endParaRPr sz="850">
              <a:solidFill>
                <a:schemeClr val="dk1"/>
              </a:solidFill>
              <a:latin typeface="Calibri"/>
              <a:ea typeface="Calibri"/>
              <a:cs typeface="Calibri"/>
              <a:sym typeface="Calibri"/>
            </a:endParaRPr>
          </a:p>
        </p:txBody>
      </p:sp>
      <p:sp>
        <p:nvSpPr>
          <p:cNvPr id="842" name="Google Shape;842;p15"/>
          <p:cNvSpPr/>
          <p:nvPr/>
        </p:nvSpPr>
        <p:spPr>
          <a:xfrm>
            <a:off x="6254496" y="1170432"/>
            <a:ext cx="2834640" cy="324612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3" name="Google Shape;843;p15"/>
          <p:cNvSpPr/>
          <p:nvPr/>
        </p:nvSpPr>
        <p:spPr>
          <a:xfrm>
            <a:off x="6254496" y="1170432"/>
            <a:ext cx="2834640" cy="4572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4" name="Google Shape;844;p15"/>
          <p:cNvSpPr/>
          <p:nvPr/>
        </p:nvSpPr>
        <p:spPr>
          <a:xfrm>
            <a:off x="6254496" y="1170432"/>
            <a:ext cx="502920" cy="457200"/>
          </a:xfrm>
          <a:prstGeom prst="rect">
            <a:avLst/>
          </a:prstGeom>
          <a:solidFill>
            <a:srgbClr val="0D1B2A">
              <a:alpha val="70196"/>
            </a:srgbClr>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5" name="Google Shape;845;p15"/>
          <p:cNvSpPr/>
          <p:nvPr/>
        </p:nvSpPr>
        <p:spPr>
          <a:xfrm>
            <a:off x="6254496" y="1170432"/>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a:solidFill>
                  <a:srgbClr val="FFFFFF"/>
                </a:solidFill>
                <a:latin typeface="Calibri"/>
                <a:ea typeface="Calibri"/>
                <a:cs typeface="Calibri"/>
                <a:sym typeface="Calibri"/>
              </a:rPr>
              <a:t>03</a:t>
            </a:r>
            <a:endParaRPr sz="1500">
              <a:solidFill>
                <a:schemeClr val="dk1"/>
              </a:solidFill>
              <a:latin typeface="Calibri"/>
              <a:ea typeface="Calibri"/>
              <a:cs typeface="Calibri"/>
              <a:sym typeface="Calibri"/>
            </a:endParaRPr>
          </a:p>
        </p:txBody>
      </p:sp>
      <p:sp>
        <p:nvSpPr>
          <p:cNvPr id="846" name="Google Shape;846;p15"/>
          <p:cNvSpPr/>
          <p:nvPr/>
        </p:nvSpPr>
        <p:spPr>
          <a:xfrm>
            <a:off x="6821424" y="1234440"/>
            <a:ext cx="2194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Service Performance</a:t>
            </a:r>
            <a:endParaRPr sz="1200">
              <a:solidFill>
                <a:schemeClr val="dk1"/>
              </a:solidFill>
              <a:latin typeface="Calibri"/>
              <a:ea typeface="Calibri"/>
              <a:cs typeface="Calibri"/>
              <a:sym typeface="Calibri"/>
            </a:endParaRPr>
          </a:p>
        </p:txBody>
      </p:sp>
      <p:sp>
        <p:nvSpPr>
          <p:cNvPr id="847" name="Google Shape;847;p15"/>
          <p:cNvSpPr/>
          <p:nvPr/>
        </p:nvSpPr>
        <p:spPr>
          <a:xfrm>
            <a:off x="6391656" y="1719072"/>
            <a:ext cx="2578608"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Country-Level K-Means &amp; Hierarchical</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37 countries across 3 performance tiers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Core · Growth · Developing markets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ARI = 0.795 — strong method agreement</a:t>
            </a:r>
            <a:endParaRPr sz="1000">
              <a:solidFill>
                <a:schemeClr val="dk1"/>
              </a:solidFill>
              <a:latin typeface="Calibri"/>
              <a:ea typeface="Calibri"/>
              <a:cs typeface="Calibri"/>
              <a:sym typeface="Calibri"/>
            </a:endParaRPr>
          </a:p>
        </p:txBody>
      </p:sp>
      <p:sp>
        <p:nvSpPr>
          <p:cNvPr id="848" name="Google Shape;848;p15"/>
          <p:cNvSpPr/>
          <p:nvPr/>
        </p:nvSpPr>
        <p:spPr>
          <a:xfrm>
            <a:off x="6391656" y="3246120"/>
            <a:ext cx="2578608"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9" name="Google Shape;849;p15"/>
          <p:cNvSpPr/>
          <p:nvPr/>
        </p:nvSpPr>
        <p:spPr>
          <a:xfrm>
            <a:off x="6391656" y="3246120"/>
            <a:ext cx="257860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Optimal k: k = 3</a:t>
            </a:r>
            <a:endParaRPr sz="1200">
              <a:solidFill>
                <a:schemeClr val="dk1"/>
              </a:solidFill>
              <a:latin typeface="Calibri"/>
              <a:ea typeface="Calibri"/>
              <a:cs typeface="Calibri"/>
              <a:sym typeface="Calibri"/>
            </a:endParaRPr>
          </a:p>
        </p:txBody>
      </p:sp>
      <p:sp>
        <p:nvSpPr>
          <p:cNvPr id="850" name="Google Shape;850;p15"/>
          <p:cNvSpPr/>
          <p:nvPr/>
        </p:nvSpPr>
        <p:spPr>
          <a:xfrm>
            <a:off x="6391656" y="3621024"/>
            <a:ext cx="2578608" cy="640080"/>
          </a:xfrm>
          <a:prstGeom prst="rect">
            <a:avLst/>
          </a:prstGeom>
          <a:solidFill>
            <a:srgbClr val="F1F5F9"/>
          </a:solidFill>
          <a:ln w="12700"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1" name="Google Shape;851;p15"/>
          <p:cNvSpPr/>
          <p:nvPr/>
        </p:nvSpPr>
        <p:spPr>
          <a:xfrm>
            <a:off x="6437376" y="3657600"/>
            <a:ext cx="2487168"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K-Means + Hierarchical (Ward)</a:t>
            </a:r>
            <a:endParaRPr sz="850">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StandardScaler · PCA · Silhouette · ARI</a:t>
            </a:r>
            <a:endParaRPr sz="850">
              <a:solidFill>
                <a:schemeClr val="dk1"/>
              </a:solidFill>
              <a:latin typeface="Calibri"/>
              <a:ea typeface="Calibri"/>
              <a:cs typeface="Calibri"/>
              <a:sym typeface="Calibri"/>
            </a:endParaRPr>
          </a:p>
        </p:txBody>
      </p:sp>
      <p:sp>
        <p:nvSpPr>
          <p:cNvPr id="852" name="Google Shape;852;p15"/>
          <p:cNvSpPr/>
          <p:nvPr/>
        </p:nvSpPr>
        <p:spPr>
          <a:xfrm>
            <a:off x="274320" y="4553712"/>
            <a:ext cx="8595360" cy="38404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3" name="Google Shape;853;p15"/>
          <p:cNvSpPr/>
          <p:nvPr/>
        </p:nvSpPr>
        <p:spPr>
          <a:xfrm>
            <a:off x="457200" y="4608576"/>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METHOD VALIDATION — Adjusted Rand Index (ARI):</a:t>
            </a:r>
            <a:endParaRPr sz="900">
              <a:solidFill>
                <a:schemeClr val="dk1"/>
              </a:solidFill>
              <a:latin typeface="Calibri"/>
              <a:ea typeface="Calibri"/>
              <a:cs typeface="Calibri"/>
              <a:sym typeface="Calibri"/>
            </a:endParaRPr>
          </a:p>
        </p:txBody>
      </p:sp>
      <p:sp>
        <p:nvSpPr>
          <p:cNvPr id="854" name="Google Shape;854;p15"/>
          <p:cNvSpPr/>
          <p:nvPr/>
        </p:nvSpPr>
        <p:spPr>
          <a:xfrm>
            <a:off x="4023360" y="4608576"/>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50"/>
              <a:buFont typeface="Calibri"/>
              <a:buNone/>
            </a:pPr>
            <a:r>
              <a:rPr lang="en-US" sz="950" b="1">
                <a:solidFill>
                  <a:srgbClr val="22C55E"/>
                </a:solidFill>
                <a:latin typeface="Calibri"/>
                <a:ea typeface="Calibri"/>
                <a:cs typeface="Calibri"/>
                <a:sym typeface="Calibri"/>
              </a:rPr>
              <a:t>Customer ARI = 0.762 ✓</a:t>
            </a:r>
            <a:endParaRPr sz="950">
              <a:solidFill>
                <a:schemeClr val="dk1"/>
              </a:solidFill>
              <a:latin typeface="Calibri"/>
              <a:ea typeface="Calibri"/>
              <a:cs typeface="Calibri"/>
              <a:sym typeface="Calibri"/>
            </a:endParaRPr>
          </a:p>
        </p:txBody>
      </p:sp>
      <p:sp>
        <p:nvSpPr>
          <p:cNvPr id="855" name="Google Shape;855;p15"/>
          <p:cNvSpPr/>
          <p:nvPr/>
        </p:nvSpPr>
        <p:spPr>
          <a:xfrm>
            <a:off x="5760720" y="4608576"/>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50"/>
              <a:buFont typeface="Calibri"/>
              <a:buNone/>
            </a:pPr>
            <a:r>
              <a:rPr lang="en-US" sz="950" b="1">
                <a:solidFill>
                  <a:srgbClr val="22C55E"/>
                </a:solidFill>
                <a:latin typeface="Calibri"/>
                <a:ea typeface="Calibri"/>
                <a:cs typeface="Calibri"/>
                <a:sym typeface="Calibri"/>
              </a:rPr>
              <a:t>Country ARI = 0.795 ✓</a:t>
            </a:r>
            <a:endParaRPr sz="950">
              <a:solidFill>
                <a:schemeClr val="dk1"/>
              </a:solidFill>
              <a:latin typeface="Calibri"/>
              <a:ea typeface="Calibri"/>
              <a:cs typeface="Calibri"/>
              <a:sym typeface="Calibri"/>
            </a:endParaRPr>
          </a:p>
        </p:txBody>
      </p:sp>
      <p:sp>
        <p:nvSpPr>
          <p:cNvPr id="856" name="Google Shape;856;p15"/>
          <p:cNvSpPr/>
          <p:nvPr/>
        </p:nvSpPr>
        <p:spPr>
          <a:xfrm>
            <a:off x="7406640" y="4608576"/>
            <a:ext cx="1371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50"/>
              <a:buFont typeface="Calibri"/>
              <a:buNone/>
            </a:pPr>
            <a:r>
              <a:rPr lang="en-US" sz="950" b="1">
                <a:solidFill>
                  <a:srgbClr val="F59E0B"/>
                </a:solidFill>
                <a:latin typeface="Calibri"/>
                <a:ea typeface="Calibri"/>
                <a:cs typeface="Calibri"/>
                <a:sym typeface="Calibri"/>
              </a:rPr>
              <a:t>Threshold &gt; 0.7 ✓</a:t>
            </a:r>
            <a:endParaRPr sz="9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1"/>
        <p:cNvGrpSpPr/>
        <p:nvPr/>
      </p:nvGrpSpPr>
      <p:grpSpPr>
        <a:xfrm>
          <a:off x="0" y="0"/>
          <a:ext cx="0" cy="0"/>
          <a:chOff x="0" y="0"/>
          <a:chExt cx="0" cy="0"/>
        </a:xfrm>
      </p:grpSpPr>
      <p:sp>
        <p:nvSpPr>
          <p:cNvPr id="862" name="Google Shape;862;p16"/>
          <p:cNvSpPr/>
          <p:nvPr/>
        </p:nvSpPr>
        <p:spPr>
          <a:xfrm>
            <a:off x="0" y="0"/>
            <a:ext cx="9144000" cy="20116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3" name="Google Shape;863;p16"/>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3 — CLUSTERING  |  PART 1: CUSTOMER SEGMENTATION (RFM)</a:t>
            </a:r>
            <a:endParaRPr sz="900">
              <a:solidFill>
                <a:schemeClr val="dk1"/>
              </a:solidFill>
              <a:latin typeface="Calibri"/>
              <a:ea typeface="Calibri"/>
              <a:cs typeface="Calibri"/>
              <a:sym typeface="Calibri"/>
            </a:endParaRPr>
          </a:p>
        </p:txBody>
      </p:sp>
      <p:sp>
        <p:nvSpPr>
          <p:cNvPr id="864" name="Google Shape;864;p16"/>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5" name="Google Shape;865;p16"/>
          <p:cNvSpPr/>
          <p:nvPr/>
        </p:nvSpPr>
        <p:spPr>
          <a:xfrm>
            <a:off x="0" y="960120"/>
            <a:ext cx="9144000" cy="5486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6" name="Google Shape;866;p16"/>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Part 1 — Customer Segmentation (RFM K-Means k=4)</a:t>
            </a:r>
            <a:endParaRPr sz="2000">
              <a:solidFill>
                <a:schemeClr val="dk1"/>
              </a:solidFill>
              <a:latin typeface="Calibri"/>
              <a:ea typeface="Calibri"/>
              <a:cs typeface="Calibri"/>
              <a:sym typeface="Calibri"/>
            </a:endParaRPr>
          </a:p>
        </p:txBody>
      </p:sp>
      <p:sp>
        <p:nvSpPr>
          <p:cNvPr id="867" name="Google Shape;867;p16"/>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4,124 customers · RFM features · StandardScaler · ARI = 0.762</a:t>
            </a:r>
            <a:endParaRPr sz="1100">
              <a:solidFill>
                <a:schemeClr val="dk1"/>
              </a:solidFill>
              <a:latin typeface="Calibri"/>
              <a:ea typeface="Calibri"/>
              <a:cs typeface="Calibri"/>
              <a:sym typeface="Calibri"/>
            </a:endParaRPr>
          </a:p>
        </p:txBody>
      </p:sp>
      <p:sp>
        <p:nvSpPr>
          <p:cNvPr id="868" name="Google Shape;868;p16"/>
          <p:cNvSpPr/>
          <p:nvPr/>
        </p:nvSpPr>
        <p:spPr>
          <a:xfrm>
            <a:off x="256032" y="1170432"/>
            <a:ext cx="2084832" cy="374904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9" name="Google Shape;869;p16"/>
          <p:cNvSpPr/>
          <p:nvPr/>
        </p:nvSpPr>
        <p:spPr>
          <a:xfrm>
            <a:off x="256032" y="1170432"/>
            <a:ext cx="2084832" cy="47548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0" name="Google Shape;870;p16"/>
          <p:cNvSpPr/>
          <p:nvPr/>
        </p:nvSpPr>
        <p:spPr>
          <a:xfrm>
            <a:off x="329184" y="1207008"/>
            <a:ext cx="19385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Loyal High-Value</a:t>
            </a:r>
            <a:endParaRPr sz="1200">
              <a:solidFill>
                <a:schemeClr val="dk1"/>
              </a:solidFill>
              <a:latin typeface="Calibri"/>
              <a:ea typeface="Calibri"/>
              <a:cs typeface="Calibri"/>
              <a:sym typeface="Calibri"/>
            </a:endParaRPr>
          </a:p>
        </p:txBody>
      </p:sp>
      <p:sp>
        <p:nvSpPr>
          <p:cNvPr id="871" name="Google Shape;871;p16"/>
          <p:cNvSpPr/>
          <p:nvPr/>
        </p:nvSpPr>
        <p:spPr>
          <a:xfrm>
            <a:off x="347472" y="173736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2" name="Google Shape;872;p16"/>
          <p:cNvSpPr/>
          <p:nvPr/>
        </p:nvSpPr>
        <p:spPr>
          <a:xfrm>
            <a:off x="347472" y="1737360"/>
            <a:ext cx="256032"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3" name="Google Shape;873;p16"/>
          <p:cNvSpPr/>
          <p:nvPr/>
        </p:nvSpPr>
        <p:spPr>
          <a:xfrm>
            <a:off x="347472" y="173736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874" name="Google Shape;874;p16"/>
          <p:cNvSpPr/>
          <p:nvPr/>
        </p:nvSpPr>
        <p:spPr>
          <a:xfrm>
            <a:off x="640080" y="181051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12.7d</a:t>
            </a:r>
            <a:endParaRPr sz="1100">
              <a:solidFill>
                <a:schemeClr val="dk1"/>
              </a:solidFill>
              <a:latin typeface="Calibri"/>
              <a:ea typeface="Calibri"/>
              <a:cs typeface="Calibri"/>
              <a:sym typeface="Calibri"/>
            </a:endParaRPr>
          </a:p>
        </p:txBody>
      </p:sp>
      <p:sp>
        <p:nvSpPr>
          <p:cNvPr id="875" name="Google Shape;875;p16"/>
          <p:cNvSpPr/>
          <p:nvPr/>
        </p:nvSpPr>
        <p:spPr>
          <a:xfrm>
            <a:off x="347472" y="2148840"/>
            <a:ext cx="1901952"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6" name="Google Shape;876;p16"/>
          <p:cNvSpPr/>
          <p:nvPr/>
        </p:nvSpPr>
        <p:spPr>
          <a:xfrm>
            <a:off x="347472" y="2148840"/>
            <a:ext cx="256032" cy="347472"/>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16"/>
          <p:cNvSpPr/>
          <p:nvPr/>
        </p:nvSpPr>
        <p:spPr>
          <a:xfrm>
            <a:off x="347472" y="214884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F</a:t>
            </a:r>
            <a:endParaRPr sz="1000">
              <a:solidFill>
                <a:schemeClr val="dk1"/>
              </a:solidFill>
              <a:latin typeface="Calibri"/>
              <a:ea typeface="Calibri"/>
              <a:cs typeface="Calibri"/>
              <a:sym typeface="Calibri"/>
            </a:endParaRPr>
          </a:p>
        </p:txBody>
      </p:sp>
      <p:sp>
        <p:nvSpPr>
          <p:cNvPr id="878" name="Google Shape;878;p16"/>
          <p:cNvSpPr/>
          <p:nvPr/>
        </p:nvSpPr>
        <p:spPr>
          <a:xfrm>
            <a:off x="640080" y="222199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14.5</a:t>
            </a:r>
            <a:endParaRPr sz="1100">
              <a:solidFill>
                <a:schemeClr val="dk1"/>
              </a:solidFill>
              <a:latin typeface="Calibri"/>
              <a:ea typeface="Calibri"/>
              <a:cs typeface="Calibri"/>
              <a:sym typeface="Calibri"/>
            </a:endParaRPr>
          </a:p>
        </p:txBody>
      </p:sp>
      <p:sp>
        <p:nvSpPr>
          <p:cNvPr id="879" name="Google Shape;879;p16"/>
          <p:cNvSpPr/>
          <p:nvPr/>
        </p:nvSpPr>
        <p:spPr>
          <a:xfrm>
            <a:off x="347472" y="256032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16"/>
          <p:cNvSpPr/>
          <p:nvPr/>
        </p:nvSpPr>
        <p:spPr>
          <a:xfrm>
            <a:off x="347472" y="2560320"/>
            <a:ext cx="256032"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16"/>
          <p:cNvSpPr/>
          <p:nvPr/>
        </p:nvSpPr>
        <p:spPr>
          <a:xfrm>
            <a:off x="347472" y="256032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M</a:t>
            </a:r>
            <a:endParaRPr sz="1000">
              <a:solidFill>
                <a:schemeClr val="dk1"/>
              </a:solidFill>
              <a:latin typeface="Calibri"/>
              <a:ea typeface="Calibri"/>
              <a:cs typeface="Calibri"/>
              <a:sym typeface="Calibri"/>
            </a:endParaRPr>
          </a:p>
        </p:txBody>
      </p:sp>
      <p:sp>
        <p:nvSpPr>
          <p:cNvPr id="882" name="Google Shape;882;p16"/>
          <p:cNvSpPr/>
          <p:nvPr/>
        </p:nvSpPr>
        <p:spPr>
          <a:xfrm>
            <a:off x="640080" y="263347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£4,158</a:t>
            </a:r>
            <a:endParaRPr sz="1100">
              <a:solidFill>
                <a:schemeClr val="dk1"/>
              </a:solidFill>
              <a:latin typeface="Calibri"/>
              <a:ea typeface="Calibri"/>
              <a:cs typeface="Calibri"/>
              <a:sym typeface="Calibri"/>
            </a:endParaRPr>
          </a:p>
        </p:txBody>
      </p:sp>
      <p:sp>
        <p:nvSpPr>
          <p:cNvPr id="883" name="Google Shape;883;p16"/>
          <p:cNvSpPr/>
          <p:nvPr/>
        </p:nvSpPr>
        <p:spPr>
          <a:xfrm>
            <a:off x="347472" y="2990088"/>
            <a:ext cx="190195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n = 309 customers</a:t>
            </a:r>
            <a:endParaRPr sz="900">
              <a:solidFill>
                <a:schemeClr val="dk1"/>
              </a:solidFill>
              <a:latin typeface="Calibri"/>
              <a:ea typeface="Calibri"/>
              <a:cs typeface="Calibri"/>
              <a:sym typeface="Calibri"/>
            </a:endParaRPr>
          </a:p>
        </p:txBody>
      </p:sp>
      <p:sp>
        <p:nvSpPr>
          <p:cNvPr id="884" name="Google Shape;884;p16"/>
          <p:cNvSpPr/>
          <p:nvPr/>
        </p:nvSpPr>
        <p:spPr>
          <a:xfrm>
            <a:off x="347472" y="3255264"/>
            <a:ext cx="1901952" cy="36576"/>
          </a:xfrm>
          <a:prstGeom prst="rect">
            <a:avLst/>
          </a:prstGeom>
          <a:solidFill>
            <a:srgbClr val="E2E8F0"/>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16"/>
          <p:cNvSpPr/>
          <p:nvPr/>
        </p:nvSpPr>
        <p:spPr>
          <a:xfrm>
            <a:off x="365760" y="3337560"/>
            <a:ext cx="186537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50"/>
              <a:buFont typeface="Calibri"/>
              <a:buNone/>
            </a:pPr>
            <a:r>
              <a:rPr lang="en-US" sz="850">
                <a:solidFill>
                  <a:srgbClr val="475569"/>
                </a:solidFill>
                <a:latin typeface="Calibri"/>
                <a:ea typeface="Calibri"/>
                <a:cs typeface="Calibri"/>
                <a:sym typeface="Calibri"/>
              </a:rPr>
              <a:t>Most valuable segment. Recent, frequent, high spend. Priority for VIP programme and exclusive offers.</a:t>
            </a:r>
            <a:endParaRPr sz="850">
              <a:solidFill>
                <a:schemeClr val="dk1"/>
              </a:solidFill>
              <a:latin typeface="Calibri"/>
              <a:ea typeface="Calibri"/>
              <a:cs typeface="Calibri"/>
              <a:sym typeface="Calibri"/>
            </a:endParaRPr>
          </a:p>
        </p:txBody>
      </p:sp>
      <p:sp>
        <p:nvSpPr>
          <p:cNvPr id="886" name="Google Shape;886;p16"/>
          <p:cNvSpPr/>
          <p:nvPr/>
        </p:nvSpPr>
        <p:spPr>
          <a:xfrm>
            <a:off x="347472" y="4041648"/>
            <a:ext cx="1901952" cy="749808"/>
          </a:xfrm>
          <a:prstGeom prst="rect">
            <a:avLst/>
          </a:prstGeom>
          <a:solidFill>
            <a:srgbClr val="0D9488">
              <a:alpha val="12156"/>
            </a:srgbClr>
          </a:solidFill>
          <a:ln w="9525" cap="flat" cmpd="sng">
            <a:solidFill>
              <a:srgbClr val="0D9488">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16"/>
          <p:cNvSpPr/>
          <p:nvPr/>
        </p:nvSpPr>
        <p:spPr>
          <a:xfrm>
            <a:off x="384048" y="4069080"/>
            <a:ext cx="18288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 VIP loyalty rewards + personal account manager</a:t>
            </a:r>
            <a:endParaRPr sz="850">
              <a:solidFill>
                <a:schemeClr val="dk1"/>
              </a:solidFill>
              <a:latin typeface="Calibri"/>
              <a:ea typeface="Calibri"/>
              <a:cs typeface="Calibri"/>
              <a:sym typeface="Calibri"/>
            </a:endParaRPr>
          </a:p>
        </p:txBody>
      </p:sp>
      <p:sp>
        <p:nvSpPr>
          <p:cNvPr id="888" name="Google Shape;888;p16"/>
          <p:cNvSpPr/>
          <p:nvPr/>
        </p:nvSpPr>
        <p:spPr>
          <a:xfrm>
            <a:off x="2450592" y="1170432"/>
            <a:ext cx="2084832" cy="374904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16"/>
          <p:cNvSpPr/>
          <p:nvPr/>
        </p:nvSpPr>
        <p:spPr>
          <a:xfrm>
            <a:off x="2450592" y="1170432"/>
            <a:ext cx="2084832" cy="47548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16"/>
          <p:cNvSpPr/>
          <p:nvPr/>
        </p:nvSpPr>
        <p:spPr>
          <a:xfrm>
            <a:off x="2523744" y="1207008"/>
            <a:ext cx="19385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Active Regular</a:t>
            </a:r>
            <a:endParaRPr sz="1200">
              <a:solidFill>
                <a:schemeClr val="dk1"/>
              </a:solidFill>
              <a:latin typeface="Calibri"/>
              <a:ea typeface="Calibri"/>
              <a:cs typeface="Calibri"/>
              <a:sym typeface="Calibri"/>
            </a:endParaRPr>
          </a:p>
        </p:txBody>
      </p:sp>
      <p:sp>
        <p:nvSpPr>
          <p:cNvPr id="891" name="Google Shape;891;p16"/>
          <p:cNvSpPr/>
          <p:nvPr/>
        </p:nvSpPr>
        <p:spPr>
          <a:xfrm>
            <a:off x="2542032" y="173736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16"/>
          <p:cNvSpPr/>
          <p:nvPr/>
        </p:nvSpPr>
        <p:spPr>
          <a:xfrm>
            <a:off x="2542032" y="1737360"/>
            <a:ext cx="256032"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16"/>
          <p:cNvSpPr/>
          <p:nvPr/>
        </p:nvSpPr>
        <p:spPr>
          <a:xfrm>
            <a:off x="2542032" y="173736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894" name="Google Shape;894;p16"/>
          <p:cNvSpPr/>
          <p:nvPr/>
        </p:nvSpPr>
        <p:spPr>
          <a:xfrm>
            <a:off x="2834640" y="181051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31.5d</a:t>
            </a:r>
            <a:endParaRPr sz="1100">
              <a:solidFill>
                <a:schemeClr val="dk1"/>
              </a:solidFill>
              <a:latin typeface="Calibri"/>
              <a:ea typeface="Calibri"/>
              <a:cs typeface="Calibri"/>
              <a:sym typeface="Calibri"/>
            </a:endParaRPr>
          </a:p>
        </p:txBody>
      </p:sp>
      <p:sp>
        <p:nvSpPr>
          <p:cNvPr id="895" name="Google Shape;895;p16"/>
          <p:cNvSpPr/>
          <p:nvPr/>
        </p:nvSpPr>
        <p:spPr>
          <a:xfrm>
            <a:off x="2542032" y="2148840"/>
            <a:ext cx="1901952"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6" name="Google Shape;896;p16"/>
          <p:cNvSpPr/>
          <p:nvPr/>
        </p:nvSpPr>
        <p:spPr>
          <a:xfrm>
            <a:off x="2542032" y="2148840"/>
            <a:ext cx="256032" cy="347472"/>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7" name="Google Shape;897;p16"/>
          <p:cNvSpPr/>
          <p:nvPr/>
        </p:nvSpPr>
        <p:spPr>
          <a:xfrm>
            <a:off x="2542032" y="214884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F</a:t>
            </a:r>
            <a:endParaRPr sz="1000">
              <a:solidFill>
                <a:schemeClr val="dk1"/>
              </a:solidFill>
              <a:latin typeface="Calibri"/>
              <a:ea typeface="Calibri"/>
              <a:cs typeface="Calibri"/>
              <a:sym typeface="Calibri"/>
            </a:endParaRPr>
          </a:p>
        </p:txBody>
      </p:sp>
      <p:sp>
        <p:nvSpPr>
          <p:cNvPr id="898" name="Google Shape;898;p16"/>
          <p:cNvSpPr/>
          <p:nvPr/>
        </p:nvSpPr>
        <p:spPr>
          <a:xfrm>
            <a:off x="2834640" y="222199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6.6</a:t>
            </a:r>
            <a:endParaRPr sz="1100">
              <a:solidFill>
                <a:schemeClr val="dk1"/>
              </a:solidFill>
              <a:latin typeface="Calibri"/>
              <a:ea typeface="Calibri"/>
              <a:cs typeface="Calibri"/>
              <a:sym typeface="Calibri"/>
            </a:endParaRPr>
          </a:p>
        </p:txBody>
      </p:sp>
      <p:sp>
        <p:nvSpPr>
          <p:cNvPr id="899" name="Google Shape;899;p16"/>
          <p:cNvSpPr/>
          <p:nvPr/>
        </p:nvSpPr>
        <p:spPr>
          <a:xfrm>
            <a:off x="2542032" y="256032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0" name="Google Shape;900;p16"/>
          <p:cNvSpPr/>
          <p:nvPr/>
        </p:nvSpPr>
        <p:spPr>
          <a:xfrm>
            <a:off x="2542032" y="2560320"/>
            <a:ext cx="256032"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1" name="Google Shape;901;p16"/>
          <p:cNvSpPr/>
          <p:nvPr/>
        </p:nvSpPr>
        <p:spPr>
          <a:xfrm>
            <a:off x="2542032" y="256032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M</a:t>
            </a:r>
            <a:endParaRPr sz="1000">
              <a:solidFill>
                <a:schemeClr val="dk1"/>
              </a:solidFill>
              <a:latin typeface="Calibri"/>
              <a:ea typeface="Calibri"/>
              <a:cs typeface="Calibri"/>
              <a:sym typeface="Calibri"/>
            </a:endParaRPr>
          </a:p>
        </p:txBody>
      </p:sp>
      <p:sp>
        <p:nvSpPr>
          <p:cNvPr id="902" name="Google Shape;902;p16"/>
          <p:cNvSpPr/>
          <p:nvPr/>
        </p:nvSpPr>
        <p:spPr>
          <a:xfrm>
            <a:off x="2834640" y="263347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£1,813</a:t>
            </a:r>
            <a:endParaRPr sz="1100">
              <a:solidFill>
                <a:schemeClr val="dk1"/>
              </a:solidFill>
              <a:latin typeface="Calibri"/>
              <a:ea typeface="Calibri"/>
              <a:cs typeface="Calibri"/>
              <a:sym typeface="Calibri"/>
            </a:endParaRPr>
          </a:p>
        </p:txBody>
      </p:sp>
      <p:sp>
        <p:nvSpPr>
          <p:cNvPr id="903" name="Google Shape;903;p16"/>
          <p:cNvSpPr/>
          <p:nvPr/>
        </p:nvSpPr>
        <p:spPr>
          <a:xfrm>
            <a:off x="2542032" y="2990088"/>
            <a:ext cx="190195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n = 669 customers</a:t>
            </a:r>
            <a:endParaRPr sz="900">
              <a:solidFill>
                <a:schemeClr val="dk1"/>
              </a:solidFill>
              <a:latin typeface="Calibri"/>
              <a:ea typeface="Calibri"/>
              <a:cs typeface="Calibri"/>
              <a:sym typeface="Calibri"/>
            </a:endParaRPr>
          </a:p>
        </p:txBody>
      </p:sp>
      <p:sp>
        <p:nvSpPr>
          <p:cNvPr id="904" name="Google Shape;904;p16"/>
          <p:cNvSpPr/>
          <p:nvPr/>
        </p:nvSpPr>
        <p:spPr>
          <a:xfrm>
            <a:off x="2542032" y="3255264"/>
            <a:ext cx="1901952" cy="36576"/>
          </a:xfrm>
          <a:prstGeom prst="rect">
            <a:avLst/>
          </a:prstGeom>
          <a:solidFill>
            <a:srgbClr val="E2E8F0"/>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5" name="Google Shape;905;p16"/>
          <p:cNvSpPr/>
          <p:nvPr/>
        </p:nvSpPr>
        <p:spPr>
          <a:xfrm>
            <a:off x="2560320" y="3337560"/>
            <a:ext cx="186537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50"/>
              <a:buFont typeface="Calibri"/>
              <a:buNone/>
            </a:pPr>
            <a:r>
              <a:rPr lang="en-US" sz="850">
                <a:solidFill>
                  <a:srgbClr val="475569"/>
                </a:solidFill>
                <a:latin typeface="Calibri"/>
                <a:ea typeface="Calibri"/>
                <a:cs typeface="Calibri"/>
                <a:sym typeface="Calibri"/>
              </a:rPr>
              <a:t>Healthy engagement. Consistent buyers with moderate spend. Upselling opportunity to move to Loyal tier.</a:t>
            </a:r>
            <a:endParaRPr sz="850">
              <a:solidFill>
                <a:schemeClr val="dk1"/>
              </a:solidFill>
              <a:latin typeface="Calibri"/>
              <a:ea typeface="Calibri"/>
              <a:cs typeface="Calibri"/>
              <a:sym typeface="Calibri"/>
            </a:endParaRPr>
          </a:p>
        </p:txBody>
      </p:sp>
      <p:sp>
        <p:nvSpPr>
          <p:cNvPr id="906" name="Google Shape;906;p16"/>
          <p:cNvSpPr/>
          <p:nvPr/>
        </p:nvSpPr>
        <p:spPr>
          <a:xfrm>
            <a:off x="2542032" y="4041648"/>
            <a:ext cx="1901952" cy="749808"/>
          </a:xfrm>
          <a:prstGeom prst="rect">
            <a:avLst/>
          </a:prstGeom>
          <a:solidFill>
            <a:srgbClr val="06B6D4">
              <a:alpha val="12156"/>
            </a:srgbClr>
          </a:solidFill>
          <a:ln w="9525" cap="flat" cmpd="sng">
            <a:solidFill>
              <a:srgbClr val="06B6D4">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7" name="Google Shape;907;p16"/>
          <p:cNvSpPr/>
          <p:nvPr/>
        </p:nvSpPr>
        <p:spPr>
          <a:xfrm>
            <a:off x="2578608" y="4069080"/>
            <a:ext cx="18288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850"/>
              <a:buFont typeface="Calibri"/>
              <a:buNone/>
            </a:pPr>
            <a:r>
              <a:rPr lang="en-US" sz="850" b="1">
                <a:solidFill>
                  <a:srgbClr val="06B6D4"/>
                </a:solidFill>
                <a:latin typeface="Calibri"/>
                <a:ea typeface="Calibri"/>
                <a:cs typeface="Calibri"/>
                <a:sym typeface="Calibri"/>
              </a:rPr>
              <a:t>→ Upsell campaigns + product bundle offers</a:t>
            </a:r>
            <a:endParaRPr sz="850">
              <a:solidFill>
                <a:schemeClr val="dk1"/>
              </a:solidFill>
              <a:latin typeface="Calibri"/>
              <a:ea typeface="Calibri"/>
              <a:cs typeface="Calibri"/>
              <a:sym typeface="Calibri"/>
            </a:endParaRPr>
          </a:p>
        </p:txBody>
      </p:sp>
      <p:sp>
        <p:nvSpPr>
          <p:cNvPr id="908" name="Google Shape;908;p16"/>
          <p:cNvSpPr/>
          <p:nvPr/>
        </p:nvSpPr>
        <p:spPr>
          <a:xfrm>
            <a:off x="4645152" y="1170432"/>
            <a:ext cx="2084832" cy="374904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9" name="Google Shape;909;p16"/>
          <p:cNvSpPr/>
          <p:nvPr/>
        </p:nvSpPr>
        <p:spPr>
          <a:xfrm>
            <a:off x="4645152" y="1170432"/>
            <a:ext cx="2084832" cy="47548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0" name="Google Shape;910;p16"/>
          <p:cNvSpPr/>
          <p:nvPr/>
        </p:nvSpPr>
        <p:spPr>
          <a:xfrm>
            <a:off x="4718304" y="1207008"/>
            <a:ext cx="19385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Occasional Buyers</a:t>
            </a:r>
            <a:endParaRPr sz="1200">
              <a:solidFill>
                <a:schemeClr val="dk1"/>
              </a:solidFill>
              <a:latin typeface="Calibri"/>
              <a:ea typeface="Calibri"/>
              <a:cs typeface="Calibri"/>
              <a:sym typeface="Calibri"/>
            </a:endParaRPr>
          </a:p>
        </p:txBody>
      </p:sp>
      <p:sp>
        <p:nvSpPr>
          <p:cNvPr id="911" name="Google Shape;911;p16"/>
          <p:cNvSpPr/>
          <p:nvPr/>
        </p:nvSpPr>
        <p:spPr>
          <a:xfrm>
            <a:off x="4736592" y="173736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2" name="Google Shape;912;p16"/>
          <p:cNvSpPr/>
          <p:nvPr/>
        </p:nvSpPr>
        <p:spPr>
          <a:xfrm>
            <a:off x="4736592" y="1737360"/>
            <a:ext cx="256032"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3" name="Google Shape;913;p16"/>
          <p:cNvSpPr/>
          <p:nvPr/>
        </p:nvSpPr>
        <p:spPr>
          <a:xfrm>
            <a:off x="4736592" y="173736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914" name="Google Shape;914;p16"/>
          <p:cNvSpPr/>
          <p:nvPr/>
        </p:nvSpPr>
        <p:spPr>
          <a:xfrm>
            <a:off x="5029200" y="181051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50.0d</a:t>
            </a:r>
            <a:endParaRPr sz="1100">
              <a:solidFill>
                <a:schemeClr val="dk1"/>
              </a:solidFill>
              <a:latin typeface="Calibri"/>
              <a:ea typeface="Calibri"/>
              <a:cs typeface="Calibri"/>
              <a:sym typeface="Calibri"/>
            </a:endParaRPr>
          </a:p>
        </p:txBody>
      </p:sp>
      <p:sp>
        <p:nvSpPr>
          <p:cNvPr id="915" name="Google Shape;915;p16"/>
          <p:cNvSpPr/>
          <p:nvPr/>
        </p:nvSpPr>
        <p:spPr>
          <a:xfrm>
            <a:off x="4736592" y="2148840"/>
            <a:ext cx="1901952"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6" name="Google Shape;916;p16"/>
          <p:cNvSpPr/>
          <p:nvPr/>
        </p:nvSpPr>
        <p:spPr>
          <a:xfrm>
            <a:off x="4736592" y="2148840"/>
            <a:ext cx="256032" cy="347472"/>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7" name="Google Shape;917;p16"/>
          <p:cNvSpPr/>
          <p:nvPr/>
        </p:nvSpPr>
        <p:spPr>
          <a:xfrm>
            <a:off x="4736592" y="214884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F</a:t>
            </a:r>
            <a:endParaRPr sz="1000">
              <a:solidFill>
                <a:schemeClr val="dk1"/>
              </a:solidFill>
              <a:latin typeface="Calibri"/>
              <a:ea typeface="Calibri"/>
              <a:cs typeface="Calibri"/>
              <a:sym typeface="Calibri"/>
            </a:endParaRPr>
          </a:p>
        </p:txBody>
      </p:sp>
      <p:sp>
        <p:nvSpPr>
          <p:cNvPr id="918" name="Google Shape;918;p16"/>
          <p:cNvSpPr/>
          <p:nvPr/>
        </p:nvSpPr>
        <p:spPr>
          <a:xfrm>
            <a:off x="5029200" y="222199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2.2</a:t>
            </a:r>
            <a:endParaRPr sz="1100">
              <a:solidFill>
                <a:schemeClr val="dk1"/>
              </a:solidFill>
              <a:latin typeface="Calibri"/>
              <a:ea typeface="Calibri"/>
              <a:cs typeface="Calibri"/>
              <a:sym typeface="Calibri"/>
            </a:endParaRPr>
          </a:p>
        </p:txBody>
      </p:sp>
      <p:sp>
        <p:nvSpPr>
          <p:cNvPr id="919" name="Google Shape;919;p16"/>
          <p:cNvSpPr/>
          <p:nvPr/>
        </p:nvSpPr>
        <p:spPr>
          <a:xfrm>
            <a:off x="4736592" y="256032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0" name="Google Shape;920;p16"/>
          <p:cNvSpPr/>
          <p:nvPr/>
        </p:nvSpPr>
        <p:spPr>
          <a:xfrm>
            <a:off x="4736592" y="2560320"/>
            <a:ext cx="256032"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1" name="Google Shape;921;p16"/>
          <p:cNvSpPr/>
          <p:nvPr/>
        </p:nvSpPr>
        <p:spPr>
          <a:xfrm>
            <a:off x="4736592" y="256032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M</a:t>
            </a:r>
            <a:endParaRPr sz="1000">
              <a:solidFill>
                <a:schemeClr val="dk1"/>
              </a:solidFill>
              <a:latin typeface="Calibri"/>
              <a:ea typeface="Calibri"/>
              <a:cs typeface="Calibri"/>
              <a:sym typeface="Calibri"/>
            </a:endParaRPr>
          </a:p>
        </p:txBody>
      </p:sp>
      <p:sp>
        <p:nvSpPr>
          <p:cNvPr id="922" name="Google Shape;922;p16"/>
          <p:cNvSpPr/>
          <p:nvPr/>
        </p:nvSpPr>
        <p:spPr>
          <a:xfrm>
            <a:off x="5029200" y="263347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£457</a:t>
            </a:r>
            <a:endParaRPr sz="1100">
              <a:solidFill>
                <a:schemeClr val="dk1"/>
              </a:solidFill>
              <a:latin typeface="Calibri"/>
              <a:ea typeface="Calibri"/>
              <a:cs typeface="Calibri"/>
              <a:sym typeface="Calibri"/>
            </a:endParaRPr>
          </a:p>
        </p:txBody>
      </p:sp>
      <p:sp>
        <p:nvSpPr>
          <p:cNvPr id="923" name="Google Shape;923;p16"/>
          <p:cNvSpPr/>
          <p:nvPr/>
        </p:nvSpPr>
        <p:spPr>
          <a:xfrm>
            <a:off x="4736592" y="2990088"/>
            <a:ext cx="190195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n = 2,082 customers</a:t>
            </a:r>
            <a:endParaRPr sz="900">
              <a:solidFill>
                <a:schemeClr val="dk1"/>
              </a:solidFill>
              <a:latin typeface="Calibri"/>
              <a:ea typeface="Calibri"/>
              <a:cs typeface="Calibri"/>
              <a:sym typeface="Calibri"/>
            </a:endParaRPr>
          </a:p>
        </p:txBody>
      </p:sp>
      <p:sp>
        <p:nvSpPr>
          <p:cNvPr id="924" name="Google Shape;924;p16"/>
          <p:cNvSpPr/>
          <p:nvPr/>
        </p:nvSpPr>
        <p:spPr>
          <a:xfrm>
            <a:off x="4736592" y="3255264"/>
            <a:ext cx="1901952" cy="36576"/>
          </a:xfrm>
          <a:prstGeom prst="rect">
            <a:avLst/>
          </a:prstGeom>
          <a:solidFill>
            <a:srgbClr val="E2E8F0"/>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5" name="Google Shape;925;p16"/>
          <p:cNvSpPr/>
          <p:nvPr/>
        </p:nvSpPr>
        <p:spPr>
          <a:xfrm>
            <a:off x="4754880" y="3337560"/>
            <a:ext cx="186537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50"/>
              <a:buFont typeface="Calibri"/>
              <a:buNone/>
            </a:pPr>
            <a:r>
              <a:rPr lang="en-US" sz="850">
                <a:solidFill>
                  <a:srgbClr val="475569"/>
                </a:solidFill>
                <a:latin typeface="Calibri"/>
                <a:ea typeface="Calibri"/>
                <a:cs typeface="Calibri"/>
                <a:sym typeface="Calibri"/>
              </a:rPr>
              <a:t>Largest segment. Infrequent buyers with low monetary value. High churn risk without re-engagement.</a:t>
            </a:r>
            <a:endParaRPr sz="850">
              <a:solidFill>
                <a:schemeClr val="dk1"/>
              </a:solidFill>
              <a:latin typeface="Calibri"/>
              <a:ea typeface="Calibri"/>
              <a:cs typeface="Calibri"/>
              <a:sym typeface="Calibri"/>
            </a:endParaRPr>
          </a:p>
        </p:txBody>
      </p:sp>
      <p:sp>
        <p:nvSpPr>
          <p:cNvPr id="926" name="Google Shape;926;p16"/>
          <p:cNvSpPr/>
          <p:nvPr/>
        </p:nvSpPr>
        <p:spPr>
          <a:xfrm>
            <a:off x="4736592" y="4041648"/>
            <a:ext cx="1901952" cy="749808"/>
          </a:xfrm>
          <a:prstGeom prst="rect">
            <a:avLst/>
          </a:prstGeom>
          <a:solidFill>
            <a:srgbClr val="F59E0B">
              <a:alpha val="12156"/>
            </a:srgbClr>
          </a:solidFill>
          <a:ln w="9525" cap="flat" cmpd="sng">
            <a:solidFill>
              <a:srgbClr val="F59E0B">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7" name="Google Shape;927;p16"/>
          <p:cNvSpPr/>
          <p:nvPr/>
        </p:nvSpPr>
        <p:spPr>
          <a:xfrm>
            <a:off x="4773168" y="4069080"/>
            <a:ext cx="18288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850"/>
              <a:buFont typeface="Calibri"/>
              <a:buNone/>
            </a:pPr>
            <a:r>
              <a:rPr lang="en-US" sz="850" b="1">
                <a:solidFill>
                  <a:srgbClr val="F59E0B"/>
                </a:solidFill>
                <a:latin typeface="Calibri"/>
                <a:ea typeface="Calibri"/>
                <a:cs typeface="Calibri"/>
                <a:sym typeface="Calibri"/>
              </a:rPr>
              <a:t>→ Re-engagement emails + discount incentives</a:t>
            </a:r>
            <a:endParaRPr sz="850">
              <a:solidFill>
                <a:schemeClr val="dk1"/>
              </a:solidFill>
              <a:latin typeface="Calibri"/>
              <a:ea typeface="Calibri"/>
              <a:cs typeface="Calibri"/>
              <a:sym typeface="Calibri"/>
            </a:endParaRPr>
          </a:p>
        </p:txBody>
      </p:sp>
      <p:sp>
        <p:nvSpPr>
          <p:cNvPr id="928" name="Google Shape;928;p16"/>
          <p:cNvSpPr/>
          <p:nvPr/>
        </p:nvSpPr>
        <p:spPr>
          <a:xfrm>
            <a:off x="6839712" y="1170432"/>
            <a:ext cx="2084832" cy="374904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9" name="Google Shape;929;p16"/>
          <p:cNvSpPr/>
          <p:nvPr/>
        </p:nvSpPr>
        <p:spPr>
          <a:xfrm>
            <a:off x="6839712" y="1170432"/>
            <a:ext cx="2084832" cy="475488"/>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0" name="Google Shape;930;p16"/>
          <p:cNvSpPr/>
          <p:nvPr/>
        </p:nvSpPr>
        <p:spPr>
          <a:xfrm>
            <a:off x="6912864" y="1207008"/>
            <a:ext cx="19385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Lapsed / At-Risk</a:t>
            </a:r>
            <a:endParaRPr sz="1200">
              <a:solidFill>
                <a:schemeClr val="dk1"/>
              </a:solidFill>
              <a:latin typeface="Calibri"/>
              <a:ea typeface="Calibri"/>
              <a:cs typeface="Calibri"/>
              <a:sym typeface="Calibri"/>
            </a:endParaRPr>
          </a:p>
        </p:txBody>
      </p:sp>
      <p:sp>
        <p:nvSpPr>
          <p:cNvPr id="931" name="Google Shape;931;p16"/>
          <p:cNvSpPr/>
          <p:nvPr/>
        </p:nvSpPr>
        <p:spPr>
          <a:xfrm>
            <a:off x="6931152" y="173736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2" name="Google Shape;932;p16"/>
          <p:cNvSpPr/>
          <p:nvPr/>
        </p:nvSpPr>
        <p:spPr>
          <a:xfrm>
            <a:off x="6931152" y="1737360"/>
            <a:ext cx="256032"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3" name="Google Shape;933;p16"/>
          <p:cNvSpPr/>
          <p:nvPr/>
        </p:nvSpPr>
        <p:spPr>
          <a:xfrm>
            <a:off x="6931152" y="173736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934" name="Google Shape;934;p16"/>
          <p:cNvSpPr/>
          <p:nvPr/>
        </p:nvSpPr>
        <p:spPr>
          <a:xfrm>
            <a:off x="7223760" y="181051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250.8d</a:t>
            </a:r>
            <a:endParaRPr sz="1100">
              <a:solidFill>
                <a:schemeClr val="dk1"/>
              </a:solidFill>
              <a:latin typeface="Calibri"/>
              <a:ea typeface="Calibri"/>
              <a:cs typeface="Calibri"/>
              <a:sym typeface="Calibri"/>
            </a:endParaRPr>
          </a:p>
        </p:txBody>
      </p:sp>
      <p:sp>
        <p:nvSpPr>
          <p:cNvPr id="935" name="Google Shape;935;p16"/>
          <p:cNvSpPr/>
          <p:nvPr/>
        </p:nvSpPr>
        <p:spPr>
          <a:xfrm>
            <a:off x="6931152" y="2148840"/>
            <a:ext cx="1901952" cy="34747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6" name="Google Shape;936;p16"/>
          <p:cNvSpPr/>
          <p:nvPr/>
        </p:nvSpPr>
        <p:spPr>
          <a:xfrm>
            <a:off x="6931152" y="2148840"/>
            <a:ext cx="256032" cy="347472"/>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7" name="Google Shape;937;p16"/>
          <p:cNvSpPr/>
          <p:nvPr/>
        </p:nvSpPr>
        <p:spPr>
          <a:xfrm>
            <a:off x="6931152" y="214884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F</a:t>
            </a:r>
            <a:endParaRPr sz="1000">
              <a:solidFill>
                <a:schemeClr val="dk1"/>
              </a:solidFill>
              <a:latin typeface="Calibri"/>
              <a:ea typeface="Calibri"/>
              <a:cs typeface="Calibri"/>
              <a:sym typeface="Calibri"/>
            </a:endParaRPr>
          </a:p>
        </p:txBody>
      </p:sp>
      <p:sp>
        <p:nvSpPr>
          <p:cNvPr id="938" name="Google Shape;938;p16"/>
          <p:cNvSpPr/>
          <p:nvPr/>
        </p:nvSpPr>
        <p:spPr>
          <a:xfrm>
            <a:off x="7223760" y="222199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1.4</a:t>
            </a:r>
            <a:endParaRPr sz="1100">
              <a:solidFill>
                <a:schemeClr val="dk1"/>
              </a:solidFill>
              <a:latin typeface="Calibri"/>
              <a:ea typeface="Calibri"/>
              <a:cs typeface="Calibri"/>
              <a:sym typeface="Calibri"/>
            </a:endParaRPr>
          </a:p>
        </p:txBody>
      </p:sp>
      <p:sp>
        <p:nvSpPr>
          <p:cNvPr id="939" name="Google Shape;939;p16"/>
          <p:cNvSpPr/>
          <p:nvPr/>
        </p:nvSpPr>
        <p:spPr>
          <a:xfrm>
            <a:off x="6931152" y="2560320"/>
            <a:ext cx="1901952" cy="34747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0" name="Google Shape;940;p16"/>
          <p:cNvSpPr/>
          <p:nvPr/>
        </p:nvSpPr>
        <p:spPr>
          <a:xfrm>
            <a:off x="6931152" y="2560320"/>
            <a:ext cx="256032"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1" name="Google Shape;941;p16"/>
          <p:cNvSpPr/>
          <p:nvPr/>
        </p:nvSpPr>
        <p:spPr>
          <a:xfrm>
            <a:off x="6931152" y="2560320"/>
            <a:ext cx="25603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M</a:t>
            </a:r>
            <a:endParaRPr sz="1000">
              <a:solidFill>
                <a:schemeClr val="dk1"/>
              </a:solidFill>
              <a:latin typeface="Calibri"/>
              <a:ea typeface="Calibri"/>
              <a:cs typeface="Calibri"/>
              <a:sym typeface="Calibri"/>
            </a:endParaRPr>
          </a:p>
        </p:txBody>
      </p:sp>
      <p:sp>
        <p:nvSpPr>
          <p:cNvPr id="942" name="Google Shape;942;p16"/>
          <p:cNvSpPr/>
          <p:nvPr/>
        </p:nvSpPr>
        <p:spPr>
          <a:xfrm>
            <a:off x="7223760" y="2633472"/>
            <a:ext cx="14630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100"/>
              <a:buFont typeface="Calibri"/>
              <a:buNone/>
            </a:pPr>
            <a:r>
              <a:rPr lang="en-US" sz="1100" b="1">
                <a:solidFill>
                  <a:srgbClr val="0D1B2A"/>
                </a:solidFill>
                <a:latin typeface="Calibri"/>
                <a:ea typeface="Calibri"/>
                <a:cs typeface="Calibri"/>
                <a:sym typeface="Calibri"/>
              </a:rPr>
              <a:t>£285</a:t>
            </a:r>
            <a:endParaRPr sz="1100">
              <a:solidFill>
                <a:schemeClr val="dk1"/>
              </a:solidFill>
              <a:latin typeface="Calibri"/>
              <a:ea typeface="Calibri"/>
              <a:cs typeface="Calibri"/>
              <a:sym typeface="Calibri"/>
            </a:endParaRPr>
          </a:p>
        </p:txBody>
      </p:sp>
      <p:sp>
        <p:nvSpPr>
          <p:cNvPr id="943" name="Google Shape;943;p16"/>
          <p:cNvSpPr/>
          <p:nvPr/>
        </p:nvSpPr>
        <p:spPr>
          <a:xfrm>
            <a:off x="6931152" y="2990088"/>
            <a:ext cx="190195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n = 1,064 customers</a:t>
            </a:r>
            <a:endParaRPr sz="900">
              <a:solidFill>
                <a:schemeClr val="dk1"/>
              </a:solidFill>
              <a:latin typeface="Calibri"/>
              <a:ea typeface="Calibri"/>
              <a:cs typeface="Calibri"/>
              <a:sym typeface="Calibri"/>
            </a:endParaRPr>
          </a:p>
        </p:txBody>
      </p:sp>
      <p:sp>
        <p:nvSpPr>
          <p:cNvPr id="944" name="Google Shape;944;p16"/>
          <p:cNvSpPr/>
          <p:nvPr/>
        </p:nvSpPr>
        <p:spPr>
          <a:xfrm>
            <a:off x="6931152" y="3255264"/>
            <a:ext cx="1901952" cy="36576"/>
          </a:xfrm>
          <a:prstGeom prst="rect">
            <a:avLst/>
          </a:prstGeom>
          <a:solidFill>
            <a:srgbClr val="E2E8F0"/>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5" name="Google Shape;945;p16"/>
          <p:cNvSpPr/>
          <p:nvPr/>
        </p:nvSpPr>
        <p:spPr>
          <a:xfrm>
            <a:off x="6949440" y="3337560"/>
            <a:ext cx="186537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50"/>
              <a:buFont typeface="Calibri"/>
              <a:buNone/>
            </a:pPr>
            <a:r>
              <a:rPr lang="en-US" sz="850">
                <a:solidFill>
                  <a:srgbClr val="475569"/>
                </a:solidFill>
                <a:latin typeface="Calibri"/>
                <a:ea typeface="Calibri"/>
                <a:cs typeface="Calibri"/>
                <a:sym typeface="Calibri"/>
              </a:rPr>
              <a:t>Longest recency. Nearly dormant. Win-back campaigns may recover a portion if acted on quickly.</a:t>
            </a:r>
            <a:endParaRPr sz="850">
              <a:solidFill>
                <a:schemeClr val="dk1"/>
              </a:solidFill>
              <a:latin typeface="Calibri"/>
              <a:ea typeface="Calibri"/>
              <a:cs typeface="Calibri"/>
              <a:sym typeface="Calibri"/>
            </a:endParaRPr>
          </a:p>
        </p:txBody>
      </p:sp>
      <p:sp>
        <p:nvSpPr>
          <p:cNvPr id="946" name="Google Shape;946;p16"/>
          <p:cNvSpPr/>
          <p:nvPr/>
        </p:nvSpPr>
        <p:spPr>
          <a:xfrm>
            <a:off x="6931152" y="4041648"/>
            <a:ext cx="1901952" cy="749808"/>
          </a:xfrm>
          <a:prstGeom prst="rect">
            <a:avLst/>
          </a:prstGeom>
          <a:solidFill>
            <a:srgbClr val="EF4444">
              <a:alpha val="12156"/>
            </a:srgbClr>
          </a:solidFill>
          <a:ln w="9525" cap="flat" cmpd="sng">
            <a:solidFill>
              <a:srgbClr val="EF4444">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7" name="Google Shape;947;p16"/>
          <p:cNvSpPr/>
          <p:nvPr/>
        </p:nvSpPr>
        <p:spPr>
          <a:xfrm>
            <a:off x="6967728" y="4069080"/>
            <a:ext cx="18288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850"/>
              <a:buFont typeface="Calibri"/>
              <a:buNone/>
            </a:pPr>
            <a:r>
              <a:rPr lang="en-US" sz="850" b="1">
                <a:solidFill>
                  <a:srgbClr val="EF4444"/>
                </a:solidFill>
                <a:latin typeface="Calibri"/>
                <a:ea typeface="Calibri"/>
                <a:cs typeface="Calibri"/>
                <a:sym typeface="Calibri"/>
              </a:rPr>
              <a:t>→ Win-back campaign + last-chance discount</a:t>
            </a:r>
            <a:endParaRPr sz="8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952"/>
        <p:cNvGrpSpPr/>
        <p:nvPr/>
      </p:nvGrpSpPr>
      <p:grpSpPr>
        <a:xfrm>
          <a:off x="0" y="0"/>
          <a:ext cx="0" cy="0"/>
          <a:chOff x="0" y="0"/>
          <a:chExt cx="0" cy="0"/>
        </a:xfrm>
      </p:grpSpPr>
      <p:sp>
        <p:nvSpPr>
          <p:cNvPr id="953" name="Google Shape;953;p17"/>
          <p:cNvSpPr/>
          <p:nvPr/>
        </p:nvSpPr>
        <p:spPr>
          <a:xfrm>
            <a:off x="0" y="0"/>
            <a:ext cx="9144000" cy="20116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4" name="Google Shape;954;p17"/>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3 — CLUSTERING  |  PART 2 &amp; 3: DEMAND PATTERNS + SERVICE PERFORMANCE</a:t>
            </a:r>
            <a:endParaRPr sz="900">
              <a:solidFill>
                <a:schemeClr val="dk1"/>
              </a:solidFill>
              <a:latin typeface="Calibri"/>
              <a:ea typeface="Calibri"/>
              <a:cs typeface="Calibri"/>
              <a:sym typeface="Calibri"/>
            </a:endParaRPr>
          </a:p>
        </p:txBody>
      </p:sp>
      <p:sp>
        <p:nvSpPr>
          <p:cNvPr id="955" name="Google Shape;955;p17"/>
          <p:cNvSpPr/>
          <p:nvPr/>
        </p:nvSpPr>
        <p:spPr>
          <a:xfrm>
            <a:off x="365760" y="320040"/>
            <a:ext cx="841248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900"/>
              <a:buFont typeface="Calibri"/>
              <a:buNone/>
            </a:pPr>
            <a:r>
              <a:rPr lang="en-US" sz="1900" b="1">
                <a:solidFill>
                  <a:srgbClr val="FFFFFF"/>
                </a:solidFill>
                <a:latin typeface="Calibri"/>
                <a:ea typeface="Calibri"/>
                <a:cs typeface="Calibri"/>
                <a:sym typeface="Calibri"/>
              </a:rPr>
              <a:t>Demand Pattern Analysis (Products)  +  Service Performance (Countries)</a:t>
            </a:r>
            <a:endParaRPr sz="1900">
              <a:solidFill>
                <a:schemeClr val="dk1"/>
              </a:solidFill>
              <a:latin typeface="Calibri"/>
              <a:ea typeface="Calibri"/>
              <a:cs typeface="Calibri"/>
              <a:sym typeface="Calibri"/>
            </a:endParaRPr>
          </a:p>
        </p:txBody>
      </p:sp>
      <p:sp>
        <p:nvSpPr>
          <p:cNvPr id="956" name="Google Shape;956;p17"/>
          <p:cNvSpPr/>
          <p:nvPr/>
        </p:nvSpPr>
        <p:spPr>
          <a:xfrm>
            <a:off x="365760" y="758952"/>
            <a:ext cx="8229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3,575 products in 3 demand tiers  |  37 countries in 3 market performance tiers  |  ARI validated</a:t>
            </a:r>
            <a:endParaRPr sz="1100">
              <a:solidFill>
                <a:schemeClr val="dk1"/>
              </a:solidFill>
              <a:latin typeface="Calibri"/>
              <a:ea typeface="Calibri"/>
              <a:cs typeface="Calibri"/>
              <a:sym typeface="Calibri"/>
            </a:endParaRPr>
          </a:p>
        </p:txBody>
      </p:sp>
      <p:sp>
        <p:nvSpPr>
          <p:cNvPr id="957" name="Google Shape;957;p17"/>
          <p:cNvSpPr/>
          <p:nvPr/>
        </p:nvSpPr>
        <p:spPr>
          <a:xfrm>
            <a:off x="274320" y="1078992"/>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PART 2 — Product Demand Tiers (k=3)</a:t>
            </a:r>
            <a:endParaRPr sz="1100">
              <a:solidFill>
                <a:schemeClr val="dk1"/>
              </a:solidFill>
              <a:latin typeface="Calibri"/>
              <a:ea typeface="Calibri"/>
              <a:cs typeface="Calibri"/>
              <a:sym typeface="Calibri"/>
            </a:endParaRPr>
          </a:p>
        </p:txBody>
      </p:sp>
      <p:sp>
        <p:nvSpPr>
          <p:cNvPr id="958" name="Google Shape;958;p17"/>
          <p:cNvSpPr/>
          <p:nvPr/>
        </p:nvSpPr>
        <p:spPr>
          <a:xfrm>
            <a:off x="274320" y="1417320"/>
            <a:ext cx="5029200" cy="804672"/>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9" name="Google Shape;959;p17"/>
          <p:cNvSpPr/>
          <p:nvPr/>
        </p:nvSpPr>
        <p:spPr>
          <a:xfrm>
            <a:off x="274320" y="1417320"/>
            <a:ext cx="475488" cy="804672"/>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0" name="Google Shape;960;p17"/>
          <p:cNvSpPr/>
          <p:nvPr/>
        </p:nvSpPr>
        <p:spPr>
          <a:xfrm>
            <a:off x="274320" y="1600200"/>
            <a:ext cx="475488"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7.5%</a:t>
            </a:r>
            <a:endParaRPr sz="1100">
              <a:solidFill>
                <a:schemeClr val="dk1"/>
              </a:solidFill>
              <a:latin typeface="Calibri"/>
              <a:ea typeface="Calibri"/>
              <a:cs typeface="Calibri"/>
              <a:sym typeface="Calibri"/>
            </a:endParaRPr>
          </a:p>
        </p:txBody>
      </p:sp>
      <p:sp>
        <p:nvSpPr>
          <p:cNvPr id="961" name="Google Shape;961;p17"/>
          <p:cNvSpPr/>
          <p:nvPr/>
        </p:nvSpPr>
        <p:spPr>
          <a:xfrm>
            <a:off x="822960" y="1490472"/>
            <a:ext cx="43891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High-Demand / Fast-Moving</a:t>
            </a:r>
            <a:endParaRPr sz="1100">
              <a:solidFill>
                <a:schemeClr val="dk1"/>
              </a:solidFill>
              <a:latin typeface="Calibri"/>
              <a:ea typeface="Calibri"/>
              <a:cs typeface="Calibri"/>
              <a:sym typeface="Calibri"/>
            </a:endParaRPr>
          </a:p>
        </p:txBody>
      </p:sp>
      <p:sp>
        <p:nvSpPr>
          <p:cNvPr id="962" name="Google Shape;962;p17"/>
          <p:cNvSpPr/>
          <p:nvPr/>
        </p:nvSpPr>
        <p:spPr>
          <a:xfrm>
            <a:off x="822960" y="1764792"/>
            <a:ext cx="43891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R:2.3d | F:475.8 | M:£7,698  —  BAG · JUMBO · LUNCH · RETROSPOT</a:t>
            </a:r>
            <a:endParaRPr sz="900">
              <a:solidFill>
                <a:schemeClr val="dk1"/>
              </a:solidFill>
              <a:latin typeface="Calibri"/>
              <a:ea typeface="Calibri"/>
              <a:cs typeface="Calibri"/>
              <a:sym typeface="Calibri"/>
            </a:endParaRPr>
          </a:p>
        </p:txBody>
      </p:sp>
      <p:sp>
        <p:nvSpPr>
          <p:cNvPr id="963" name="Google Shape;963;p17"/>
          <p:cNvSpPr/>
          <p:nvPr/>
        </p:nvSpPr>
        <p:spPr>
          <a:xfrm>
            <a:off x="822960" y="1984248"/>
            <a:ext cx="43891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00"/>
              <a:buFont typeface="Calibri"/>
              <a:buNone/>
            </a:pPr>
            <a:r>
              <a:rPr lang="en-US" sz="900" b="1">
                <a:solidFill>
                  <a:srgbClr val="22C55E"/>
                </a:solidFill>
                <a:latin typeface="Calibri"/>
                <a:ea typeface="Calibri"/>
                <a:cs typeface="Calibri"/>
                <a:sym typeface="Calibri"/>
              </a:rPr>
              <a:t>→ Maintain stock; negotiate priority supplier allocation</a:t>
            </a:r>
            <a:endParaRPr sz="900">
              <a:solidFill>
                <a:schemeClr val="dk1"/>
              </a:solidFill>
              <a:latin typeface="Calibri"/>
              <a:ea typeface="Calibri"/>
              <a:cs typeface="Calibri"/>
              <a:sym typeface="Calibri"/>
            </a:endParaRPr>
          </a:p>
        </p:txBody>
      </p:sp>
      <p:sp>
        <p:nvSpPr>
          <p:cNvPr id="964" name="Google Shape;964;p17"/>
          <p:cNvSpPr/>
          <p:nvPr/>
        </p:nvSpPr>
        <p:spPr>
          <a:xfrm>
            <a:off x="274320" y="2313432"/>
            <a:ext cx="5029200" cy="804672"/>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5" name="Google Shape;965;p17"/>
          <p:cNvSpPr/>
          <p:nvPr/>
        </p:nvSpPr>
        <p:spPr>
          <a:xfrm>
            <a:off x="274320" y="2313432"/>
            <a:ext cx="475488" cy="8046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6" name="Google Shape;966;p17"/>
          <p:cNvSpPr/>
          <p:nvPr/>
        </p:nvSpPr>
        <p:spPr>
          <a:xfrm>
            <a:off x="274320" y="2496312"/>
            <a:ext cx="475488"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17.7%</a:t>
            </a:r>
            <a:endParaRPr sz="1100">
              <a:solidFill>
                <a:schemeClr val="dk1"/>
              </a:solidFill>
              <a:latin typeface="Calibri"/>
              <a:ea typeface="Calibri"/>
              <a:cs typeface="Calibri"/>
              <a:sym typeface="Calibri"/>
            </a:endParaRPr>
          </a:p>
        </p:txBody>
      </p:sp>
      <p:sp>
        <p:nvSpPr>
          <p:cNvPr id="967" name="Google Shape;967;p17"/>
          <p:cNvSpPr/>
          <p:nvPr/>
        </p:nvSpPr>
        <p:spPr>
          <a:xfrm>
            <a:off x="822960" y="2386584"/>
            <a:ext cx="43891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Steady / Mid-Tier</a:t>
            </a:r>
            <a:endParaRPr sz="1100">
              <a:solidFill>
                <a:schemeClr val="dk1"/>
              </a:solidFill>
              <a:latin typeface="Calibri"/>
              <a:ea typeface="Calibri"/>
              <a:cs typeface="Calibri"/>
              <a:sym typeface="Calibri"/>
            </a:endParaRPr>
          </a:p>
        </p:txBody>
      </p:sp>
      <p:sp>
        <p:nvSpPr>
          <p:cNvPr id="968" name="Google Shape;968;p17"/>
          <p:cNvSpPr/>
          <p:nvPr/>
        </p:nvSpPr>
        <p:spPr>
          <a:xfrm>
            <a:off x="822960" y="2660904"/>
            <a:ext cx="43891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R:14.7d | F:72.0 | M:£799  —  HOLDER · DECORATION · VINTAGE · CANDLE</a:t>
            </a:r>
            <a:endParaRPr sz="900">
              <a:solidFill>
                <a:schemeClr val="dk1"/>
              </a:solidFill>
              <a:latin typeface="Calibri"/>
              <a:ea typeface="Calibri"/>
              <a:cs typeface="Calibri"/>
              <a:sym typeface="Calibri"/>
            </a:endParaRPr>
          </a:p>
        </p:txBody>
      </p:sp>
      <p:sp>
        <p:nvSpPr>
          <p:cNvPr id="969" name="Google Shape;969;p17"/>
          <p:cNvSpPr/>
          <p:nvPr/>
        </p:nvSpPr>
        <p:spPr>
          <a:xfrm>
            <a:off x="822960" y="2880360"/>
            <a:ext cx="43891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00"/>
              <a:buFont typeface="Calibri"/>
              <a:buNone/>
            </a:pPr>
            <a:r>
              <a:rPr lang="en-US" sz="900" b="1">
                <a:solidFill>
                  <a:srgbClr val="F59E0B"/>
                </a:solidFill>
                <a:latin typeface="Calibri"/>
                <a:ea typeface="Calibri"/>
                <a:cs typeface="Calibri"/>
                <a:sym typeface="Calibri"/>
              </a:rPr>
              <a:t>→ Monitor; bundle with fast-movers to boost volume</a:t>
            </a:r>
            <a:endParaRPr sz="900">
              <a:solidFill>
                <a:schemeClr val="dk1"/>
              </a:solidFill>
              <a:latin typeface="Calibri"/>
              <a:ea typeface="Calibri"/>
              <a:cs typeface="Calibri"/>
              <a:sym typeface="Calibri"/>
            </a:endParaRPr>
          </a:p>
        </p:txBody>
      </p:sp>
      <p:sp>
        <p:nvSpPr>
          <p:cNvPr id="970" name="Google Shape;970;p17"/>
          <p:cNvSpPr/>
          <p:nvPr/>
        </p:nvSpPr>
        <p:spPr>
          <a:xfrm>
            <a:off x="274320" y="3209544"/>
            <a:ext cx="5029200" cy="804672"/>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1" name="Google Shape;971;p17"/>
          <p:cNvSpPr/>
          <p:nvPr/>
        </p:nvSpPr>
        <p:spPr>
          <a:xfrm>
            <a:off x="274320" y="3209544"/>
            <a:ext cx="475488" cy="804672"/>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2" name="Google Shape;972;p17"/>
          <p:cNvSpPr/>
          <p:nvPr/>
        </p:nvSpPr>
        <p:spPr>
          <a:xfrm>
            <a:off x="274320" y="3392424"/>
            <a:ext cx="475488"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74.8%</a:t>
            </a:r>
            <a:endParaRPr sz="1100">
              <a:solidFill>
                <a:schemeClr val="dk1"/>
              </a:solidFill>
              <a:latin typeface="Calibri"/>
              <a:ea typeface="Calibri"/>
              <a:cs typeface="Calibri"/>
              <a:sym typeface="Calibri"/>
            </a:endParaRPr>
          </a:p>
        </p:txBody>
      </p:sp>
      <p:sp>
        <p:nvSpPr>
          <p:cNvPr id="973" name="Google Shape;973;p17"/>
          <p:cNvSpPr/>
          <p:nvPr/>
        </p:nvSpPr>
        <p:spPr>
          <a:xfrm>
            <a:off x="822960" y="3282696"/>
            <a:ext cx="43891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Slow-Moving</a:t>
            </a:r>
            <a:endParaRPr sz="1100">
              <a:solidFill>
                <a:schemeClr val="dk1"/>
              </a:solidFill>
              <a:latin typeface="Calibri"/>
              <a:ea typeface="Calibri"/>
              <a:cs typeface="Calibri"/>
              <a:sym typeface="Calibri"/>
            </a:endParaRPr>
          </a:p>
        </p:txBody>
      </p:sp>
      <p:sp>
        <p:nvSpPr>
          <p:cNvPr id="974" name="Google Shape;974;p17"/>
          <p:cNvSpPr/>
          <p:nvPr/>
        </p:nvSpPr>
        <p:spPr>
          <a:xfrm>
            <a:off x="822960" y="3557016"/>
            <a:ext cx="43891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R:234.7d | F:13.5 | M:£157  —  GLASS · BRACELET · EASTER · GARDEN</a:t>
            </a:r>
            <a:endParaRPr sz="900">
              <a:solidFill>
                <a:schemeClr val="dk1"/>
              </a:solidFill>
              <a:latin typeface="Calibri"/>
              <a:ea typeface="Calibri"/>
              <a:cs typeface="Calibri"/>
              <a:sym typeface="Calibri"/>
            </a:endParaRPr>
          </a:p>
        </p:txBody>
      </p:sp>
      <p:sp>
        <p:nvSpPr>
          <p:cNvPr id="975" name="Google Shape;975;p17"/>
          <p:cNvSpPr/>
          <p:nvPr/>
        </p:nvSpPr>
        <p:spPr>
          <a:xfrm>
            <a:off x="822960" y="3776472"/>
            <a:ext cx="43891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900"/>
              <a:buFont typeface="Calibri"/>
              <a:buNone/>
            </a:pPr>
            <a:r>
              <a:rPr lang="en-US" sz="900" b="1">
                <a:solidFill>
                  <a:srgbClr val="EF4444"/>
                </a:solidFill>
                <a:latin typeface="Calibri"/>
                <a:ea typeface="Calibri"/>
                <a:cs typeface="Calibri"/>
                <a:sym typeface="Calibri"/>
              </a:rPr>
              <a:t>→ Review for markdown or discontinuation</a:t>
            </a:r>
            <a:endParaRPr sz="900">
              <a:solidFill>
                <a:schemeClr val="dk1"/>
              </a:solidFill>
              <a:latin typeface="Calibri"/>
              <a:ea typeface="Calibri"/>
              <a:cs typeface="Calibri"/>
              <a:sym typeface="Calibri"/>
            </a:endParaRPr>
          </a:p>
        </p:txBody>
      </p:sp>
      <p:sp>
        <p:nvSpPr>
          <p:cNvPr id="976" name="Google Shape;976;p17"/>
          <p:cNvSpPr/>
          <p:nvPr/>
        </p:nvSpPr>
        <p:spPr>
          <a:xfrm>
            <a:off x="5559552" y="1078992"/>
            <a:ext cx="33375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PART 3 — Market Performance Tiers (k=3)</a:t>
            </a:r>
            <a:endParaRPr sz="1100">
              <a:solidFill>
                <a:schemeClr val="dk1"/>
              </a:solidFill>
              <a:latin typeface="Calibri"/>
              <a:ea typeface="Calibri"/>
              <a:cs typeface="Calibri"/>
              <a:sym typeface="Calibri"/>
            </a:endParaRPr>
          </a:p>
        </p:txBody>
      </p:sp>
      <p:sp>
        <p:nvSpPr>
          <p:cNvPr id="977" name="Google Shape;977;p17"/>
          <p:cNvSpPr/>
          <p:nvPr/>
        </p:nvSpPr>
        <p:spPr>
          <a:xfrm>
            <a:off x="5559552" y="1417320"/>
            <a:ext cx="3337560" cy="1097280"/>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8" name="Google Shape;978;p17"/>
          <p:cNvSpPr/>
          <p:nvPr/>
        </p:nvSpPr>
        <p:spPr>
          <a:xfrm>
            <a:off x="5559552" y="1417320"/>
            <a:ext cx="3337560" cy="384048"/>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9" name="Google Shape;979;p17"/>
          <p:cNvSpPr/>
          <p:nvPr/>
        </p:nvSpPr>
        <p:spPr>
          <a:xfrm>
            <a:off x="5650992" y="1508760"/>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Core Market</a:t>
            </a:r>
            <a:endParaRPr sz="1200">
              <a:solidFill>
                <a:schemeClr val="dk1"/>
              </a:solidFill>
              <a:latin typeface="Calibri"/>
              <a:ea typeface="Calibri"/>
              <a:cs typeface="Calibri"/>
              <a:sym typeface="Calibri"/>
            </a:endParaRPr>
          </a:p>
        </p:txBody>
      </p:sp>
      <p:sp>
        <p:nvSpPr>
          <p:cNvPr id="980" name="Google Shape;980;p17"/>
          <p:cNvSpPr/>
          <p:nvPr/>
        </p:nvSpPr>
        <p:spPr>
          <a:xfrm>
            <a:off x="5650992" y="1892808"/>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United Kingdom</a:t>
            </a:r>
            <a:endParaRPr sz="950">
              <a:solidFill>
                <a:schemeClr val="dk1"/>
              </a:solidFill>
              <a:latin typeface="Calibri"/>
              <a:ea typeface="Calibri"/>
              <a:cs typeface="Calibri"/>
              <a:sym typeface="Calibri"/>
            </a:endParaRPr>
          </a:p>
        </p:txBody>
      </p:sp>
      <p:sp>
        <p:nvSpPr>
          <p:cNvPr id="981" name="Google Shape;981;p17"/>
          <p:cNvSpPr/>
          <p:nvPr/>
        </p:nvSpPr>
        <p:spPr>
          <a:xfrm>
            <a:off x="5650992" y="2093976"/>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Rev: £3,680,989  |  Orders: 15,144  |  Cust: 3,784</a:t>
            </a:r>
            <a:endParaRPr sz="900">
              <a:solidFill>
                <a:schemeClr val="dk1"/>
              </a:solidFill>
              <a:latin typeface="Calibri"/>
              <a:ea typeface="Calibri"/>
              <a:cs typeface="Calibri"/>
              <a:sym typeface="Calibri"/>
            </a:endParaRPr>
          </a:p>
        </p:txBody>
      </p:sp>
      <p:sp>
        <p:nvSpPr>
          <p:cNvPr id="982" name="Google Shape;982;p17"/>
          <p:cNvSpPr/>
          <p:nvPr/>
        </p:nvSpPr>
        <p:spPr>
          <a:xfrm>
            <a:off x="5650992" y="2295144"/>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00"/>
              <a:buFont typeface="Calibri"/>
              <a:buNone/>
            </a:pPr>
            <a:r>
              <a:rPr lang="en-US" sz="900" b="1">
                <a:solidFill>
                  <a:srgbClr val="22C55E"/>
                </a:solidFill>
                <a:latin typeface="Calibri"/>
                <a:ea typeface="Calibri"/>
                <a:cs typeface="Calibri"/>
                <a:sym typeface="Calibri"/>
              </a:rPr>
              <a:t>→ Protect &amp; grow — dominant revenue source</a:t>
            </a:r>
            <a:endParaRPr sz="900">
              <a:solidFill>
                <a:schemeClr val="dk1"/>
              </a:solidFill>
              <a:latin typeface="Calibri"/>
              <a:ea typeface="Calibri"/>
              <a:cs typeface="Calibri"/>
              <a:sym typeface="Calibri"/>
            </a:endParaRPr>
          </a:p>
        </p:txBody>
      </p:sp>
      <p:sp>
        <p:nvSpPr>
          <p:cNvPr id="983" name="Google Shape;983;p17"/>
          <p:cNvSpPr/>
          <p:nvPr/>
        </p:nvSpPr>
        <p:spPr>
          <a:xfrm>
            <a:off x="5559552" y="2651760"/>
            <a:ext cx="3337560" cy="1097280"/>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4" name="Google Shape;984;p17"/>
          <p:cNvSpPr/>
          <p:nvPr/>
        </p:nvSpPr>
        <p:spPr>
          <a:xfrm>
            <a:off x="5559552" y="2651760"/>
            <a:ext cx="3337560" cy="384048"/>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5" name="Google Shape;985;p17"/>
          <p:cNvSpPr/>
          <p:nvPr/>
        </p:nvSpPr>
        <p:spPr>
          <a:xfrm>
            <a:off x="5650992" y="2743200"/>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Growth Markets</a:t>
            </a:r>
            <a:endParaRPr sz="1200">
              <a:solidFill>
                <a:schemeClr val="dk1"/>
              </a:solidFill>
              <a:latin typeface="Calibri"/>
              <a:ea typeface="Calibri"/>
              <a:cs typeface="Calibri"/>
              <a:sym typeface="Calibri"/>
            </a:endParaRPr>
          </a:p>
        </p:txBody>
      </p:sp>
      <p:sp>
        <p:nvSpPr>
          <p:cNvPr id="986" name="Google Shape;986;p17"/>
          <p:cNvSpPr/>
          <p:nvPr/>
        </p:nvSpPr>
        <p:spPr>
          <a:xfrm>
            <a:off x="5650992" y="3127248"/>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26 countries incl. DE, FR, EIRE</a:t>
            </a:r>
            <a:endParaRPr sz="950">
              <a:solidFill>
                <a:schemeClr val="dk1"/>
              </a:solidFill>
              <a:latin typeface="Calibri"/>
              <a:ea typeface="Calibri"/>
              <a:cs typeface="Calibri"/>
              <a:sym typeface="Calibri"/>
            </a:endParaRPr>
          </a:p>
        </p:txBody>
      </p:sp>
      <p:sp>
        <p:nvSpPr>
          <p:cNvPr id="987" name="Google Shape;987;p17"/>
          <p:cNvSpPr/>
          <p:nvPr/>
        </p:nvSpPr>
        <p:spPr>
          <a:xfrm>
            <a:off x="5650992" y="3328416"/>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Rev: £21,653 avg  |  Orders: 61.7 avg  |  Cust: 14 avg</a:t>
            </a:r>
            <a:endParaRPr sz="900">
              <a:solidFill>
                <a:schemeClr val="dk1"/>
              </a:solidFill>
              <a:latin typeface="Calibri"/>
              <a:ea typeface="Calibri"/>
              <a:cs typeface="Calibri"/>
              <a:sym typeface="Calibri"/>
            </a:endParaRPr>
          </a:p>
        </p:txBody>
      </p:sp>
      <p:sp>
        <p:nvSpPr>
          <p:cNvPr id="988" name="Google Shape;988;p17"/>
          <p:cNvSpPr/>
          <p:nvPr/>
        </p:nvSpPr>
        <p:spPr>
          <a:xfrm>
            <a:off x="5650992" y="3529584"/>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900"/>
              <a:buFont typeface="Calibri"/>
              <a:buNone/>
            </a:pPr>
            <a:r>
              <a:rPr lang="en-US" sz="900" b="1">
                <a:solidFill>
                  <a:srgbClr val="06B6D4"/>
                </a:solidFill>
                <a:latin typeface="Calibri"/>
                <a:ea typeface="Calibri"/>
                <a:cs typeface="Calibri"/>
                <a:sym typeface="Calibri"/>
              </a:rPr>
              <a:t>→ Increase basket size; localise product fit</a:t>
            </a:r>
            <a:endParaRPr sz="900">
              <a:solidFill>
                <a:schemeClr val="dk1"/>
              </a:solidFill>
              <a:latin typeface="Calibri"/>
              <a:ea typeface="Calibri"/>
              <a:cs typeface="Calibri"/>
              <a:sym typeface="Calibri"/>
            </a:endParaRPr>
          </a:p>
        </p:txBody>
      </p:sp>
      <p:sp>
        <p:nvSpPr>
          <p:cNvPr id="989" name="Google Shape;989;p17"/>
          <p:cNvSpPr/>
          <p:nvPr/>
        </p:nvSpPr>
        <p:spPr>
          <a:xfrm>
            <a:off x="5559552" y="3886200"/>
            <a:ext cx="3337560" cy="1097280"/>
          </a:xfrm>
          <a:prstGeom prst="rect">
            <a:avLst/>
          </a:prstGeom>
          <a:solidFill>
            <a:srgbClr val="0F2744"/>
          </a:solidFill>
          <a:ln w="9525"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0" name="Google Shape;990;p17"/>
          <p:cNvSpPr/>
          <p:nvPr/>
        </p:nvSpPr>
        <p:spPr>
          <a:xfrm>
            <a:off x="5559552" y="3886200"/>
            <a:ext cx="3337560" cy="38404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1" name="Google Shape;991;p17"/>
          <p:cNvSpPr/>
          <p:nvPr/>
        </p:nvSpPr>
        <p:spPr>
          <a:xfrm>
            <a:off x="5650992" y="3977640"/>
            <a:ext cx="3108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Developing Markets</a:t>
            </a:r>
            <a:endParaRPr sz="1200">
              <a:solidFill>
                <a:schemeClr val="dk1"/>
              </a:solidFill>
              <a:latin typeface="Calibri"/>
              <a:ea typeface="Calibri"/>
              <a:cs typeface="Calibri"/>
              <a:sym typeface="Calibri"/>
            </a:endParaRPr>
          </a:p>
        </p:txBody>
      </p:sp>
      <p:sp>
        <p:nvSpPr>
          <p:cNvPr id="992" name="Google Shape;992;p17"/>
          <p:cNvSpPr/>
          <p:nvPr/>
        </p:nvSpPr>
        <p:spPr>
          <a:xfrm>
            <a:off x="5650992" y="4361688"/>
            <a:ext cx="31089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10 countries incl. USA, CH, BR</a:t>
            </a:r>
            <a:endParaRPr sz="950">
              <a:solidFill>
                <a:schemeClr val="dk1"/>
              </a:solidFill>
              <a:latin typeface="Calibri"/>
              <a:ea typeface="Calibri"/>
              <a:cs typeface="Calibri"/>
              <a:sym typeface="Calibri"/>
            </a:endParaRPr>
          </a:p>
        </p:txBody>
      </p:sp>
      <p:sp>
        <p:nvSpPr>
          <p:cNvPr id="993" name="Google Shape;993;p17"/>
          <p:cNvSpPr/>
          <p:nvPr/>
        </p:nvSpPr>
        <p:spPr>
          <a:xfrm>
            <a:off x="5650992" y="4562856"/>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Rev: £5,550 avg  |  Orders: 7.9 avg  |  Cust: 4.5 avg</a:t>
            </a:r>
            <a:endParaRPr sz="900">
              <a:solidFill>
                <a:schemeClr val="dk1"/>
              </a:solidFill>
              <a:latin typeface="Calibri"/>
              <a:ea typeface="Calibri"/>
              <a:cs typeface="Calibri"/>
              <a:sym typeface="Calibri"/>
            </a:endParaRPr>
          </a:p>
        </p:txBody>
      </p:sp>
      <p:sp>
        <p:nvSpPr>
          <p:cNvPr id="994" name="Google Shape;994;p17"/>
          <p:cNvSpPr/>
          <p:nvPr/>
        </p:nvSpPr>
        <p:spPr>
          <a:xfrm>
            <a:off x="5622857" y="4754880"/>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00"/>
              <a:buFont typeface="Calibri"/>
              <a:buNone/>
            </a:pPr>
            <a:r>
              <a:rPr lang="en-US" sz="900" b="1">
                <a:solidFill>
                  <a:srgbClr val="F59E0B"/>
                </a:solidFill>
                <a:latin typeface="Calibri"/>
                <a:ea typeface="Calibri"/>
                <a:cs typeface="Calibri"/>
                <a:sym typeface="Calibri"/>
              </a:rPr>
              <a:t>→ Investigate shipping &amp; localisation barriers</a:t>
            </a:r>
            <a:endParaRPr sz="900">
              <a:solidFill>
                <a:schemeClr val="dk1"/>
              </a:solidFill>
              <a:latin typeface="Calibri"/>
              <a:ea typeface="Calibri"/>
              <a:cs typeface="Calibri"/>
              <a:sym typeface="Calibri"/>
            </a:endParaRPr>
          </a:p>
        </p:txBody>
      </p:sp>
      <p:sp>
        <p:nvSpPr>
          <p:cNvPr id="995" name="Google Shape;995;p17"/>
          <p:cNvSpPr/>
          <p:nvPr/>
        </p:nvSpPr>
        <p:spPr>
          <a:xfrm>
            <a:off x="1965960" y="4636008"/>
            <a:ext cx="3337560"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6" name="Google Shape;996;p17"/>
          <p:cNvSpPr/>
          <p:nvPr/>
        </p:nvSpPr>
        <p:spPr>
          <a:xfrm>
            <a:off x="1835834" y="4672584"/>
            <a:ext cx="33375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Country Clustering ARI = 0.795  ✓  Both methods agree</a:t>
            </a:r>
            <a:endParaRPr sz="9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1001"/>
        <p:cNvGrpSpPr/>
        <p:nvPr/>
      </p:nvGrpSpPr>
      <p:grpSpPr>
        <a:xfrm>
          <a:off x="0" y="0"/>
          <a:ext cx="0" cy="0"/>
          <a:chOff x="0" y="0"/>
          <a:chExt cx="0" cy="0"/>
        </a:xfrm>
      </p:grpSpPr>
      <p:sp>
        <p:nvSpPr>
          <p:cNvPr id="1002" name="Google Shape;1002;p18"/>
          <p:cNvSpPr/>
          <p:nvPr/>
        </p:nvSpPr>
        <p:spPr>
          <a:xfrm>
            <a:off x="0" y="0"/>
            <a:ext cx="9144000" cy="20116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3" name="Google Shape;1003;p18"/>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3 — CLUSTERING  |  VALIDATION &amp; STRATEGIC RECOMMENDATIONS</a:t>
            </a:r>
            <a:endParaRPr sz="900">
              <a:solidFill>
                <a:schemeClr val="dk1"/>
              </a:solidFill>
              <a:latin typeface="Calibri"/>
              <a:ea typeface="Calibri"/>
              <a:cs typeface="Calibri"/>
              <a:sym typeface="Calibri"/>
            </a:endParaRPr>
          </a:p>
        </p:txBody>
      </p:sp>
      <p:sp>
        <p:nvSpPr>
          <p:cNvPr id="1004" name="Google Shape;1004;p18"/>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5" name="Google Shape;1005;p18"/>
          <p:cNvSpPr/>
          <p:nvPr/>
        </p:nvSpPr>
        <p:spPr>
          <a:xfrm>
            <a:off x="0" y="960120"/>
            <a:ext cx="9144000" cy="5486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6" name="Google Shape;1006;p18"/>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Method Validation &amp; Strategic Recommendations</a:t>
            </a:r>
            <a:endParaRPr sz="2000">
              <a:solidFill>
                <a:schemeClr val="dk1"/>
              </a:solidFill>
              <a:latin typeface="Calibri"/>
              <a:ea typeface="Calibri"/>
              <a:cs typeface="Calibri"/>
              <a:sym typeface="Calibri"/>
            </a:endParaRPr>
          </a:p>
        </p:txBody>
      </p:sp>
      <p:sp>
        <p:nvSpPr>
          <p:cNvPr id="1007" name="Google Shape;1007;p18"/>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Silhouette · ARI · Optimal k selection · Business actions</a:t>
            </a:r>
            <a:endParaRPr sz="1100">
              <a:solidFill>
                <a:schemeClr val="dk1"/>
              </a:solidFill>
              <a:latin typeface="Calibri"/>
              <a:ea typeface="Calibri"/>
              <a:cs typeface="Calibri"/>
              <a:sym typeface="Calibri"/>
            </a:endParaRPr>
          </a:p>
        </p:txBody>
      </p:sp>
      <p:sp>
        <p:nvSpPr>
          <p:cNvPr id="1008" name="Google Shape;1008;p18"/>
          <p:cNvSpPr/>
          <p:nvPr/>
        </p:nvSpPr>
        <p:spPr>
          <a:xfrm>
            <a:off x="274320" y="1170432"/>
            <a:ext cx="5029200" cy="22860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9" name="Google Shape;1009;p18"/>
          <p:cNvSpPr/>
          <p:nvPr/>
        </p:nvSpPr>
        <p:spPr>
          <a:xfrm>
            <a:off x="274320" y="1170432"/>
            <a:ext cx="5029200" cy="38404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0" name="Google Shape;1010;p18"/>
          <p:cNvSpPr/>
          <p:nvPr/>
        </p:nvSpPr>
        <p:spPr>
          <a:xfrm>
            <a:off x="384048" y="1225296"/>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a:solidFill>
                  <a:srgbClr val="0D9488"/>
                </a:solidFill>
                <a:latin typeface="Calibri"/>
                <a:ea typeface="Calibri"/>
                <a:cs typeface="Calibri"/>
                <a:sym typeface="Calibri"/>
              </a:rPr>
              <a:t>OPTIMAL k SELECTION SUMMARY</a:t>
            </a:r>
            <a:endParaRPr sz="1000">
              <a:solidFill>
                <a:schemeClr val="dk1"/>
              </a:solidFill>
              <a:latin typeface="Calibri"/>
              <a:ea typeface="Calibri"/>
              <a:cs typeface="Calibri"/>
              <a:sym typeface="Calibri"/>
            </a:endParaRPr>
          </a:p>
        </p:txBody>
      </p:sp>
      <p:sp>
        <p:nvSpPr>
          <p:cNvPr id="1011" name="Google Shape;1011;p18"/>
          <p:cNvSpPr/>
          <p:nvPr/>
        </p:nvSpPr>
        <p:spPr>
          <a:xfrm>
            <a:off x="384048" y="1609344"/>
            <a:ext cx="13258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Analysis</a:t>
            </a:r>
            <a:endParaRPr sz="850">
              <a:solidFill>
                <a:schemeClr val="dk1"/>
              </a:solidFill>
              <a:latin typeface="Calibri"/>
              <a:ea typeface="Calibri"/>
              <a:cs typeface="Calibri"/>
              <a:sym typeface="Calibri"/>
            </a:endParaRPr>
          </a:p>
        </p:txBody>
      </p:sp>
      <p:sp>
        <p:nvSpPr>
          <p:cNvPr id="1012" name="Google Shape;1012;p18"/>
          <p:cNvSpPr/>
          <p:nvPr/>
        </p:nvSpPr>
        <p:spPr>
          <a:xfrm>
            <a:off x="1755648" y="1609344"/>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Sil. Peak</a:t>
            </a:r>
            <a:endParaRPr sz="850">
              <a:solidFill>
                <a:schemeClr val="dk1"/>
              </a:solidFill>
              <a:latin typeface="Calibri"/>
              <a:ea typeface="Calibri"/>
              <a:cs typeface="Calibri"/>
              <a:sym typeface="Calibri"/>
            </a:endParaRPr>
          </a:p>
        </p:txBody>
      </p:sp>
      <p:sp>
        <p:nvSpPr>
          <p:cNvPr id="1013" name="Google Shape;1013;p18"/>
          <p:cNvSpPr/>
          <p:nvPr/>
        </p:nvSpPr>
        <p:spPr>
          <a:xfrm>
            <a:off x="2487168" y="1609344"/>
            <a:ext cx="7132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Sil. Score</a:t>
            </a:r>
            <a:endParaRPr sz="850">
              <a:solidFill>
                <a:schemeClr val="dk1"/>
              </a:solidFill>
              <a:latin typeface="Calibri"/>
              <a:ea typeface="Calibri"/>
              <a:cs typeface="Calibri"/>
              <a:sym typeface="Calibri"/>
            </a:endParaRPr>
          </a:p>
        </p:txBody>
      </p:sp>
      <p:sp>
        <p:nvSpPr>
          <p:cNvPr id="1014" name="Google Shape;1014;p18"/>
          <p:cNvSpPr/>
          <p:nvPr/>
        </p:nvSpPr>
        <p:spPr>
          <a:xfrm>
            <a:off x="3218688" y="1609344"/>
            <a:ext cx="62179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Chosen k</a:t>
            </a:r>
            <a:endParaRPr sz="850">
              <a:solidFill>
                <a:schemeClr val="dk1"/>
              </a:solidFill>
              <a:latin typeface="Calibri"/>
              <a:ea typeface="Calibri"/>
              <a:cs typeface="Calibri"/>
              <a:sym typeface="Calibri"/>
            </a:endParaRPr>
          </a:p>
        </p:txBody>
      </p:sp>
      <p:sp>
        <p:nvSpPr>
          <p:cNvPr id="1015" name="Google Shape;1015;p18"/>
          <p:cNvSpPr/>
          <p:nvPr/>
        </p:nvSpPr>
        <p:spPr>
          <a:xfrm>
            <a:off x="3858768" y="1609344"/>
            <a:ext cx="12344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50"/>
              <a:buFont typeface="Calibri"/>
              <a:buNone/>
            </a:pPr>
            <a:r>
              <a:rPr lang="en-US" sz="850" b="1">
                <a:solidFill>
                  <a:srgbClr val="0D9488"/>
                </a:solidFill>
                <a:latin typeface="Calibri"/>
                <a:ea typeface="Calibri"/>
                <a:cs typeface="Calibri"/>
                <a:sym typeface="Calibri"/>
              </a:rPr>
              <a:t>Rationale</a:t>
            </a:r>
            <a:endParaRPr sz="850">
              <a:solidFill>
                <a:schemeClr val="dk1"/>
              </a:solidFill>
              <a:latin typeface="Calibri"/>
              <a:ea typeface="Calibri"/>
              <a:cs typeface="Calibri"/>
              <a:sym typeface="Calibri"/>
            </a:endParaRPr>
          </a:p>
        </p:txBody>
      </p:sp>
      <p:sp>
        <p:nvSpPr>
          <p:cNvPr id="1016" name="Google Shape;1016;p18"/>
          <p:cNvSpPr/>
          <p:nvPr/>
        </p:nvSpPr>
        <p:spPr>
          <a:xfrm>
            <a:off x="292608" y="2048256"/>
            <a:ext cx="4992624" cy="43891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7" name="Google Shape;1017;p18"/>
          <p:cNvSpPr/>
          <p:nvPr/>
        </p:nvSpPr>
        <p:spPr>
          <a:xfrm>
            <a:off x="384048" y="2139696"/>
            <a:ext cx="13258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Customer Segmentation</a:t>
            </a:r>
            <a:endParaRPr sz="950">
              <a:solidFill>
                <a:schemeClr val="dk1"/>
              </a:solidFill>
              <a:latin typeface="Calibri"/>
              <a:ea typeface="Calibri"/>
              <a:cs typeface="Calibri"/>
              <a:sym typeface="Calibri"/>
            </a:endParaRPr>
          </a:p>
        </p:txBody>
      </p:sp>
      <p:sp>
        <p:nvSpPr>
          <p:cNvPr id="1018" name="Google Shape;1018;p18"/>
          <p:cNvSpPr/>
          <p:nvPr/>
        </p:nvSpPr>
        <p:spPr>
          <a:xfrm>
            <a:off x="1755648" y="2139696"/>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k = 2</a:t>
            </a:r>
            <a:endParaRPr sz="950">
              <a:solidFill>
                <a:schemeClr val="dk1"/>
              </a:solidFill>
              <a:latin typeface="Calibri"/>
              <a:ea typeface="Calibri"/>
              <a:cs typeface="Calibri"/>
              <a:sym typeface="Calibri"/>
            </a:endParaRPr>
          </a:p>
        </p:txBody>
      </p:sp>
      <p:sp>
        <p:nvSpPr>
          <p:cNvPr id="1019" name="Google Shape;1019;p18"/>
          <p:cNvSpPr/>
          <p:nvPr/>
        </p:nvSpPr>
        <p:spPr>
          <a:xfrm>
            <a:off x="2487168" y="2139696"/>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0.518</a:t>
            </a:r>
            <a:endParaRPr sz="950">
              <a:solidFill>
                <a:schemeClr val="dk1"/>
              </a:solidFill>
              <a:latin typeface="Calibri"/>
              <a:ea typeface="Calibri"/>
              <a:cs typeface="Calibri"/>
              <a:sym typeface="Calibri"/>
            </a:endParaRPr>
          </a:p>
        </p:txBody>
      </p:sp>
      <p:sp>
        <p:nvSpPr>
          <p:cNvPr id="1020" name="Google Shape;1020;p18"/>
          <p:cNvSpPr/>
          <p:nvPr/>
        </p:nvSpPr>
        <p:spPr>
          <a:xfrm>
            <a:off x="3218688" y="2139696"/>
            <a:ext cx="62179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950"/>
              <a:buFont typeface="Calibri"/>
              <a:buNone/>
            </a:pPr>
            <a:r>
              <a:rPr lang="en-US" sz="950">
                <a:solidFill>
                  <a:srgbClr val="8B5CF6"/>
                </a:solidFill>
                <a:latin typeface="Calibri"/>
                <a:ea typeface="Calibri"/>
                <a:cs typeface="Calibri"/>
                <a:sym typeface="Calibri"/>
              </a:rPr>
              <a:t>k = 4</a:t>
            </a:r>
            <a:endParaRPr sz="950">
              <a:solidFill>
                <a:schemeClr val="dk1"/>
              </a:solidFill>
              <a:latin typeface="Calibri"/>
              <a:ea typeface="Calibri"/>
              <a:cs typeface="Calibri"/>
              <a:sym typeface="Calibri"/>
            </a:endParaRPr>
          </a:p>
        </p:txBody>
      </p:sp>
      <p:sp>
        <p:nvSpPr>
          <p:cNvPr id="1021" name="Google Shape;1021;p18"/>
          <p:cNvSpPr/>
          <p:nvPr/>
        </p:nvSpPr>
        <p:spPr>
          <a:xfrm>
            <a:off x="3858768" y="2139696"/>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4 actionable CRM segments</a:t>
            </a:r>
            <a:endParaRPr sz="950">
              <a:solidFill>
                <a:schemeClr val="dk1"/>
              </a:solidFill>
              <a:latin typeface="Calibri"/>
              <a:ea typeface="Calibri"/>
              <a:cs typeface="Calibri"/>
              <a:sym typeface="Calibri"/>
            </a:endParaRPr>
          </a:p>
        </p:txBody>
      </p:sp>
      <p:sp>
        <p:nvSpPr>
          <p:cNvPr id="1022" name="Google Shape;1022;p18"/>
          <p:cNvSpPr/>
          <p:nvPr/>
        </p:nvSpPr>
        <p:spPr>
          <a:xfrm>
            <a:off x="292608" y="2523744"/>
            <a:ext cx="4992624" cy="438912"/>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3" name="Google Shape;1023;p18"/>
          <p:cNvSpPr/>
          <p:nvPr/>
        </p:nvSpPr>
        <p:spPr>
          <a:xfrm>
            <a:off x="384048" y="2615184"/>
            <a:ext cx="13258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Demand Patterns</a:t>
            </a:r>
            <a:endParaRPr sz="950">
              <a:solidFill>
                <a:schemeClr val="dk1"/>
              </a:solidFill>
              <a:latin typeface="Calibri"/>
              <a:ea typeface="Calibri"/>
              <a:cs typeface="Calibri"/>
              <a:sym typeface="Calibri"/>
            </a:endParaRPr>
          </a:p>
        </p:txBody>
      </p:sp>
      <p:sp>
        <p:nvSpPr>
          <p:cNvPr id="1024" name="Google Shape;1024;p18"/>
          <p:cNvSpPr/>
          <p:nvPr/>
        </p:nvSpPr>
        <p:spPr>
          <a:xfrm>
            <a:off x="1755648" y="2615184"/>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k = 2</a:t>
            </a:r>
            <a:endParaRPr sz="950">
              <a:solidFill>
                <a:schemeClr val="dk1"/>
              </a:solidFill>
              <a:latin typeface="Calibri"/>
              <a:ea typeface="Calibri"/>
              <a:cs typeface="Calibri"/>
              <a:sym typeface="Calibri"/>
            </a:endParaRPr>
          </a:p>
        </p:txBody>
      </p:sp>
      <p:sp>
        <p:nvSpPr>
          <p:cNvPr id="1025" name="Google Shape;1025;p18"/>
          <p:cNvSpPr/>
          <p:nvPr/>
        </p:nvSpPr>
        <p:spPr>
          <a:xfrm>
            <a:off x="2487168" y="2615184"/>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0.648</a:t>
            </a:r>
            <a:endParaRPr sz="950">
              <a:solidFill>
                <a:schemeClr val="dk1"/>
              </a:solidFill>
              <a:latin typeface="Calibri"/>
              <a:ea typeface="Calibri"/>
              <a:cs typeface="Calibri"/>
              <a:sym typeface="Calibri"/>
            </a:endParaRPr>
          </a:p>
        </p:txBody>
      </p:sp>
      <p:sp>
        <p:nvSpPr>
          <p:cNvPr id="1026" name="Google Shape;1026;p18"/>
          <p:cNvSpPr/>
          <p:nvPr/>
        </p:nvSpPr>
        <p:spPr>
          <a:xfrm>
            <a:off x="3218688" y="2615184"/>
            <a:ext cx="62179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950"/>
              <a:buFont typeface="Calibri"/>
              <a:buNone/>
            </a:pPr>
            <a:r>
              <a:rPr lang="en-US" sz="950">
                <a:solidFill>
                  <a:srgbClr val="8B5CF6"/>
                </a:solidFill>
                <a:latin typeface="Calibri"/>
                <a:ea typeface="Calibri"/>
                <a:cs typeface="Calibri"/>
                <a:sym typeface="Calibri"/>
              </a:rPr>
              <a:t>k = 3</a:t>
            </a:r>
            <a:endParaRPr sz="950">
              <a:solidFill>
                <a:schemeClr val="dk1"/>
              </a:solidFill>
              <a:latin typeface="Calibri"/>
              <a:ea typeface="Calibri"/>
              <a:cs typeface="Calibri"/>
              <a:sym typeface="Calibri"/>
            </a:endParaRPr>
          </a:p>
        </p:txBody>
      </p:sp>
      <p:sp>
        <p:nvSpPr>
          <p:cNvPr id="1027" name="Google Shape;1027;p18"/>
          <p:cNvSpPr/>
          <p:nvPr/>
        </p:nvSpPr>
        <p:spPr>
          <a:xfrm>
            <a:off x="3858768" y="2615184"/>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3 inventory management tiers</a:t>
            </a:r>
            <a:endParaRPr sz="950">
              <a:solidFill>
                <a:schemeClr val="dk1"/>
              </a:solidFill>
              <a:latin typeface="Calibri"/>
              <a:ea typeface="Calibri"/>
              <a:cs typeface="Calibri"/>
              <a:sym typeface="Calibri"/>
            </a:endParaRPr>
          </a:p>
        </p:txBody>
      </p:sp>
      <p:sp>
        <p:nvSpPr>
          <p:cNvPr id="1028" name="Google Shape;1028;p18"/>
          <p:cNvSpPr/>
          <p:nvPr/>
        </p:nvSpPr>
        <p:spPr>
          <a:xfrm>
            <a:off x="292608" y="2999232"/>
            <a:ext cx="4992624" cy="438912"/>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9" name="Google Shape;1029;p18"/>
          <p:cNvSpPr/>
          <p:nvPr/>
        </p:nvSpPr>
        <p:spPr>
          <a:xfrm>
            <a:off x="384048" y="3090672"/>
            <a:ext cx="13258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Service Performance</a:t>
            </a:r>
            <a:endParaRPr sz="950">
              <a:solidFill>
                <a:schemeClr val="dk1"/>
              </a:solidFill>
              <a:latin typeface="Calibri"/>
              <a:ea typeface="Calibri"/>
              <a:cs typeface="Calibri"/>
              <a:sym typeface="Calibri"/>
            </a:endParaRPr>
          </a:p>
        </p:txBody>
      </p:sp>
      <p:sp>
        <p:nvSpPr>
          <p:cNvPr id="1030" name="Google Shape;1030;p18"/>
          <p:cNvSpPr/>
          <p:nvPr/>
        </p:nvSpPr>
        <p:spPr>
          <a:xfrm>
            <a:off x="1755648" y="3090672"/>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k = 2</a:t>
            </a:r>
            <a:endParaRPr sz="950">
              <a:solidFill>
                <a:schemeClr val="dk1"/>
              </a:solidFill>
              <a:latin typeface="Calibri"/>
              <a:ea typeface="Calibri"/>
              <a:cs typeface="Calibri"/>
              <a:sym typeface="Calibri"/>
            </a:endParaRPr>
          </a:p>
        </p:txBody>
      </p:sp>
      <p:sp>
        <p:nvSpPr>
          <p:cNvPr id="1031" name="Google Shape;1031;p18"/>
          <p:cNvSpPr/>
          <p:nvPr/>
        </p:nvSpPr>
        <p:spPr>
          <a:xfrm>
            <a:off x="2487168" y="3090672"/>
            <a:ext cx="7132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0.852</a:t>
            </a:r>
            <a:endParaRPr sz="950">
              <a:solidFill>
                <a:schemeClr val="dk1"/>
              </a:solidFill>
              <a:latin typeface="Calibri"/>
              <a:ea typeface="Calibri"/>
              <a:cs typeface="Calibri"/>
              <a:sym typeface="Calibri"/>
            </a:endParaRPr>
          </a:p>
        </p:txBody>
      </p:sp>
      <p:sp>
        <p:nvSpPr>
          <p:cNvPr id="1032" name="Google Shape;1032;p18"/>
          <p:cNvSpPr/>
          <p:nvPr/>
        </p:nvSpPr>
        <p:spPr>
          <a:xfrm>
            <a:off x="3218688" y="3090672"/>
            <a:ext cx="62179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950"/>
              <a:buFont typeface="Calibri"/>
              <a:buNone/>
            </a:pPr>
            <a:r>
              <a:rPr lang="en-US" sz="950">
                <a:solidFill>
                  <a:srgbClr val="8B5CF6"/>
                </a:solidFill>
                <a:latin typeface="Calibri"/>
                <a:ea typeface="Calibri"/>
                <a:cs typeface="Calibri"/>
                <a:sym typeface="Calibri"/>
              </a:rPr>
              <a:t>k = 3</a:t>
            </a:r>
            <a:endParaRPr sz="950">
              <a:solidFill>
                <a:schemeClr val="dk1"/>
              </a:solidFill>
              <a:latin typeface="Calibri"/>
              <a:ea typeface="Calibri"/>
              <a:cs typeface="Calibri"/>
              <a:sym typeface="Calibri"/>
            </a:endParaRPr>
          </a:p>
        </p:txBody>
      </p:sp>
      <p:sp>
        <p:nvSpPr>
          <p:cNvPr id="1033" name="Google Shape;1033;p18"/>
          <p:cNvSpPr/>
          <p:nvPr/>
        </p:nvSpPr>
        <p:spPr>
          <a:xfrm>
            <a:off x="3858768" y="3090672"/>
            <a:ext cx="1234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50"/>
              <a:buFont typeface="Calibri"/>
              <a:buNone/>
            </a:pPr>
            <a:r>
              <a:rPr lang="en-US" sz="950">
                <a:solidFill>
                  <a:srgbClr val="0D1B2A"/>
                </a:solidFill>
                <a:latin typeface="Calibri"/>
                <a:ea typeface="Calibri"/>
                <a:cs typeface="Calibri"/>
                <a:sym typeface="Calibri"/>
              </a:rPr>
              <a:t>3 regional strategy tiers</a:t>
            </a:r>
            <a:endParaRPr sz="950">
              <a:solidFill>
                <a:schemeClr val="dk1"/>
              </a:solidFill>
              <a:latin typeface="Calibri"/>
              <a:ea typeface="Calibri"/>
              <a:cs typeface="Calibri"/>
              <a:sym typeface="Calibri"/>
            </a:endParaRPr>
          </a:p>
        </p:txBody>
      </p:sp>
      <p:sp>
        <p:nvSpPr>
          <p:cNvPr id="1034" name="Google Shape;1034;p18"/>
          <p:cNvSpPr/>
          <p:nvPr/>
        </p:nvSpPr>
        <p:spPr>
          <a:xfrm>
            <a:off x="274320" y="3566160"/>
            <a:ext cx="5029200" cy="1389888"/>
          </a:xfrm>
          <a:prstGeom prst="rect">
            <a:avLst/>
          </a:prstGeom>
          <a:solidFill>
            <a:srgbClr val="0D1B2A"/>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5" name="Google Shape;1035;p18"/>
          <p:cNvSpPr/>
          <p:nvPr/>
        </p:nvSpPr>
        <p:spPr>
          <a:xfrm>
            <a:off x="384048" y="3657600"/>
            <a:ext cx="4754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ADJUSTED RAND INDEX VALIDATION</a:t>
            </a:r>
            <a:endParaRPr sz="900">
              <a:solidFill>
                <a:schemeClr val="dk1"/>
              </a:solidFill>
              <a:latin typeface="Calibri"/>
              <a:ea typeface="Calibri"/>
              <a:cs typeface="Calibri"/>
              <a:sym typeface="Calibri"/>
            </a:endParaRPr>
          </a:p>
        </p:txBody>
      </p:sp>
      <p:sp>
        <p:nvSpPr>
          <p:cNvPr id="1036" name="Google Shape;1036;p18"/>
          <p:cNvSpPr/>
          <p:nvPr/>
        </p:nvSpPr>
        <p:spPr>
          <a:xfrm>
            <a:off x="457200" y="3977640"/>
            <a:ext cx="25603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Customer Segmentation</a:t>
            </a:r>
            <a:endParaRPr sz="950">
              <a:solidFill>
                <a:schemeClr val="dk1"/>
              </a:solidFill>
              <a:latin typeface="Calibri"/>
              <a:ea typeface="Calibri"/>
              <a:cs typeface="Calibri"/>
              <a:sym typeface="Calibri"/>
            </a:endParaRPr>
          </a:p>
        </p:txBody>
      </p:sp>
      <p:sp>
        <p:nvSpPr>
          <p:cNvPr id="1037" name="Google Shape;1037;p18"/>
          <p:cNvSpPr/>
          <p:nvPr/>
        </p:nvSpPr>
        <p:spPr>
          <a:xfrm>
            <a:off x="3017520" y="3977640"/>
            <a:ext cx="9144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000"/>
              <a:buFont typeface="Calibri"/>
              <a:buNone/>
            </a:pPr>
            <a:r>
              <a:rPr lang="en-US" sz="1000" b="1">
                <a:solidFill>
                  <a:srgbClr val="22C55E"/>
                </a:solidFill>
                <a:latin typeface="Calibri"/>
                <a:ea typeface="Calibri"/>
                <a:cs typeface="Calibri"/>
                <a:sym typeface="Calibri"/>
              </a:rPr>
              <a:t>ARI = 0.762</a:t>
            </a:r>
            <a:endParaRPr sz="1000">
              <a:solidFill>
                <a:schemeClr val="dk1"/>
              </a:solidFill>
              <a:latin typeface="Calibri"/>
              <a:ea typeface="Calibri"/>
              <a:cs typeface="Calibri"/>
              <a:sym typeface="Calibri"/>
            </a:endParaRPr>
          </a:p>
        </p:txBody>
      </p:sp>
      <p:sp>
        <p:nvSpPr>
          <p:cNvPr id="1038" name="Google Shape;1038;p18"/>
          <p:cNvSpPr/>
          <p:nvPr/>
        </p:nvSpPr>
        <p:spPr>
          <a:xfrm>
            <a:off x="3977640" y="3977640"/>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50"/>
              <a:buFont typeface="Calibri"/>
              <a:buNone/>
            </a:pPr>
            <a:r>
              <a:rPr lang="en-US" sz="950">
                <a:solidFill>
                  <a:srgbClr val="22C55E"/>
                </a:solidFill>
                <a:latin typeface="Calibri"/>
                <a:ea typeface="Calibri"/>
                <a:cs typeface="Calibri"/>
                <a:sym typeface="Calibri"/>
              </a:rPr>
              <a:t>✓ Strong agreement</a:t>
            </a:r>
            <a:endParaRPr sz="950">
              <a:solidFill>
                <a:schemeClr val="dk1"/>
              </a:solidFill>
              <a:latin typeface="Calibri"/>
              <a:ea typeface="Calibri"/>
              <a:cs typeface="Calibri"/>
              <a:sym typeface="Calibri"/>
            </a:endParaRPr>
          </a:p>
        </p:txBody>
      </p:sp>
      <p:sp>
        <p:nvSpPr>
          <p:cNvPr id="1039" name="Google Shape;1039;p18"/>
          <p:cNvSpPr/>
          <p:nvPr/>
        </p:nvSpPr>
        <p:spPr>
          <a:xfrm>
            <a:off x="457200" y="4288536"/>
            <a:ext cx="25603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Service Performance (Countries)</a:t>
            </a:r>
            <a:endParaRPr sz="950">
              <a:solidFill>
                <a:schemeClr val="dk1"/>
              </a:solidFill>
              <a:latin typeface="Calibri"/>
              <a:ea typeface="Calibri"/>
              <a:cs typeface="Calibri"/>
              <a:sym typeface="Calibri"/>
            </a:endParaRPr>
          </a:p>
        </p:txBody>
      </p:sp>
      <p:sp>
        <p:nvSpPr>
          <p:cNvPr id="1040" name="Google Shape;1040;p18"/>
          <p:cNvSpPr/>
          <p:nvPr/>
        </p:nvSpPr>
        <p:spPr>
          <a:xfrm>
            <a:off x="3017520" y="4288536"/>
            <a:ext cx="9144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000"/>
              <a:buFont typeface="Calibri"/>
              <a:buNone/>
            </a:pPr>
            <a:r>
              <a:rPr lang="en-US" sz="1000" b="1">
                <a:solidFill>
                  <a:srgbClr val="22C55E"/>
                </a:solidFill>
                <a:latin typeface="Calibri"/>
                <a:ea typeface="Calibri"/>
                <a:cs typeface="Calibri"/>
                <a:sym typeface="Calibri"/>
              </a:rPr>
              <a:t>ARI = 0.795</a:t>
            </a:r>
            <a:endParaRPr sz="1000">
              <a:solidFill>
                <a:schemeClr val="dk1"/>
              </a:solidFill>
              <a:latin typeface="Calibri"/>
              <a:ea typeface="Calibri"/>
              <a:cs typeface="Calibri"/>
              <a:sym typeface="Calibri"/>
            </a:endParaRPr>
          </a:p>
        </p:txBody>
      </p:sp>
      <p:sp>
        <p:nvSpPr>
          <p:cNvPr id="1041" name="Google Shape;1041;p18"/>
          <p:cNvSpPr/>
          <p:nvPr/>
        </p:nvSpPr>
        <p:spPr>
          <a:xfrm>
            <a:off x="3977640" y="4288536"/>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950"/>
              <a:buFont typeface="Calibri"/>
              <a:buNone/>
            </a:pPr>
            <a:r>
              <a:rPr lang="en-US" sz="950">
                <a:solidFill>
                  <a:srgbClr val="22C55E"/>
                </a:solidFill>
                <a:latin typeface="Calibri"/>
                <a:ea typeface="Calibri"/>
                <a:cs typeface="Calibri"/>
                <a:sym typeface="Calibri"/>
              </a:rPr>
              <a:t>✓ Strong agreement</a:t>
            </a:r>
            <a:endParaRPr sz="950">
              <a:solidFill>
                <a:schemeClr val="dk1"/>
              </a:solidFill>
              <a:latin typeface="Calibri"/>
              <a:ea typeface="Calibri"/>
              <a:cs typeface="Calibri"/>
              <a:sym typeface="Calibri"/>
            </a:endParaRPr>
          </a:p>
        </p:txBody>
      </p:sp>
      <p:sp>
        <p:nvSpPr>
          <p:cNvPr id="1042" name="Google Shape;1042;p18"/>
          <p:cNvSpPr/>
          <p:nvPr/>
        </p:nvSpPr>
        <p:spPr>
          <a:xfrm>
            <a:off x="457200" y="4599432"/>
            <a:ext cx="25603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Threshold for 'strong'</a:t>
            </a:r>
            <a:endParaRPr sz="950">
              <a:solidFill>
                <a:schemeClr val="dk1"/>
              </a:solidFill>
              <a:latin typeface="Calibri"/>
              <a:ea typeface="Calibri"/>
              <a:cs typeface="Calibri"/>
              <a:sym typeface="Calibri"/>
            </a:endParaRPr>
          </a:p>
        </p:txBody>
      </p:sp>
      <p:sp>
        <p:nvSpPr>
          <p:cNvPr id="1043" name="Google Shape;1043;p18"/>
          <p:cNvSpPr/>
          <p:nvPr/>
        </p:nvSpPr>
        <p:spPr>
          <a:xfrm>
            <a:off x="3017520" y="4599432"/>
            <a:ext cx="9144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1000"/>
              <a:buFont typeface="Calibri"/>
              <a:buNone/>
            </a:pPr>
            <a:r>
              <a:rPr lang="en-US" sz="1000" b="1">
                <a:solidFill>
                  <a:srgbClr val="F59E0B"/>
                </a:solidFill>
                <a:latin typeface="Calibri"/>
                <a:ea typeface="Calibri"/>
                <a:cs typeface="Calibri"/>
                <a:sym typeface="Calibri"/>
              </a:rPr>
              <a:t>ARI = &gt; 0.7</a:t>
            </a:r>
            <a:endParaRPr sz="1000">
              <a:solidFill>
                <a:schemeClr val="dk1"/>
              </a:solidFill>
              <a:latin typeface="Calibri"/>
              <a:ea typeface="Calibri"/>
              <a:cs typeface="Calibri"/>
              <a:sym typeface="Calibri"/>
            </a:endParaRPr>
          </a:p>
        </p:txBody>
      </p:sp>
      <p:sp>
        <p:nvSpPr>
          <p:cNvPr id="1044" name="Google Shape;1044;p18"/>
          <p:cNvSpPr/>
          <p:nvPr/>
        </p:nvSpPr>
        <p:spPr>
          <a:xfrm>
            <a:off x="3977640" y="4599432"/>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950"/>
              <a:buFont typeface="Calibri"/>
              <a:buNone/>
            </a:pPr>
            <a:r>
              <a:rPr lang="en-US" sz="950">
                <a:solidFill>
                  <a:srgbClr val="F59E0B"/>
                </a:solidFill>
                <a:latin typeface="Calibri"/>
                <a:ea typeface="Calibri"/>
                <a:cs typeface="Calibri"/>
                <a:sym typeface="Calibri"/>
              </a:rPr>
              <a:t>Both analyses pass</a:t>
            </a:r>
            <a:endParaRPr sz="950">
              <a:solidFill>
                <a:schemeClr val="dk1"/>
              </a:solidFill>
              <a:latin typeface="Calibri"/>
              <a:ea typeface="Calibri"/>
              <a:cs typeface="Calibri"/>
              <a:sym typeface="Calibri"/>
            </a:endParaRPr>
          </a:p>
        </p:txBody>
      </p:sp>
      <p:sp>
        <p:nvSpPr>
          <p:cNvPr id="1045" name="Google Shape;1045;p18"/>
          <p:cNvSpPr/>
          <p:nvPr/>
        </p:nvSpPr>
        <p:spPr>
          <a:xfrm>
            <a:off x="5532120" y="1170432"/>
            <a:ext cx="3337560" cy="3785616"/>
          </a:xfrm>
          <a:prstGeom prst="rect">
            <a:avLst/>
          </a:prstGeom>
          <a:solidFill>
            <a:srgbClr val="0D1B2A"/>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6" name="Google Shape;1046;p18"/>
          <p:cNvSpPr/>
          <p:nvPr/>
        </p:nvSpPr>
        <p:spPr>
          <a:xfrm>
            <a:off x="5623560" y="1261872"/>
            <a:ext cx="3154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STRATEGIC RECOMMENDATIONS</a:t>
            </a:r>
            <a:endParaRPr sz="900">
              <a:solidFill>
                <a:schemeClr val="dk1"/>
              </a:solidFill>
              <a:latin typeface="Calibri"/>
              <a:ea typeface="Calibri"/>
              <a:cs typeface="Calibri"/>
              <a:sym typeface="Calibri"/>
            </a:endParaRPr>
          </a:p>
        </p:txBody>
      </p:sp>
      <p:sp>
        <p:nvSpPr>
          <p:cNvPr id="1047" name="Google Shape;1047;p18"/>
          <p:cNvSpPr/>
          <p:nvPr/>
        </p:nvSpPr>
        <p:spPr>
          <a:xfrm>
            <a:off x="5596128" y="1627632"/>
            <a:ext cx="3200400" cy="2926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8" name="Google Shape;1048;p18"/>
          <p:cNvSpPr/>
          <p:nvPr/>
        </p:nvSpPr>
        <p:spPr>
          <a:xfrm>
            <a:off x="5650992" y="1664208"/>
            <a:ext cx="3090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CUSTOMERS</a:t>
            </a:r>
            <a:endParaRPr sz="950">
              <a:solidFill>
                <a:schemeClr val="dk1"/>
              </a:solidFill>
              <a:latin typeface="Calibri"/>
              <a:ea typeface="Calibri"/>
              <a:cs typeface="Calibri"/>
              <a:sym typeface="Calibri"/>
            </a:endParaRPr>
          </a:p>
        </p:txBody>
      </p:sp>
      <p:sp>
        <p:nvSpPr>
          <p:cNvPr id="1049" name="Google Shape;1049;p18"/>
          <p:cNvSpPr/>
          <p:nvPr/>
        </p:nvSpPr>
        <p:spPr>
          <a:xfrm>
            <a:off x="5596128" y="1975104"/>
            <a:ext cx="3200400" cy="347472"/>
          </a:xfrm>
          <a:prstGeom prst="rect">
            <a:avLst/>
          </a:prstGeom>
          <a:solidFill>
            <a:srgbClr val="0F2744"/>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0" name="Google Shape;1050;p18"/>
          <p:cNvSpPr/>
          <p:nvPr/>
        </p:nvSpPr>
        <p:spPr>
          <a:xfrm>
            <a:off x="5596128" y="1975104"/>
            <a:ext cx="54864"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1" name="Google Shape;1051;p18"/>
          <p:cNvSpPr/>
          <p:nvPr/>
        </p:nvSpPr>
        <p:spPr>
          <a:xfrm>
            <a:off x="5687568" y="2039112"/>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VIP loyalty programme → Cluster 2 (£4,158 avg spend)</a:t>
            </a:r>
            <a:endParaRPr sz="850">
              <a:solidFill>
                <a:schemeClr val="dk1"/>
              </a:solidFill>
              <a:latin typeface="Calibri"/>
              <a:ea typeface="Calibri"/>
              <a:cs typeface="Calibri"/>
              <a:sym typeface="Calibri"/>
            </a:endParaRPr>
          </a:p>
        </p:txBody>
      </p:sp>
      <p:sp>
        <p:nvSpPr>
          <p:cNvPr id="1052" name="Google Shape;1052;p18"/>
          <p:cNvSpPr/>
          <p:nvPr/>
        </p:nvSpPr>
        <p:spPr>
          <a:xfrm>
            <a:off x="5596128" y="2359152"/>
            <a:ext cx="3200400" cy="347472"/>
          </a:xfrm>
          <a:prstGeom prst="rect">
            <a:avLst/>
          </a:prstGeom>
          <a:solidFill>
            <a:srgbClr val="0D1E3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3" name="Google Shape;1053;p18"/>
          <p:cNvSpPr/>
          <p:nvPr/>
        </p:nvSpPr>
        <p:spPr>
          <a:xfrm>
            <a:off x="5596128" y="2359152"/>
            <a:ext cx="54864" cy="34747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4" name="Google Shape;1054;p18"/>
          <p:cNvSpPr/>
          <p:nvPr/>
        </p:nvSpPr>
        <p:spPr>
          <a:xfrm>
            <a:off x="5687568" y="2423160"/>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Win-back campaign → Cluster 1 (&gt;250 day recency)</a:t>
            </a:r>
            <a:endParaRPr sz="850">
              <a:solidFill>
                <a:schemeClr val="dk1"/>
              </a:solidFill>
              <a:latin typeface="Calibri"/>
              <a:ea typeface="Calibri"/>
              <a:cs typeface="Calibri"/>
              <a:sym typeface="Calibri"/>
            </a:endParaRPr>
          </a:p>
        </p:txBody>
      </p:sp>
      <p:sp>
        <p:nvSpPr>
          <p:cNvPr id="1055" name="Google Shape;1055;p18"/>
          <p:cNvSpPr/>
          <p:nvPr/>
        </p:nvSpPr>
        <p:spPr>
          <a:xfrm>
            <a:off x="5596128" y="2798064"/>
            <a:ext cx="3200400" cy="292608"/>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6" name="Google Shape;1056;p18"/>
          <p:cNvSpPr/>
          <p:nvPr/>
        </p:nvSpPr>
        <p:spPr>
          <a:xfrm>
            <a:off x="5650992" y="2834640"/>
            <a:ext cx="3090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INVENTORY</a:t>
            </a:r>
            <a:endParaRPr sz="950">
              <a:solidFill>
                <a:schemeClr val="dk1"/>
              </a:solidFill>
              <a:latin typeface="Calibri"/>
              <a:ea typeface="Calibri"/>
              <a:cs typeface="Calibri"/>
              <a:sym typeface="Calibri"/>
            </a:endParaRPr>
          </a:p>
        </p:txBody>
      </p:sp>
      <p:sp>
        <p:nvSpPr>
          <p:cNvPr id="1057" name="Google Shape;1057;p18"/>
          <p:cNvSpPr/>
          <p:nvPr/>
        </p:nvSpPr>
        <p:spPr>
          <a:xfrm>
            <a:off x="5596128" y="3145536"/>
            <a:ext cx="3200400" cy="347472"/>
          </a:xfrm>
          <a:prstGeom prst="rect">
            <a:avLst/>
          </a:prstGeom>
          <a:solidFill>
            <a:srgbClr val="0F2744"/>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8" name="Google Shape;1058;p18"/>
          <p:cNvSpPr/>
          <p:nvPr/>
        </p:nvSpPr>
        <p:spPr>
          <a:xfrm>
            <a:off x="5596128" y="3145536"/>
            <a:ext cx="54864" cy="347472"/>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9" name="Google Shape;1059;p18"/>
          <p:cNvSpPr/>
          <p:nvPr/>
        </p:nvSpPr>
        <p:spPr>
          <a:xfrm>
            <a:off x="5687568" y="3209544"/>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Priority supplier → Cluster 1 fast-movers (BAG, JUMBO)</a:t>
            </a:r>
            <a:endParaRPr sz="850">
              <a:solidFill>
                <a:schemeClr val="dk1"/>
              </a:solidFill>
              <a:latin typeface="Calibri"/>
              <a:ea typeface="Calibri"/>
              <a:cs typeface="Calibri"/>
              <a:sym typeface="Calibri"/>
            </a:endParaRPr>
          </a:p>
        </p:txBody>
      </p:sp>
      <p:sp>
        <p:nvSpPr>
          <p:cNvPr id="1060" name="Google Shape;1060;p18"/>
          <p:cNvSpPr/>
          <p:nvPr/>
        </p:nvSpPr>
        <p:spPr>
          <a:xfrm>
            <a:off x="5596128" y="3529584"/>
            <a:ext cx="3200400" cy="347472"/>
          </a:xfrm>
          <a:prstGeom prst="rect">
            <a:avLst/>
          </a:prstGeom>
          <a:solidFill>
            <a:srgbClr val="0D1E3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1" name="Google Shape;1061;p18"/>
          <p:cNvSpPr/>
          <p:nvPr/>
        </p:nvSpPr>
        <p:spPr>
          <a:xfrm>
            <a:off x="5596128" y="3529584"/>
            <a:ext cx="54864" cy="347472"/>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2" name="Google Shape;1062;p18"/>
          <p:cNvSpPr/>
          <p:nvPr/>
        </p:nvSpPr>
        <p:spPr>
          <a:xfrm>
            <a:off x="5687568" y="3593592"/>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Reduce Cluster 2 slow-movers → free working capital</a:t>
            </a:r>
            <a:endParaRPr sz="850">
              <a:solidFill>
                <a:schemeClr val="dk1"/>
              </a:solidFill>
              <a:latin typeface="Calibri"/>
              <a:ea typeface="Calibri"/>
              <a:cs typeface="Calibri"/>
              <a:sym typeface="Calibri"/>
            </a:endParaRPr>
          </a:p>
        </p:txBody>
      </p:sp>
      <p:sp>
        <p:nvSpPr>
          <p:cNvPr id="1063" name="Google Shape;1063;p18"/>
          <p:cNvSpPr/>
          <p:nvPr/>
        </p:nvSpPr>
        <p:spPr>
          <a:xfrm>
            <a:off x="5596128" y="3968496"/>
            <a:ext cx="3200400" cy="29260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4" name="Google Shape;1064;p18"/>
          <p:cNvSpPr/>
          <p:nvPr/>
        </p:nvSpPr>
        <p:spPr>
          <a:xfrm>
            <a:off x="5650992" y="4005072"/>
            <a:ext cx="3090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MARKETS</a:t>
            </a:r>
            <a:endParaRPr sz="950">
              <a:solidFill>
                <a:schemeClr val="dk1"/>
              </a:solidFill>
              <a:latin typeface="Calibri"/>
              <a:ea typeface="Calibri"/>
              <a:cs typeface="Calibri"/>
              <a:sym typeface="Calibri"/>
            </a:endParaRPr>
          </a:p>
        </p:txBody>
      </p:sp>
      <p:sp>
        <p:nvSpPr>
          <p:cNvPr id="1065" name="Google Shape;1065;p18"/>
          <p:cNvSpPr/>
          <p:nvPr/>
        </p:nvSpPr>
        <p:spPr>
          <a:xfrm>
            <a:off x="5596128" y="4315968"/>
            <a:ext cx="3200400" cy="347472"/>
          </a:xfrm>
          <a:prstGeom prst="rect">
            <a:avLst/>
          </a:prstGeom>
          <a:solidFill>
            <a:srgbClr val="0F2744"/>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6" name="Google Shape;1066;p18"/>
          <p:cNvSpPr/>
          <p:nvPr/>
        </p:nvSpPr>
        <p:spPr>
          <a:xfrm>
            <a:off x="5596128" y="4315968"/>
            <a:ext cx="54864"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7" name="Google Shape;1067;p18"/>
          <p:cNvSpPr/>
          <p:nvPr/>
        </p:nvSpPr>
        <p:spPr>
          <a:xfrm>
            <a:off x="5687568" y="4379976"/>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Basket-size campaigns → 26 Cluster 2 growth countries</a:t>
            </a:r>
            <a:endParaRPr sz="850">
              <a:solidFill>
                <a:schemeClr val="dk1"/>
              </a:solidFill>
              <a:latin typeface="Calibri"/>
              <a:ea typeface="Calibri"/>
              <a:cs typeface="Calibri"/>
              <a:sym typeface="Calibri"/>
            </a:endParaRPr>
          </a:p>
        </p:txBody>
      </p:sp>
      <p:sp>
        <p:nvSpPr>
          <p:cNvPr id="1068" name="Google Shape;1068;p18"/>
          <p:cNvSpPr/>
          <p:nvPr/>
        </p:nvSpPr>
        <p:spPr>
          <a:xfrm>
            <a:off x="5596128" y="4700016"/>
            <a:ext cx="3200400" cy="347472"/>
          </a:xfrm>
          <a:prstGeom prst="rect">
            <a:avLst/>
          </a:prstGeom>
          <a:solidFill>
            <a:srgbClr val="0D1E38"/>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9" name="Google Shape;1069;p18"/>
          <p:cNvSpPr/>
          <p:nvPr/>
        </p:nvSpPr>
        <p:spPr>
          <a:xfrm>
            <a:off x="5596128" y="4700016"/>
            <a:ext cx="54864"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0" name="Google Shape;1070;p18"/>
          <p:cNvSpPr/>
          <p:nvPr/>
        </p:nvSpPr>
        <p:spPr>
          <a:xfrm>
            <a:off x="5687568" y="4764024"/>
            <a:ext cx="30358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850"/>
              <a:buFont typeface="Calibri"/>
              <a:buNone/>
            </a:pPr>
            <a:r>
              <a:rPr lang="en-US" sz="850">
                <a:solidFill>
                  <a:srgbClr val="CBD5E1"/>
                </a:solidFill>
                <a:latin typeface="Calibri"/>
                <a:ea typeface="Calibri"/>
                <a:cs typeface="Calibri"/>
                <a:sym typeface="Calibri"/>
              </a:rPr>
              <a:t>→ Investigate barriers → Cluster 0 developing markets</a:t>
            </a:r>
            <a:endParaRPr sz="8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5"/>
        <p:cNvGrpSpPr/>
        <p:nvPr/>
      </p:nvGrpSpPr>
      <p:grpSpPr>
        <a:xfrm>
          <a:off x="0" y="0"/>
          <a:ext cx="0" cy="0"/>
          <a:chOff x="0" y="0"/>
          <a:chExt cx="0" cy="0"/>
        </a:xfrm>
      </p:grpSpPr>
      <p:pic>
        <p:nvPicPr>
          <p:cNvPr id="1076" name="Google Shape;1076;p19" descr="holdout_comparison.png"/>
          <p:cNvPicPr preferRelativeResize="0"/>
          <p:nvPr/>
        </p:nvPicPr>
        <p:blipFill rotWithShape="1">
          <a:blip r:embed="rId3">
            <a:alphaModFix/>
          </a:blip>
          <a:srcRect/>
          <a:stretch/>
        </p:blipFill>
        <p:spPr>
          <a:xfrm>
            <a:off x="5119983" y="3504968"/>
            <a:ext cx="2690948" cy="1497004"/>
          </a:xfrm>
          <a:prstGeom prst="rect">
            <a:avLst/>
          </a:prstGeom>
          <a:noFill/>
          <a:ln>
            <a:noFill/>
          </a:ln>
        </p:spPr>
      </p:pic>
      <p:sp>
        <p:nvSpPr>
          <p:cNvPr id="1077" name="Google Shape;1077;p19"/>
          <p:cNvSpPr/>
          <p:nvPr/>
        </p:nvSpPr>
        <p:spPr>
          <a:xfrm>
            <a:off x="0" y="0"/>
            <a:ext cx="9144000" cy="20116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8" name="Google Shape;1078;p19"/>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4 — FORECASTING MODEL  |  OBJECTIVE &amp; MODEL COMPARISON</a:t>
            </a:r>
            <a:endParaRPr sz="900">
              <a:solidFill>
                <a:schemeClr val="dk1"/>
              </a:solidFill>
              <a:latin typeface="Calibri"/>
              <a:ea typeface="Calibri"/>
              <a:cs typeface="Calibri"/>
              <a:sym typeface="Calibri"/>
            </a:endParaRPr>
          </a:p>
        </p:txBody>
      </p:sp>
      <p:sp>
        <p:nvSpPr>
          <p:cNvPr id="1079" name="Google Shape;1079;p19"/>
          <p:cNvSpPr/>
          <p:nvPr/>
        </p:nvSpPr>
        <p:spPr>
          <a:xfrm>
            <a:off x="0" y="182880"/>
            <a:ext cx="9144000" cy="370332"/>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0" name="Google Shape;1080;p19"/>
          <p:cNvSpPr/>
          <p:nvPr/>
        </p:nvSpPr>
        <p:spPr>
          <a:xfrm>
            <a:off x="78377" y="146304"/>
            <a:ext cx="82296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Forecasting — Objective &amp; Model Comparison</a:t>
            </a:r>
            <a:endParaRPr sz="2000">
              <a:solidFill>
                <a:schemeClr val="dk1"/>
              </a:solidFill>
              <a:latin typeface="Calibri"/>
              <a:ea typeface="Calibri"/>
              <a:cs typeface="Calibri"/>
              <a:sym typeface="Calibri"/>
            </a:endParaRPr>
          </a:p>
        </p:txBody>
      </p:sp>
      <p:sp>
        <p:nvSpPr>
          <p:cNvPr id="1081" name="Google Shape;1081;p19"/>
          <p:cNvSpPr/>
          <p:nvPr/>
        </p:nvSpPr>
        <p:spPr>
          <a:xfrm>
            <a:off x="438900" y="1877431"/>
            <a:ext cx="8046600" cy="14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Predict daily_revenue and daily_order_volume for the next 30 days  |  374 daily calendar records (2010-12-01 → 2011-12-09)  |  Train: 344 days  |  Holdout: 30 days</a:t>
            </a:r>
            <a:endParaRPr sz="1000">
              <a:solidFill>
                <a:schemeClr val="dk1"/>
              </a:solidFill>
              <a:latin typeface="Calibri"/>
              <a:ea typeface="Calibri"/>
              <a:cs typeface="Calibri"/>
              <a:sym typeface="Calibri"/>
            </a:endParaRPr>
          </a:p>
        </p:txBody>
      </p:sp>
      <p:sp>
        <p:nvSpPr>
          <p:cNvPr id="1082" name="Google Shape;1082;p19"/>
          <p:cNvSpPr/>
          <p:nvPr/>
        </p:nvSpPr>
        <p:spPr>
          <a:xfrm>
            <a:off x="210300" y="1402963"/>
            <a:ext cx="4251900" cy="105390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3" name="Google Shape;1083;p19"/>
          <p:cNvSpPr/>
          <p:nvPr/>
        </p:nvSpPr>
        <p:spPr>
          <a:xfrm>
            <a:off x="210300" y="1418956"/>
            <a:ext cx="4251900" cy="255900"/>
          </a:xfrm>
          <a:prstGeom prst="rect">
            <a:avLst/>
          </a:prstGeom>
          <a:solidFill>
            <a:srgbClr val="2D3748"/>
          </a:solidFill>
          <a:ln w="12700" cap="flat" cmpd="sng">
            <a:solidFill>
              <a:srgbClr val="2D37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4" name="Google Shape;1084;p19"/>
          <p:cNvSpPr/>
          <p:nvPr/>
        </p:nvSpPr>
        <p:spPr>
          <a:xfrm>
            <a:off x="274308" y="1450371"/>
            <a:ext cx="2926200" cy="192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Calibri"/>
              <a:buNone/>
            </a:pPr>
            <a:r>
              <a:rPr lang="en-US" sz="1500" b="1">
                <a:solidFill>
                  <a:srgbClr val="FFFFFF"/>
                </a:solidFill>
                <a:latin typeface="Calibri"/>
                <a:ea typeface="Calibri"/>
                <a:cs typeface="Calibri"/>
                <a:sym typeface="Calibri"/>
              </a:rPr>
              <a:t>Seasonal Naive Model</a:t>
            </a:r>
            <a:endParaRPr sz="1500">
              <a:solidFill>
                <a:schemeClr val="dk1"/>
              </a:solidFill>
              <a:latin typeface="Calibri"/>
              <a:ea typeface="Calibri"/>
              <a:cs typeface="Calibri"/>
              <a:sym typeface="Calibri"/>
            </a:endParaRPr>
          </a:p>
        </p:txBody>
      </p:sp>
      <p:sp>
        <p:nvSpPr>
          <p:cNvPr id="1085" name="Google Shape;1085;p19"/>
          <p:cNvSpPr/>
          <p:nvPr/>
        </p:nvSpPr>
        <p:spPr>
          <a:xfrm>
            <a:off x="3351267" y="1465603"/>
            <a:ext cx="960000" cy="1599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6" name="Google Shape;1086;p19"/>
          <p:cNvSpPr/>
          <p:nvPr/>
        </p:nvSpPr>
        <p:spPr>
          <a:xfrm>
            <a:off x="3351267" y="1469601"/>
            <a:ext cx="960000" cy="159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850"/>
              <a:buFont typeface="Calibri"/>
              <a:buNone/>
            </a:pPr>
            <a:r>
              <a:rPr lang="en-US" sz="850" b="1">
                <a:solidFill>
                  <a:srgbClr val="0D1B2A"/>
                </a:solidFill>
                <a:latin typeface="Calibri"/>
                <a:ea typeface="Calibri"/>
                <a:cs typeface="Calibri"/>
                <a:sym typeface="Calibri"/>
              </a:rPr>
              <a:t>BASELINE</a:t>
            </a:r>
            <a:endParaRPr sz="850">
              <a:solidFill>
                <a:schemeClr val="dk1"/>
              </a:solidFill>
              <a:latin typeface="Calibri"/>
              <a:ea typeface="Calibri"/>
              <a:cs typeface="Calibri"/>
              <a:sym typeface="Calibri"/>
            </a:endParaRPr>
          </a:p>
        </p:txBody>
      </p:sp>
      <p:sp>
        <p:nvSpPr>
          <p:cNvPr id="1087" name="Google Shape;1087;p19"/>
          <p:cNvSpPr/>
          <p:nvPr/>
        </p:nvSpPr>
        <p:spPr>
          <a:xfrm>
            <a:off x="370383" y="1923785"/>
            <a:ext cx="3931800" cy="15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b="1">
                <a:solidFill>
                  <a:schemeClr val="dk1"/>
                </a:solidFill>
                <a:latin typeface="Calibri"/>
                <a:ea typeface="Calibri"/>
                <a:cs typeface="Calibri"/>
                <a:sym typeface="Calibri"/>
              </a:rPr>
              <a:t>Insight</a:t>
            </a:r>
            <a:r>
              <a:rPr lang="en-US" sz="950">
                <a:solidFill>
                  <a:schemeClr val="dk1"/>
                </a:solidFill>
                <a:latin typeface="Calibri"/>
                <a:ea typeface="Calibri"/>
                <a:cs typeface="Calibri"/>
                <a:sym typeface="Calibri"/>
              </a:rPr>
              <a:t>: The basic Seasonal Naive model outperforms for raw order volume, as it is heavily driven by a strict and stable weekly rhythm rather than complex features. Simply repeating the trend from the prior week (especially accounting for our zero-order Saturdays) yielded the most accurate order counts.</a:t>
            </a:r>
            <a:endParaRPr sz="950">
              <a:solidFill>
                <a:schemeClr val="dk1"/>
              </a:solidFill>
              <a:latin typeface="Calibri"/>
              <a:ea typeface="Calibri"/>
              <a:cs typeface="Calibri"/>
              <a:sym typeface="Calibri"/>
            </a:endParaRPr>
          </a:p>
        </p:txBody>
      </p:sp>
      <p:sp>
        <p:nvSpPr>
          <p:cNvPr id="1088" name="Google Shape;1088;p19"/>
          <p:cNvSpPr/>
          <p:nvPr/>
        </p:nvSpPr>
        <p:spPr>
          <a:xfrm>
            <a:off x="210300" y="2531375"/>
            <a:ext cx="4223100" cy="270000"/>
          </a:xfrm>
          <a:prstGeom prst="rect">
            <a:avLst/>
          </a:prstGeom>
          <a:solidFill>
            <a:srgbClr val="0D1B2A"/>
          </a:solidFill>
          <a:ln w="13375" cap="flat" cmpd="sng">
            <a:solidFill>
              <a:srgbClr val="0D1B2A"/>
            </a:solidFill>
            <a:prstDash val="solid"/>
            <a:round/>
            <a:headEnd type="none" w="sm" len="sm"/>
            <a:tailEnd type="none" w="sm" len="sm"/>
          </a:ln>
        </p:spPr>
        <p:txBody>
          <a:bodyPr spcFirstLastPara="1" wrap="square" lIns="96400" tIns="48200" rIns="96400" bIns="48200" anchor="t" anchorCtr="0">
            <a:noAutofit/>
          </a:bodyPr>
          <a:lstStyle/>
          <a:p>
            <a:pPr marL="0" marR="0" lvl="0" indent="0" algn="l" rtl="0">
              <a:spcBef>
                <a:spcPts val="0"/>
              </a:spcBef>
              <a:spcAft>
                <a:spcPts val="0"/>
              </a:spcAft>
              <a:buNone/>
            </a:pPr>
            <a:endParaRPr sz="1898">
              <a:solidFill>
                <a:schemeClr val="dk1"/>
              </a:solidFill>
              <a:latin typeface="Calibri"/>
              <a:ea typeface="Calibri"/>
              <a:cs typeface="Calibri"/>
              <a:sym typeface="Calibri"/>
            </a:endParaRPr>
          </a:p>
        </p:txBody>
      </p:sp>
      <p:sp>
        <p:nvSpPr>
          <p:cNvPr id="1089" name="Google Shape;1089;p19"/>
          <p:cNvSpPr/>
          <p:nvPr/>
        </p:nvSpPr>
        <p:spPr>
          <a:xfrm>
            <a:off x="268152" y="2569943"/>
            <a:ext cx="14460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Target</a:t>
            </a:r>
            <a:endParaRPr sz="844">
              <a:solidFill>
                <a:schemeClr val="dk1"/>
              </a:solidFill>
              <a:latin typeface="Calibri"/>
              <a:ea typeface="Calibri"/>
              <a:cs typeface="Calibri"/>
              <a:sym typeface="Calibri"/>
            </a:endParaRPr>
          </a:p>
        </p:txBody>
      </p:sp>
      <p:sp>
        <p:nvSpPr>
          <p:cNvPr id="1090" name="Google Shape;1090;p19"/>
          <p:cNvSpPr/>
          <p:nvPr/>
        </p:nvSpPr>
        <p:spPr>
          <a:xfrm>
            <a:off x="1781944" y="2569943"/>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MAE</a:t>
            </a:r>
            <a:br>
              <a:rPr lang="en-US" sz="844" b="1">
                <a:solidFill>
                  <a:srgbClr val="0D9488"/>
                </a:solidFill>
                <a:latin typeface="Calibri"/>
                <a:ea typeface="Calibri"/>
                <a:cs typeface="Calibri"/>
                <a:sym typeface="Calibri"/>
              </a:rPr>
            </a:br>
            <a:r>
              <a:rPr lang="en-US" sz="844" b="1" i="1">
                <a:solidFill>
                  <a:srgbClr val="0D9488"/>
                </a:solidFill>
                <a:latin typeface="Calibri"/>
                <a:ea typeface="Calibri"/>
                <a:cs typeface="Calibri"/>
                <a:sym typeface="Calibri"/>
              </a:rPr>
              <a:t>(</a:t>
            </a:r>
            <a:r>
              <a:rPr lang="en-US" sz="644" b="1" i="1">
                <a:solidFill>
                  <a:srgbClr val="0D9488"/>
                </a:solidFill>
                <a:latin typeface="Calibri"/>
                <a:ea typeface="Calibri"/>
                <a:cs typeface="Calibri"/>
                <a:sym typeface="Calibri"/>
              </a:rPr>
              <a:t>Mean Absolute Error</a:t>
            </a:r>
            <a:r>
              <a:rPr lang="en-US" sz="844" b="1" i="1">
                <a:solidFill>
                  <a:srgbClr val="0D9488"/>
                </a:solidFill>
                <a:latin typeface="Calibri"/>
                <a:ea typeface="Calibri"/>
                <a:cs typeface="Calibri"/>
                <a:sym typeface="Calibri"/>
              </a:rPr>
              <a:t>)</a:t>
            </a:r>
            <a:endParaRPr sz="844" i="1">
              <a:solidFill>
                <a:schemeClr val="dk1"/>
              </a:solidFill>
              <a:latin typeface="Calibri"/>
              <a:ea typeface="Calibri"/>
              <a:cs typeface="Calibri"/>
              <a:sym typeface="Calibri"/>
            </a:endParaRPr>
          </a:p>
        </p:txBody>
      </p:sp>
      <p:sp>
        <p:nvSpPr>
          <p:cNvPr id="1091" name="Google Shape;1091;p19"/>
          <p:cNvSpPr/>
          <p:nvPr/>
        </p:nvSpPr>
        <p:spPr>
          <a:xfrm>
            <a:off x="2697945" y="2547043"/>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RMSE</a:t>
            </a:r>
            <a:br>
              <a:rPr lang="en-US" sz="844" b="1">
                <a:solidFill>
                  <a:srgbClr val="0D9488"/>
                </a:solidFill>
                <a:latin typeface="Calibri"/>
                <a:ea typeface="Calibri"/>
                <a:cs typeface="Calibri"/>
                <a:sym typeface="Calibri"/>
              </a:rPr>
            </a:br>
            <a:r>
              <a:rPr lang="en-US" sz="544" b="1" i="1">
                <a:solidFill>
                  <a:srgbClr val="0D9488"/>
                </a:solidFill>
                <a:latin typeface="Calibri"/>
                <a:ea typeface="Calibri"/>
                <a:cs typeface="Calibri"/>
                <a:sym typeface="Calibri"/>
              </a:rPr>
              <a:t>(Root Mean Squared Error)</a:t>
            </a:r>
            <a:endParaRPr sz="544" i="1">
              <a:solidFill>
                <a:schemeClr val="dk1"/>
              </a:solidFill>
              <a:latin typeface="Calibri"/>
              <a:ea typeface="Calibri"/>
              <a:cs typeface="Calibri"/>
              <a:sym typeface="Calibri"/>
            </a:endParaRPr>
          </a:p>
        </p:txBody>
      </p:sp>
      <p:sp>
        <p:nvSpPr>
          <p:cNvPr id="1092" name="Google Shape;1092;p19"/>
          <p:cNvSpPr/>
          <p:nvPr/>
        </p:nvSpPr>
        <p:spPr>
          <a:xfrm>
            <a:off x="3613921" y="2569943"/>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WAPE</a:t>
            </a:r>
            <a:br>
              <a:rPr lang="en-US" sz="444" b="1">
                <a:solidFill>
                  <a:srgbClr val="0D9488"/>
                </a:solidFill>
                <a:latin typeface="Calibri"/>
                <a:ea typeface="Calibri"/>
                <a:cs typeface="Calibri"/>
                <a:sym typeface="Calibri"/>
              </a:rPr>
            </a:br>
            <a:r>
              <a:rPr lang="en-US" sz="444" b="1" i="1">
                <a:solidFill>
                  <a:srgbClr val="0D9488"/>
                </a:solidFill>
                <a:latin typeface="Calibri"/>
                <a:ea typeface="Calibri"/>
                <a:cs typeface="Calibri"/>
                <a:sym typeface="Calibri"/>
              </a:rPr>
              <a:t>(</a:t>
            </a:r>
            <a:r>
              <a:rPr lang="en-US" sz="544" b="1" i="1">
                <a:solidFill>
                  <a:srgbClr val="0D9488"/>
                </a:solidFill>
                <a:latin typeface="Calibri"/>
                <a:ea typeface="Calibri"/>
                <a:cs typeface="Calibri"/>
                <a:sym typeface="Calibri"/>
              </a:rPr>
              <a:t>Weighted Average Percentage Error)</a:t>
            </a:r>
            <a:endParaRPr sz="544" i="1">
              <a:solidFill>
                <a:schemeClr val="dk1"/>
              </a:solidFill>
              <a:latin typeface="Calibri"/>
              <a:ea typeface="Calibri"/>
              <a:cs typeface="Calibri"/>
              <a:sym typeface="Calibri"/>
            </a:endParaRPr>
          </a:p>
        </p:txBody>
      </p:sp>
      <p:sp>
        <p:nvSpPr>
          <p:cNvPr id="1093" name="Google Shape;1093;p19"/>
          <p:cNvSpPr/>
          <p:nvPr/>
        </p:nvSpPr>
        <p:spPr>
          <a:xfrm>
            <a:off x="210300" y="2830278"/>
            <a:ext cx="4223100" cy="288900"/>
          </a:xfrm>
          <a:prstGeom prst="rect">
            <a:avLst/>
          </a:prstGeom>
          <a:solidFill>
            <a:srgbClr val="FFFFFF"/>
          </a:solidFill>
          <a:ln w="10025" cap="flat" cmpd="sng">
            <a:solidFill>
              <a:srgbClr val="E2E8F0"/>
            </a:solidFill>
            <a:prstDash val="solid"/>
            <a:round/>
            <a:headEnd type="none" w="sm" len="sm"/>
            <a:tailEnd type="none" w="sm" len="sm"/>
          </a:ln>
        </p:spPr>
        <p:txBody>
          <a:bodyPr spcFirstLastPara="1" wrap="square" lIns="96400" tIns="48200" rIns="96400" bIns="48200" anchor="t" anchorCtr="0">
            <a:noAutofit/>
          </a:bodyPr>
          <a:lstStyle/>
          <a:p>
            <a:pPr marL="0" marR="0" lvl="0" indent="0" algn="l" rtl="0">
              <a:spcBef>
                <a:spcPts val="0"/>
              </a:spcBef>
              <a:spcAft>
                <a:spcPts val="0"/>
              </a:spcAft>
              <a:buNone/>
            </a:pPr>
            <a:endParaRPr sz="1898">
              <a:solidFill>
                <a:schemeClr val="dk1"/>
              </a:solidFill>
              <a:latin typeface="Calibri"/>
              <a:ea typeface="Calibri"/>
              <a:cs typeface="Calibri"/>
              <a:sym typeface="Calibri"/>
            </a:endParaRPr>
          </a:p>
        </p:txBody>
      </p:sp>
      <p:sp>
        <p:nvSpPr>
          <p:cNvPr id="1094" name="Google Shape;1094;p19"/>
          <p:cNvSpPr/>
          <p:nvPr/>
        </p:nvSpPr>
        <p:spPr>
          <a:xfrm>
            <a:off x="268152" y="2878488"/>
            <a:ext cx="1446000" cy="212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49"/>
              <a:buFont typeface="Calibri"/>
              <a:buNone/>
            </a:pPr>
            <a:r>
              <a:rPr lang="en-US" sz="949">
                <a:solidFill>
                  <a:srgbClr val="0D1B2A"/>
                </a:solidFill>
                <a:latin typeface="Calibri"/>
                <a:ea typeface="Calibri"/>
                <a:cs typeface="Calibri"/>
                <a:sym typeface="Calibri"/>
              </a:rPr>
              <a:t>Revenue</a:t>
            </a:r>
            <a:endParaRPr sz="949">
              <a:solidFill>
                <a:schemeClr val="dk1"/>
              </a:solidFill>
              <a:latin typeface="Calibri"/>
              <a:ea typeface="Calibri"/>
              <a:cs typeface="Calibri"/>
              <a:sym typeface="Calibri"/>
            </a:endParaRPr>
          </a:p>
        </p:txBody>
      </p:sp>
      <p:sp>
        <p:nvSpPr>
          <p:cNvPr id="1095" name="Google Shape;1095;p19"/>
          <p:cNvSpPr/>
          <p:nvPr/>
        </p:nvSpPr>
        <p:spPr>
          <a:xfrm>
            <a:off x="1781944" y="2878488"/>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49"/>
              <a:buFont typeface="Calibri"/>
              <a:buNone/>
            </a:pPr>
            <a:r>
              <a:rPr lang="en-US" sz="949" b="1">
                <a:solidFill>
                  <a:srgbClr val="0D1B2A"/>
                </a:solidFill>
                <a:latin typeface="Calibri"/>
                <a:ea typeface="Calibri"/>
                <a:cs typeface="Calibri"/>
                <a:sym typeface="Calibri"/>
              </a:rPr>
              <a:t>5,822.61</a:t>
            </a:r>
            <a:endParaRPr sz="949">
              <a:solidFill>
                <a:schemeClr val="dk1"/>
              </a:solidFill>
              <a:latin typeface="Calibri"/>
              <a:ea typeface="Calibri"/>
              <a:cs typeface="Calibri"/>
              <a:sym typeface="Calibri"/>
            </a:endParaRPr>
          </a:p>
        </p:txBody>
      </p:sp>
      <p:sp>
        <p:nvSpPr>
          <p:cNvPr id="1096" name="Google Shape;1096;p19"/>
          <p:cNvSpPr/>
          <p:nvPr/>
        </p:nvSpPr>
        <p:spPr>
          <a:xfrm>
            <a:off x="2697933" y="2878488"/>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49"/>
              <a:buFont typeface="Calibri"/>
              <a:buNone/>
            </a:pPr>
            <a:r>
              <a:rPr lang="en-US" sz="949" b="1">
                <a:solidFill>
                  <a:srgbClr val="0D1B2A"/>
                </a:solidFill>
                <a:latin typeface="Calibri"/>
                <a:ea typeface="Calibri"/>
                <a:cs typeface="Calibri"/>
                <a:sym typeface="Calibri"/>
              </a:rPr>
              <a:t>8,048.46</a:t>
            </a:r>
            <a:endParaRPr sz="949">
              <a:solidFill>
                <a:schemeClr val="dk1"/>
              </a:solidFill>
              <a:latin typeface="Calibri"/>
              <a:ea typeface="Calibri"/>
              <a:cs typeface="Calibri"/>
              <a:sym typeface="Calibri"/>
            </a:endParaRPr>
          </a:p>
        </p:txBody>
      </p:sp>
      <p:sp>
        <p:nvSpPr>
          <p:cNvPr id="1097" name="Google Shape;1097;p19"/>
          <p:cNvSpPr/>
          <p:nvPr/>
        </p:nvSpPr>
        <p:spPr>
          <a:xfrm>
            <a:off x="3613921" y="2878488"/>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49"/>
              <a:buFont typeface="Calibri"/>
              <a:buNone/>
            </a:pPr>
            <a:r>
              <a:rPr lang="en-US" sz="949" b="1">
                <a:solidFill>
                  <a:srgbClr val="0D1B2A"/>
                </a:solidFill>
                <a:latin typeface="Calibri"/>
                <a:ea typeface="Calibri"/>
                <a:cs typeface="Calibri"/>
                <a:sym typeface="Calibri"/>
              </a:rPr>
              <a:t>27.42%</a:t>
            </a:r>
            <a:endParaRPr sz="949">
              <a:solidFill>
                <a:schemeClr val="dk1"/>
              </a:solidFill>
              <a:latin typeface="Calibri"/>
              <a:ea typeface="Calibri"/>
              <a:cs typeface="Calibri"/>
              <a:sym typeface="Calibri"/>
            </a:endParaRPr>
          </a:p>
        </p:txBody>
      </p:sp>
      <p:sp>
        <p:nvSpPr>
          <p:cNvPr id="1098" name="Google Shape;1098;p19"/>
          <p:cNvSpPr/>
          <p:nvPr/>
        </p:nvSpPr>
        <p:spPr>
          <a:xfrm>
            <a:off x="210300" y="3158106"/>
            <a:ext cx="4223100" cy="288900"/>
          </a:xfrm>
          <a:prstGeom prst="rect">
            <a:avLst/>
          </a:prstGeom>
          <a:solidFill>
            <a:srgbClr val="F8FAFC"/>
          </a:solidFill>
          <a:ln w="10025" cap="flat" cmpd="sng">
            <a:solidFill>
              <a:srgbClr val="E2E8F0"/>
            </a:solidFill>
            <a:prstDash val="solid"/>
            <a:round/>
            <a:headEnd type="none" w="sm" len="sm"/>
            <a:tailEnd type="none" w="sm" len="sm"/>
          </a:ln>
        </p:spPr>
        <p:txBody>
          <a:bodyPr spcFirstLastPara="1" wrap="square" lIns="96400" tIns="48200" rIns="96400" bIns="48200" anchor="t" anchorCtr="0">
            <a:noAutofit/>
          </a:bodyPr>
          <a:lstStyle/>
          <a:p>
            <a:pPr marL="0" marR="0" lvl="0" indent="0" algn="l" rtl="0">
              <a:spcBef>
                <a:spcPts val="0"/>
              </a:spcBef>
              <a:spcAft>
                <a:spcPts val="0"/>
              </a:spcAft>
              <a:buNone/>
            </a:pPr>
            <a:endParaRPr sz="1898">
              <a:solidFill>
                <a:schemeClr val="dk1"/>
              </a:solidFill>
              <a:latin typeface="Calibri"/>
              <a:ea typeface="Calibri"/>
              <a:cs typeface="Calibri"/>
              <a:sym typeface="Calibri"/>
            </a:endParaRPr>
          </a:p>
        </p:txBody>
      </p:sp>
      <p:sp>
        <p:nvSpPr>
          <p:cNvPr id="1099" name="Google Shape;1099;p19"/>
          <p:cNvSpPr/>
          <p:nvPr/>
        </p:nvSpPr>
        <p:spPr>
          <a:xfrm>
            <a:off x="268152" y="3206316"/>
            <a:ext cx="1446000" cy="212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49"/>
              <a:buFont typeface="Calibri"/>
              <a:buNone/>
            </a:pPr>
            <a:r>
              <a:rPr lang="en-US" sz="949">
                <a:solidFill>
                  <a:srgbClr val="0D1B2A"/>
                </a:solidFill>
                <a:latin typeface="Calibri"/>
                <a:ea typeface="Calibri"/>
                <a:cs typeface="Calibri"/>
                <a:sym typeface="Calibri"/>
              </a:rPr>
              <a:t>Orders</a:t>
            </a:r>
            <a:endParaRPr sz="949">
              <a:solidFill>
                <a:schemeClr val="dk1"/>
              </a:solidFill>
              <a:latin typeface="Calibri"/>
              <a:ea typeface="Calibri"/>
              <a:cs typeface="Calibri"/>
              <a:sym typeface="Calibri"/>
            </a:endParaRPr>
          </a:p>
        </p:txBody>
      </p:sp>
      <p:sp>
        <p:nvSpPr>
          <p:cNvPr id="1100" name="Google Shape;1100;p19"/>
          <p:cNvSpPr/>
          <p:nvPr/>
        </p:nvSpPr>
        <p:spPr>
          <a:xfrm>
            <a:off x="1781944" y="3206316"/>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49"/>
              <a:buFont typeface="Calibri"/>
              <a:buNone/>
            </a:pPr>
            <a:r>
              <a:rPr lang="en-US" sz="949" b="1">
                <a:solidFill>
                  <a:srgbClr val="22C55E"/>
                </a:solidFill>
                <a:latin typeface="Calibri"/>
                <a:ea typeface="Calibri"/>
                <a:cs typeface="Calibri"/>
                <a:sym typeface="Calibri"/>
              </a:rPr>
              <a:t>14.70</a:t>
            </a:r>
            <a:endParaRPr sz="949">
              <a:solidFill>
                <a:schemeClr val="dk1"/>
              </a:solidFill>
              <a:latin typeface="Calibri"/>
              <a:ea typeface="Calibri"/>
              <a:cs typeface="Calibri"/>
              <a:sym typeface="Calibri"/>
            </a:endParaRPr>
          </a:p>
        </p:txBody>
      </p:sp>
      <p:sp>
        <p:nvSpPr>
          <p:cNvPr id="1101" name="Google Shape;1101;p19"/>
          <p:cNvSpPr/>
          <p:nvPr/>
        </p:nvSpPr>
        <p:spPr>
          <a:xfrm>
            <a:off x="2697933" y="3206316"/>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49"/>
              <a:buFont typeface="Calibri"/>
              <a:buNone/>
            </a:pPr>
            <a:r>
              <a:rPr lang="en-US" sz="949" b="1">
                <a:solidFill>
                  <a:srgbClr val="22C55E"/>
                </a:solidFill>
                <a:latin typeface="Calibri"/>
                <a:ea typeface="Calibri"/>
                <a:cs typeface="Calibri"/>
                <a:sym typeface="Calibri"/>
              </a:rPr>
              <a:t>19.06</a:t>
            </a:r>
            <a:endParaRPr sz="949">
              <a:solidFill>
                <a:schemeClr val="dk1"/>
              </a:solidFill>
              <a:latin typeface="Calibri"/>
              <a:ea typeface="Calibri"/>
              <a:cs typeface="Calibri"/>
              <a:sym typeface="Calibri"/>
            </a:endParaRPr>
          </a:p>
        </p:txBody>
      </p:sp>
      <p:sp>
        <p:nvSpPr>
          <p:cNvPr id="1102" name="Google Shape;1102;p19"/>
          <p:cNvSpPr/>
          <p:nvPr/>
        </p:nvSpPr>
        <p:spPr>
          <a:xfrm>
            <a:off x="3613921" y="3206316"/>
            <a:ext cx="848400" cy="2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49"/>
              <a:buFont typeface="Calibri"/>
              <a:buNone/>
            </a:pPr>
            <a:r>
              <a:rPr lang="en-US" sz="949" b="1">
                <a:solidFill>
                  <a:srgbClr val="22C55E"/>
                </a:solidFill>
                <a:latin typeface="Calibri"/>
                <a:ea typeface="Calibri"/>
                <a:cs typeface="Calibri"/>
                <a:sym typeface="Calibri"/>
              </a:rPr>
              <a:t>17.84%</a:t>
            </a:r>
            <a:endParaRPr sz="949">
              <a:solidFill>
                <a:schemeClr val="dk1"/>
              </a:solidFill>
              <a:latin typeface="Calibri"/>
              <a:ea typeface="Calibri"/>
              <a:cs typeface="Calibri"/>
              <a:sym typeface="Calibri"/>
            </a:endParaRPr>
          </a:p>
        </p:txBody>
      </p:sp>
      <p:sp>
        <p:nvSpPr>
          <p:cNvPr id="1103" name="Google Shape;1103;p19"/>
          <p:cNvSpPr/>
          <p:nvPr/>
        </p:nvSpPr>
        <p:spPr>
          <a:xfrm>
            <a:off x="4571993" y="1402963"/>
            <a:ext cx="4251900" cy="1053900"/>
          </a:xfrm>
          <a:prstGeom prst="rect">
            <a:avLst/>
          </a:prstGeom>
          <a:solidFill>
            <a:srgbClr val="F1F5F9"/>
          </a:solidFill>
          <a:ln w="12700" cap="flat" cmpd="sng">
            <a:solidFill>
              <a:srgbClr val="E2E8F0"/>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4" name="Google Shape;1104;p19"/>
          <p:cNvSpPr/>
          <p:nvPr/>
        </p:nvSpPr>
        <p:spPr>
          <a:xfrm>
            <a:off x="4588975" y="1404867"/>
            <a:ext cx="4251900" cy="2559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5" name="Google Shape;1105;p19"/>
          <p:cNvSpPr/>
          <p:nvPr/>
        </p:nvSpPr>
        <p:spPr>
          <a:xfrm>
            <a:off x="4681721" y="1428476"/>
            <a:ext cx="2926200" cy="192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500"/>
              <a:buFont typeface="Calibri"/>
              <a:buNone/>
            </a:pPr>
            <a:r>
              <a:rPr lang="en-US" sz="1500" b="1">
                <a:solidFill>
                  <a:srgbClr val="0D1B2A"/>
                </a:solidFill>
                <a:latin typeface="Calibri"/>
                <a:ea typeface="Calibri"/>
                <a:cs typeface="Calibri"/>
                <a:sym typeface="Calibri"/>
              </a:rPr>
              <a:t>Gradient Boosting Model</a:t>
            </a:r>
            <a:endParaRPr sz="1500">
              <a:solidFill>
                <a:schemeClr val="dk1"/>
              </a:solidFill>
              <a:latin typeface="Calibri"/>
              <a:ea typeface="Calibri"/>
              <a:cs typeface="Calibri"/>
              <a:sym typeface="Calibri"/>
            </a:endParaRPr>
          </a:p>
        </p:txBody>
      </p:sp>
      <p:sp>
        <p:nvSpPr>
          <p:cNvPr id="1106" name="Google Shape;1106;p19"/>
          <p:cNvSpPr/>
          <p:nvPr/>
        </p:nvSpPr>
        <p:spPr>
          <a:xfrm>
            <a:off x="7827913" y="1449990"/>
            <a:ext cx="960000" cy="1599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7" name="Google Shape;1107;p19"/>
          <p:cNvSpPr/>
          <p:nvPr/>
        </p:nvSpPr>
        <p:spPr>
          <a:xfrm>
            <a:off x="7810931" y="1453608"/>
            <a:ext cx="960000" cy="159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ADVANCED</a:t>
            </a:r>
            <a:endParaRPr sz="850">
              <a:solidFill>
                <a:schemeClr val="dk1"/>
              </a:solidFill>
              <a:latin typeface="Calibri"/>
              <a:ea typeface="Calibri"/>
              <a:cs typeface="Calibri"/>
              <a:sym typeface="Calibri"/>
            </a:endParaRPr>
          </a:p>
        </p:txBody>
      </p:sp>
      <p:sp>
        <p:nvSpPr>
          <p:cNvPr id="1108" name="Google Shape;1108;p19"/>
          <p:cNvSpPr/>
          <p:nvPr/>
        </p:nvSpPr>
        <p:spPr>
          <a:xfrm>
            <a:off x="4722218" y="1727575"/>
            <a:ext cx="3931800" cy="67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950" b="1">
                <a:solidFill>
                  <a:srgbClr val="374151"/>
                </a:solidFill>
                <a:latin typeface="Calibri"/>
                <a:ea typeface="Calibri"/>
                <a:cs typeface="Calibri"/>
                <a:sym typeface="Calibri"/>
              </a:rPr>
              <a:t>Insight: </a:t>
            </a:r>
            <a:r>
              <a:rPr lang="en-US" sz="950">
                <a:solidFill>
                  <a:srgbClr val="374151"/>
                </a:solidFill>
                <a:latin typeface="Calibri"/>
                <a:ea typeface="Calibri"/>
                <a:cs typeface="Calibri"/>
                <a:sym typeface="Calibri"/>
              </a:rPr>
              <a:t>Gradient Boosting strongly outperforms the baseline for daily revenue, as it is highly dependent on our enriched features (like product mix, geography, and basket value changes). Gradient Boosting captures those nuances far better than just repeating the previous week.</a:t>
            </a:r>
            <a:endParaRPr sz="950">
              <a:solidFill>
                <a:srgbClr val="37415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endParaRPr sz="950">
              <a:solidFill>
                <a:srgbClr val="374151"/>
              </a:solidFill>
              <a:latin typeface="Calibri"/>
              <a:ea typeface="Calibri"/>
              <a:cs typeface="Calibri"/>
              <a:sym typeface="Calibri"/>
            </a:endParaRPr>
          </a:p>
        </p:txBody>
      </p:sp>
      <p:sp>
        <p:nvSpPr>
          <p:cNvPr id="1109" name="Google Shape;1109;p19"/>
          <p:cNvSpPr/>
          <p:nvPr/>
        </p:nvSpPr>
        <p:spPr>
          <a:xfrm>
            <a:off x="4574013" y="2547050"/>
            <a:ext cx="4281900" cy="273600"/>
          </a:xfrm>
          <a:prstGeom prst="rect">
            <a:avLst/>
          </a:prstGeom>
          <a:solidFill>
            <a:srgbClr val="0D1B2A"/>
          </a:solidFill>
          <a:ln w="13575" cap="flat" cmpd="sng">
            <a:solidFill>
              <a:srgbClr val="0D1B2A"/>
            </a:solidFill>
            <a:prstDash val="solid"/>
            <a:round/>
            <a:headEnd type="none" w="sm" len="sm"/>
            <a:tailEnd type="none" w="sm" len="sm"/>
          </a:ln>
        </p:spPr>
        <p:txBody>
          <a:bodyPr spcFirstLastPara="1" wrap="square" lIns="97750" tIns="48850" rIns="97750" bIns="48850" anchor="t" anchorCtr="0">
            <a:noAutofit/>
          </a:bodyPr>
          <a:lstStyle/>
          <a:p>
            <a:pPr marL="0" marR="0" lvl="0" indent="0" algn="l" rtl="0">
              <a:spcBef>
                <a:spcPts val="0"/>
              </a:spcBef>
              <a:spcAft>
                <a:spcPts val="0"/>
              </a:spcAft>
              <a:buNone/>
            </a:pPr>
            <a:endParaRPr sz="1924">
              <a:solidFill>
                <a:schemeClr val="dk1"/>
              </a:solidFill>
              <a:latin typeface="Calibri"/>
              <a:ea typeface="Calibri"/>
              <a:cs typeface="Calibri"/>
              <a:sym typeface="Calibri"/>
            </a:endParaRPr>
          </a:p>
        </p:txBody>
      </p:sp>
      <p:sp>
        <p:nvSpPr>
          <p:cNvPr id="1110" name="Google Shape;1110;p19"/>
          <p:cNvSpPr/>
          <p:nvPr/>
        </p:nvSpPr>
        <p:spPr>
          <a:xfrm>
            <a:off x="4632667" y="2603679"/>
            <a:ext cx="1466400" cy="195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5"/>
              <a:buFont typeface="Calibri"/>
              <a:buNone/>
            </a:pPr>
            <a:r>
              <a:rPr lang="en-US" sz="855" b="1">
                <a:solidFill>
                  <a:srgbClr val="0D9488"/>
                </a:solidFill>
                <a:latin typeface="Calibri"/>
                <a:ea typeface="Calibri"/>
                <a:cs typeface="Calibri"/>
                <a:sym typeface="Calibri"/>
              </a:rPr>
              <a:t>Target</a:t>
            </a:r>
            <a:endParaRPr sz="855">
              <a:solidFill>
                <a:schemeClr val="dk1"/>
              </a:solidFill>
              <a:latin typeface="Calibri"/>
              <a:ea typeface="Calibri"/>
              <a:cs typeface="Calibri"/>
              <a:sym typeface="Calibri"/>
            </a:endParaRPr>
          </a:p>
        </p:txBody>
      </p:sp>
      <p:sp>
        <p:nvSpPr>
          <p:cNvPr id="1111" name="Google Shape;1111;p19"/>
          <p:cNvSpPr/>
          <p:nvPr/>
        </p:nvSpPr>
        <p:spPr>
          <a:xfrm>
            <a:off x="4574013" y="2867630"/>
            <a:ext cx="4281900" cy="293100"/>
          </a:xfrm>
          <a:prstGeom prst="rect">
            <a:avLst/>
          </a:prstGeom>
          <a:solidFill>
            <a:srgbClr val="FFFFFF"/>
          </a:solidFill>
          <a:ln w="10200" cap="flat" cmpd="sng">
            <a:solidFill>
              <a:srgbClr val="E2E8F0"/>
            </a:solidFill>
            <a:prstDash val="solid"/>
            <a:round/>
            <a:headEnd type="none" w="sm" len="sm"/>
            <a:tailEnd type="none" w="sm" len="sm"/>
          </a:ln>
        </p:spPr>
        <p:txBody>
          <a:bodyPr spcFirstLastPara="1" wrap="square" lIns="97750" tIns="48850" rIns="97750" bIns="48850" anchor="t" anchorCtr="0">
            <a:noAutofit/>
          </a:bodyPr>
          <a:lstStyle/>
          <a:p>
            <a:pPr marL="0" marR="0" lvl="0" indent="0" algn="l" rtl="0">
              <a:spcBef>
                <a:spcPts val="0"/>
              </a:spcBef>
              <a:spcAft>
                <a:spcPts val="0"/>
              </a:spcAft>
              <a:buNone/>
            </a:pPr>
            <a:endParaRPr sz="1924">
              <a:solidFill>
                <a:schemeClr val="dk1"/>
              </a:solidFill>
              <a:latin typeface="Calibri"/>
              <a:ea typeface="Calibri"/>
              <a:cs typeface="Calibri"/>
              <a:sym typeface="Calibri"/>
            </a:endParaRPr>
          </a:p>
        </p:txBody>
      </p:sp>
      <p:sp>
        <p:nvSpPr>
          <p:cNvPr id="1112" name="Google Shape;1112;p19"/>
          <p:cNvSpPr/>
          <p:nvPr/>
        </p:nvSpPr>
        <p:spPr>
          <a:xfrm>
            <a:off x="4632667" y="2916509"/>
            <a:ext cx="1466400" cy="21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62"/>
              <a:buFont typeface="Calibri"/>
              <a:buNone/>
            </a:pPr>
            <a:r>
              <a:rPr lang="en-US" sz="962">
                <a:solidFill>
                  <a:srgbClr val="0D1B2A"/>
                </a:solidFill>
                <a:latin typeface="Calibri"/>
                <a:ea typeface="Calibri"/>
                <a:cs typeface="Calibri"/>
                <a:sym typeface="Calibri"/>
              </a:rPr>
              <a:t>Revenue</a:t>
            </a:r>
            <a:endParaRPr sz="962">
              <a:solidFill>
                <a:schemeClr val="dk1"/>
              </a:solidFill>
              <a:latin typeface="Calibri"/>
              <a:ea typeface="Calibri"/>
              <a:cs typeface="Calibri"/>
              <a:sym typeface="Calibri"/>
            </a:endParaRPr>
          </a:p>
        </p:txBody>
      </p:sp>
      <p:sp>
        <p:nvSpPr>
          <p:cNvPr id="1113" name="Google Shape;1113;p19"/>
          <p:cNvSpPr/>
          <p:nvPr/>
        </p:nvSpPr>
        <p:spPr>
          <a:xfrm>
            <a:off x="6152942" y="2873147"/>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62"/>
              <a:buFont typeface="Calibri"/>
              <a:buNone/>
            </a:pPr>
            <a:r>
              <a:rPr lang="en-US" sz="962" b="1">
                <a:solidFill>
                  <a:srgbClr val="22C55E"/>
                </a:solidFill>
                <a:latin typeface="Calibri"/>
                <a:ea typeface="Calibri"/>
                <a:cs typeface="Calibri"/>
                <a:sym typeface="Calibri"/>
              </a:rPr>
              <a:t>4,348.53</a:t>
            </a:r>
            <a:endParaRPr sz="962">
              <a:solidFill>
                <a:schemeClr val="dk1"/>
              </a:solidFill>
              <a:latin typeface="Calibri"/>
              <a:ea typeface="Calibri"/>
              <a:cs typeface="Calibri"/>
              <a:sym typeface="Calibri"/>
            </a:endParaRPr>
          </a:p>
        </p:txBody>
      </p:sp>
      <p:sp>
        <p:nvSpPr>
          <p:cNvPr id="1114" name="Google Shape;1114;p19"/>
          <p:cNvSpPr/>
          <p:nvPr/>
        </p:nvSpPr>
        <p:spPr>
          <a:xfrm>
            <a:off x="7081636" y="2873147"/>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62"/>
              <a:buFont typeface="Calibri"/>
              <a:buNone/>
            </a:pPr>
            <a:r>
              <a:rPr lang="en-US" sz="962" b="1">
                <a:solidFill>
                  <a:srgbClr val="22C55E"/>
                </a:solidFill>
                <a:latin typeface="Calibri"/>
                <a:ea typeface="Calibri"/>
                <a:cs typeface="Calibri"/>
                <a:sym typeface="Calibri"/>
              </a:rPr>
              <a:t>5,986.90</a:t>
            </a:r>
            <a:endParaRPr sz="962">
              <a:solidFill>
                <a:schemeClr val="dk1"/>
              </a:solidFill>
              <a:latin typeface="Calibri"/>
              <a:ea typeface="Calibri"/>
              <a:cs typeface="Calibri"/>
              <a:sym typeface="Calibri"/>
            </a:endParaRPr>
          </a:p>
        </p:txBody>
      </p:sp>
      <p:sp>
        <p:nvSpPr>
          <p:cNvPr id="1115" name="Google Shape;1115;p19"/>
          <p:cNvSpPr/>
          <p:nvPr/>
        </p:nvSpPr>
        <p:spPr>
          <a:xfrm>
            <a:off x="8010329" y="2873147"/>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962"/>
              <a:buFont typeface="Calibri"/>
              <a:buNone/>
            </a:pPr>
            <a:r>
              <a:rPr lang="en-US" sz="962" b="1">
                <a:solidFill>
                  <a:srgbClr val="22C55E"/>
                </a:solidFill>
                <a:latin typeface="Calibri"/>
                <a:ea typeface="Calibri"/>
                <a:cs typeface="Calibri"/>
                <a:sym typeface="Calibri"/>
              </a:rPr>
              <a:t>20.48%</a:t>
            </a:r>
            <a:endParaRPr sz="962">
              <a:solidFill>
                <a:schemeClr val="dk1"/>
              </a:solidFill>
              <a:latin typeface="Calibri"/>
              <a:ea typeface="Calibri"/>
              <a:cs typeface="Calibri"/>
              <a:sym typeface="Calibri"/>
            </a:endParaRPr>
          </a:p>
        </p:txBody>
      </p:sp>
      <p:sp>
        <p:nvSpPr>
          <p:cNvPr id="1116" name="Google Shape;1116;p19"/>
          <p:cNvSpPr/>
          <p:nvPr/>
        </p:nvSpPr>
        <p:spPr>
          <a:xfrm>
            <a:off x="4574013" y="3200012"/>
            <a:ext cx="4281900" cy="293100"/>
          </a:xfrm>
          <a:prstGeom prst="rect">
            <a:avLst/>
          </a:prstGeom>
          <a:solidFill>
            <a:srgbClr val="F8FAFC"/>
          </a:solidFill>
          <a:ln w="10200" cap="flat" cmpd="sng">
            <a:solidFill>
              <a:srgbClr val="E2E8F0"/>
            </a:solidFill>
            <a:prstDash val="solid"/>
            <a:round/>
            <a:headEnd type="none" w="sm" len="sm"/>
            <a:tailEnd type="none" w="sm" len="sm"/>
          </a:ln>
        </p:spPr>
        <p:txBody>
          <a:bodyPr spcFirstLastPara="1" wrap="square" lIns="97750" tIns="48850" rIns="97750" bIns="48850" anchor="t" anchorCtr="0">
            <a:noAutofit/>
          </a:bodyPr>
          <a:lstStyle/>
          <a:p>
            <a:pPr marL="0" marR="0" lvl="0" indent="0" algn="l" rtl="0">
              <a:spcBef>
                <a:spcPts val="0"/>
              </a:spcBef>
              <a:spcAft>
                <a:spcPts val="0"/>
              </a:spcAft>
              <a:buNone/>
            </a:pPr>
            <a:endParaRPr sz="1924">
              <a:solidFill>
                <a:schemeClr val="dk1"/>
              </a:solidFill>
              <a:latin typeface="Calibri"/>
              <a:ea typeface="Calibri"/>
              <a:cs typeface="Calibri"/>
              <a:sym typeface="Calibri"/>
            </a:endParaRPr>
          </a:p>
        </p:txBody>
      </p:sp>
      <p:sp>
        <p:nvSpPr>
          <p:cNvPr id="1117" name="Google Shape;1117;p19"/>
          <p:cNvSpPr/>
          <p:nvPr/>
        </p:nvSpPr>
        <p:spPr>
          <a:xfrm>
            <a:off x="4632667" y="3248892"/>
            <a:ext cx="1466400" cy="21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62"/>
              <a:buFont typeface="Calibri"/>
              <a:buNone/>
            </a:pPr>
            <a:r>
              <a:rPr lang="en-US" sz="962">
                <a:solidFill>
                  <a:srgbClr val="0D1B2A"/>
                </a:solidFill>
                <a:latin typeface="Calibri"/>
                <a:ea typeface="Calibri"/>
                <a:cs typeface="Calibri"/>
                <a:sym typeface="Calibri"/>
              </a:rPr>
              <a:t>Orders</a:t>
            </a:r>
            <a:endParaRPr sz="962">
              <a:solidFill>
                <a:schemeClr val="dk1"/>
              </a:solidFill>
              <a:latin typeface="Calibri"/>
              <a:ea typeface="Calibri"/>
              <a:cs typeface="Calibri"/>
              <a:sym typeface="Calibri"/>
            </a:endParaRPr>
          </a:p>
        </p:txBody>
      </p:sp>
      <p:sp>
        <p:nvSpPr>
          <p:cNvPr id="1118" name="Google Shape;1118;p19"/>
          <p:cNvSpPr/>
          <p:nvPr/>
        </p:nvSpPr>
        <p:spPr>
          <a:xfrm>
            <a:off x="6152942" y="3205530"/>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62"/>
              <a:buFont typeface="Calibri"/>
              <a:buNone/>
            </a:pPr>
            <a:r>
              <a:rPr lang="en-US" sz="962" b="1">
                <a:solidFill>
                  <a:srgbClr val="0D1B2A"/>
                </a:solidFill>
                <a:latin typeface="Calibri"/>
                <a:ea typeface="Calibri"/>
                <a:cs typeface="Calibri"/>
                <a:sym typeface="Calibri"/>
              </a:rPr>
              <a:t>16.73</a:t>
            </a:r>
            <a:endParaRPr sz="962">
              <a:solidFill>
                <a:schemeClr val="dk1"/>
              </a:solidFill>
              <a:latin typeface="Calibri"/>
              <a:ea typeface="Calibri"/>
              <a:cs typeface="Calibri"/>
              <a:sym typeface="Calibri"/>
            </a:endParaRPr>
          </a:p>
        </p:txBody>
      </p:sp>
      <p:sp>
        <p:nvSpPr>
          <p:cNvPr id="1119" name="Google Shape;1119;p19"/>
          <p:cNvSpPr/>
          <p:nvPr/>
        </p:nvSpPr>
        <p:spPr>
          <a:xfrm>
            <a:off x="7081636" y="3205530"/>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62"/>
              <a:buFont typeface="Calibri"/>
              <a:buNone/>
            </a:pPr>
            <a:r>
              <a:rPr lang="en-US" sz="962" b="1">
                <a:solidFill>
                  <a:srgbClr val="0D1B2A"/>
                </a:solidFill>
                <a:latin typeface="Calibri"/>
                <a:ea typeface="Calibri"/>
                <a:cs typeface="Calibri"/>
                <a:sym typeface="Calibri"/>
              </a:rPr>
              <a:t>20.53</a:t>
            </a:r>
            <a:endParaRPr sz="962">
              <a:solidFill>
                <a:schemeClr val="dk1"/>
              </a:solidFill>
              <a:latin typeface="Calibri"/>
              <a:ea typeface="Calibri"/>
              <a:cs typeface="Calibri"/>
              <a:sym typeface="Calibri"/>
            </a:endParaRPr>
          </a:p>
        </p:txBody>
      </p:sp>
      <p:sp>
        <p:nvSpPr>
          <p:cNvPr id="1120" name="Google Shape;1120;p19"/>
          <p:cNvSpPr/>
          <p:nvPr/>
        </p:nvSpPr>
        <p:spPr>
          <a:xfrm>
            <a:off x="8010329" y="3205530"/>
            <a:ext cx="860100" cy="21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962"/>
              <a:buFont typeface="Calibri"/>
              <a:buNone/>
            </a:pPr>
            <a:r>
              <a:rPr lang="en-US" sz="962" b="1">
                <a:solidFill>
                  <a:srgbClr val="0D1B2A"/>
                </a:solidFill>
                <a:latin typeface="Calibri"/>
                <a:ea typeface="Calibri"/>
                <a:cs typeface="Calibri"/>
                <a:sym typeface="Calibri"/>
              </a:rPr>
              <a:t>20.30%</a:t>
            </a:r>
            <a:endParaRPr sz="962">
              <a:solidFill>
                <a:schemeClr val="dk1"/>
              </a:solidFill>
              <a:latin typeface="Calibri"/>
              <a:ea typeface="Calibri"/>
              <a:cs typeface="Calibri"/>
              <a:sym typeface="Calibri"/>
            </a:endParaRPr>
          </a:p>
        </p:txBody>
      </p:sp>
      <p:pic>
        <p:nvPicPr>
          <p:cNvPr id="1121" name="Google Shape;1121;p19" descr="model_metric_comparison.png"/>
          <p:cNvPicPr preferRelativeResize="0"/>
          <p:nvPr/>
        </p:nvPicPr>
        <p:blipFill rotWithShape="1">
          <a:blip r:embed="rId4">
            <a:alphaModFix/>
          </a:blip>
          <a:srcRect/>
          <a:stretch/>
        </p:blipFill>
        <p:spPr>
          <a:xfrm>
            <a:off x="98301" y="3511083"/>
            <a:ext cx="4251963" cy="1466306"/>
          </a:xfrm>
          <a:prstGeom prst="rect">
            <a:avLst/>
          </a:prstGeom>
          <a:noFill/>
          <a:ln>
            <a:noFill/>
          </a:ln>
        </p:spPr>
      </p:pic>
      <p:sp>
        <p:nvSpPr>
          <p:cNvPr id="1122" name="Google Shape;1122;p19"/>
          <p:cNvSpPr/>
          <p:nvPr/>
        </p:nvSpPr>
        <p:spPr>
          <a:xfrm>
            <a:off x="438895" y="4948765"/>
            <a:ext cx="8595300" cy="1647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3" name="Google Shape;1123;p19"/>
          <p:cNvSpPr/>
          <p:nvPr/>
        </p:nvSpPr>
        <p:spPr>
          <a:xfrm>
            <a:off x="370320" y="4948765"/>
            <a:ext cx="8595300" cy="164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850"/>
              <a:buFont typeface="Calibri"/>
              <a:buNone/>
            </a:pPr>
            <a:r>
              <a:rPr lang="en-US" sz="850" b="1">
                <a:solidFill>
                  <a:srgbClr val="0D1B2A"/>
                </a:solidFill>
                <a:latin typeface="Calibri"/>
                <a:ea typeface="Calibri"/>
                <a:cs typeface="Calibri"/>
                <a:sym typeface="Calibri"/>
              </a:rPr>
              <a:t>SELECTION RULE: Lowest RMSE per target (MAE as tiebreaker)  |  GB → daily_revenue  |  Seasonal Naive → daily_order_volume</a:t>
            </a:r>
            <a:endParaRPr sz="850">
              <a:solidFill>
                <a:schemeClr val="dk1"/>
              </a:solidFill>
              <a:latin typeface="Calibri"/>
              <a:ea typeface="Calibri"/>
              <a:cs typeface="Calibri"/>
              <a:sym typeface="Calibri"/>
            </a:endParaRPr>
          </a:p>
        </p:txBody>
      </p:sp>
      <p:sp>
        <p:nvSpPr>
          <p:cNvPr id="1124" name="Google Shape;1124;p19"/>
          <p:cNvSpPr/>
          <p:nvPr/>
        </p:nvSpPr>
        <p:spPr>
          <a:xfrm>
            <a:off x="6166144" y="2565718"/>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MAE</a:t>
            </a:r>
            <a:br>
              <a:rPr lang="en-US" sz="844" b="1">
                <a:solidFill>
                  <a:srgbClr val="0D9488"/>
                </a:solidFill>
                <a:latin typeface="Calibri"/>
                <a:ea typeface="Calibri"/>
                <a:cs typeface="Calibri"/>
                <a:sym typeface="Calibri"/>
              </a:rPr>
            </a:br>
            <a:r>
              <a:rPr lang="en-US" sz="844" b="1" i="1">
                <a:solidFill>
                  <a:srgbClr val="0D9488"/>
                </a:solidFill>
                <a:latin typeface="Calibri"/>
                <a:ea typeface="Calibri"/>
                <a:cs typeface="Calibri"/>
                <a:sym typeface="Calibri"/>
              </a:rPr>
              <a:t>(</a:t>
            </a:r>
            <a:r>
              <a:rPr lang="en-US" sz="644" b="1" i="1">
                <a:solidFill>
                  <a:srgbClr val="0D9488"/>
                </a:solidFill>
                <a:latin typeface="Calibri"/>
                <a:ea typeface="Calibri"/>
                <a:cs typeface="Calibri"/>
                <a:sym typeface="Calibri"/>
              </a:rPr>
              <a:t>Mean Absolute Error</a:t>
            </a:r>
            <a:r>
              <a:rPr lang="en-US" sz="844" b="1" i="1">
                <a:solidFill>
                  <a:srgbClr val="0D9488"/>
                </a:solidFill>
                <a:latin typeface="Calibri"/>
                <a:ea typeface="Calibri"/>
                <a:cs typeface="Calibri"/>
                <a:sym typeface="Calibri"/>
              </a:rPr>
              <a:t>)</a:t>
            </a:r>
            <a:endParaRPr sz="844" i="1">
              <a:solidFill>
                <a:schemeClr val="dk1"/>
              </a:solidFill>
              <a:latin typeface="Calibri"/>
              <a:ea typeface="Calibri"/>
              <a:cs typeface="Calibri"/>
              <a:sym typeface="Calibri"/>
            </a:endParaRPr>
          </a:p>
        </p:txBody>
      </p:sp>
      <p:sp>
        <p:nvSpPr>
          <p:cNvPr id="1125" name="Google Shape;1125;p19"/>
          <p:cNvSpPr/>
          <p:nvPr/>
        </p:nvSpPr>
        <p:spPr>
          <a:xfrm>
            <a:off x="7014545" y="2568556"/>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RMSE</a:t>
            </a:r>
            <a:br>
              <a:rPr lang="en-US" sz="844" b="1">
                <a:solidFill>
                  <a:srgbClr val="0D9488"/>
                </a:solidFill>
                <a:latin typeface="Calibri"/>
                <a:ea typeface="Calibri"/>
                <a:cs typeface="Calibri"/>
                <a:sym typeface="Calibri"/>
              </a:rPr>
            </a:br>
            <a:r>
              <a:rPr lang="en-US" sz="544" b="1" i="1">
                <a:solidFill>
                  <a:srgbClr val="0D9488"/>
                </a:solidFill>
                <a:latin typeface="Calibri"/>
                <a:ea typeface="Calibri"/>
                <a:cs typeface="Calibri"/>
                <a:sym typeface="Calibri"/>
              </a:rPr>
              <a:t>(Root Mean Squared Error)</a:t>
            </a:r>
            <a:endParaRPr sz="544" i="1">
              <a:solidFill>
                <a:schemeClr val="dk1"/>
              </a:solidFill>
              <a:latin typeface="Calibri"/>
              <a:ea typeface="Calibri"/>
              <a:cs typeface="Calibri"/>
              <a:sym typeface="Calibri"/>
            </a:endParaRPr>
          </a:p>
        </p:txBody>
      </p:sp>
      <p:sp>
        <p:nvSpPr>
          <p:cNvPr id="1126" name="Google Shape;1126;p19"/>
          <p:cNvSpPr/>
          <p:nvPr/>
        </p:nvSpPr>
        <p:spPr>
          <a:xfrm>
            <a:off x="8010346" y="2568481"/>
            <a:ext cx="848400" cy="19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844"/>
              <a:buFont typeface="Calibri"/>
              <a:buNone/>
            </a:pPr>
            <a:r>
              <a:rPr lang="en-US" sz="844" b="1">
                <a:solidFill>
                  <a:srgbClr val="0D9488"/>
                </a:solidFill>
                <a:latin typeface="Calibri"/>
                <a:ea typeface="Calibri"/>
                <a:cs typeface="Calibri"/>
                <a:sym typeface="Calibri"/>
              </a:rPr>
              <a:t>WAPE</a:t>
            </a:r>
            <a:br>
              <a:rPr lang="en-US" sz="444" b="1">
                <a:solidFill>
                  <a:srgbClr val="0D9488"/>
                </a:solidFill>
                <a:latin typeface="Calibri"/>
                <a:ea typeface="Calibri"/>
                <a:cs typeface="Calibri"/>
                <a:sym typeface="Calibri"/>
              </a:rPr>
            </a:br>
            <a:r>
              <a:rPr lang="en-US" sz="444" b="1" i="1">
                <a:solidFill>
                  <a:srgbClr val="0D9488"/>
                </a:solidFill>
                <a:latin typeface="Calibri"/>
                <a:ea typeface="Calibri"/>
                <a:cs typeface="Calibri"/>
                <a:sym typeface="Calibri"/>
              </a:rPr>
              <a:t>(</a:t>
            </a:r>
            <a:r>
              <a:rPr lang="en-US" sz="544" b="1" i="1">
                <a:solidFill>
                  <a:srgbClr val="0D9488"/>
                </a:solidFill>
                <a:latin typeface="Calibri"/>
                <a:ea typeface="Calibri"/>
                <a:cs typeface="Calibri"/>
                <a:sym typeface="Calibri"/>
              </a:rPr>
              <a:t>Weighted Average Percentage Error)</a:t>
            </a:r>
            <a:endParaRPr sz="544" i="1">
              <a:solidFill>
                <a:schemeClr val="dk1"/>
              </a:solidFill>
              <a:latin typeface="Calibri"/>
              <a:ea typeface="Calibri"/>
              <a:cs typeface="Calibri"/>
              <a:sym typeface="Calibri"/>
            </a:endParaRPr>
          </a:p>
        </p:txBody>
      </p:sp>
      <p:sp>
        <p:nvSpPr>
          <p:cNvPr id="1127" name="Google Shape;1127;p19"/>
          <p:cNvSpPr txBox="1"/>
          <p:nvPr/>
        </p:nvSpPr>
        <p:spPr>
          <a:xfrm>
            <a:off x="279400" y="679450"/>
            <a:ext cx="8595300" cy="6195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000" b="1">
                <a:solidFill>
                  <a:schemeClr val="dk1"/>
                </a:solidFill>
              </a:rPr>
              <a:t>Forecasting Overview</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000">
                <a:solidFill>
                  <a:schemeClr val="dk1"/>
                </a:solidFill>
              </a:rPr>
              <a:t>We evaluated </a:t>
            </a:r>
            <a:r>
              <a:rPr lang="en-US" sz="1000" b="1">
                <a:solidFill>
                  <a:schemeClr val="dk1"/>
                </a:solidFill>
              </a:rPr>
              <a:t>two distinct prediction models</a:t>
            </a:r>
            <a:r>
              <a:rPr lang="en-US" sz="1000">
                <a:solidFill>
                  <a:schemeClr val="dk1"/>
                </a:solidFill>
              </a:rPr>
              <a:t> over a strict 30-day holdout testing window, focusing on our two critical operational targets: </a:t>
            </a:r>
            <a:r>
              <a:rPr lang="en-US" sz="1000" b="1">
                <a:solidFill>
                  <a:schemeClr val="dk1"/>
                </a:solidFill>
              </a:rPr>
              <a:t>Daily Revenue</a:t>
            </a:r>
            <a:r>
              <a:rPr lang="en-US" sz="1000">
                <a:solidFill>
                  <a:schemeClr val="dk1"/>
                </a:solidFill>
              </a:rPr>
              <a:t> and </a:t>
            </a:r>
            <a:r>
              <a:rPr lang="en-US" sz="1000" b="1">
                <a:solidFill>
                  <a:schemeClr val="dk1"/>
                </a:solidFill>
              </a:rPr>
              <a:t>Daily Order Volume</a:t>
            </a:r>
            <a:r>
              <a:rPr lang="en-US" sz="1000">
                <a:solidFill>
                  <a:schemeClr val="dk1"/>
                </a:solidFill>
              </a:rPr>
              <a:t>.</a:t>
            </a:r>
            <a:endParaRPr sz="1000">
              <a:solidFill>
                <a:schemeClr val="dk1"/>
              </a:solidFill>
            </a:endParaRPr>
          </a:p>
          <a:p>
            <a:pPr marL="0" lvl="0" indent="0" algn="l" rtl="0">
              <a:spcBef>
                <a:spcPts val="0"/>
              </a:spcBef>
              <a:spcAft>
                <a:spcPts val="0"/>
              </a:spcAft>
              <a:buNone/>
            </a:pPr>
            <a:endParaRPr sz="900" b="1">
              <a:solidFill>
                <a:srgbClr val="569CD6"/>
              </a:solidFill>
              <a:highlight>
                <a:srgbClr val="1F1F1F"/>
              </a:highlight>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132"/>
        <p:cNvGrpSpPr/>
        <p:nvPr/>
      </p:nvGrpSpPr>
      <p:grpSpPr>
        <a:xfrm>
          <a:off x="0" y="0"/>
          <a:ext cx="0" cy="0"/>
          <a:chOff x="0" y="0"/>
          <a:chExt cx="0" cy="0"/>
        </a:xfrm>
      </p:grpSpPr>
      <p:sp>
        <p:nvSpPr>
          <p:cNvPr id="1133" name="Google Shape;1133;p20"/>
          <p:cNvSpPr/>
          <p:nvPr/>
        </p:nvSpPr>
        <p:spPr>
          <a:xfrm>
            <a:off x="0" y="0"/>
            <a:ext cx="9144000" cy="201168"/>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4" name="Google Shape;1134;p20"/>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TASK 4 — FORECASTING  |  30-DAY FORWARD FORECAST &amp; BUSINESS IMPACT</a:t>
            </a:r>
            <a:endParaRPr sz="900">
              <a:solidFill>
                <a:schemeClr val="dk1"/>
              </a:solidFill>
              <a:latin typeface="Calibri"/>
              <a:ea typeface="Calibri"/>
              <a:cs typeface="Calibri"/>
              <a:sym typeface="Calibri"/>
            </a:endParaRPr>
          </a:p>
        </p:txBody>
      </p:sp>
      <p:sp>
        <p:nvSpPr>
          <p:cNvPr id="1135" name="Google Shape;1135;p20"/>
          <p:cNvSpPr/>
          <p:nvPr/>
        </p:nvSpPr>
        <p:spPr>
          <a:xfrm>
            <a:off x="365760" y="3200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30-Day Forward Forecast &amp; Business Impact</a:t>
            </a:r>
            <a:endParaRPr sz="2200">
              <a:solidFill>
                <a:schemeClr val="dk1"/>
              </a:solidFill>
              <a:latin typeface="Calibri"/>
              <a:ea typeface="Calibri"/>
              <a:cs typeface="Calibri"/>
              <a:sym typeface="Calibri"/>
            </a:endParaRPr>
          </a:p>
        </p:txBody>
      </p:sp>
      <p:sp>
        <p:nvSpPr>
          <p:cNvPr id="1136" name="Google Shape;1136;p20"/>
          <p:cNvSpPr/>
          <p:nvPr/>
        </p:nvSpPr>
        <p:spPr>
          <a:xfrm>
            <a:off x="365760" y="777240"/>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Gradient Boosting → daily_revenue  |  Seasonal Naive → daily_order_volume  |  Horizon: Dec 10 – Jan 09, 2012</a:t>
            </a:r>
            <a:endParaRPr sz="1100">
              <a:solidFill>
                <a:schemeClr val="dk1"/>
              </a:solidFill>
              <a:latin typeface="Calibri"/>
              <a:ea typeface="Calibri"/>
              <a:cs typeface="Calibri"/>
              <a:sym typeface="Calibri"/>
            </a:endParaRPr>
          </a:p>
        </p:txBody>
      </p:sp>
      <p:sp>
        <p:nvSpPr>
          <p:cNvPr id="1137" name="Google Shape;1137;p20"/>
          <p:cNvSpPr/>
          <p:nvPr/>
        </p:nvSpPr>
        <p:spPr>
          <a:xfrm>
            <a:off x="274320" y="1170432"/>
            <a:ext cx="1580606"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8" name="Google Shape;1138;p20"/>
          <p:cNvSpPr/>
          <p:nvPr/>
        </p:nvSpPr>
        <p:spPr>
          <a:xfrm>
            <a:off x="274320" y="1170432"/>
            <a:ext cx="73152" cy="96012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9" name="Google Shape;1139;p20"/>
          <p:cNvSpPr/>
          <p:nvPr/>
        </p:nvSpPr>
        <p:spPr>
          <a:xfrm>
            <a:off x="438912" y="1280160"/>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2200"/>
              <a:buFont typeface="Calibri"/>
              <a:buNone/>
            </a:pPr>
            <a:r>
              <a:rPr lang="en-US" sz="2200" b="1">
                <a:solidFill>
                  <a:srgbClr val="F59E0B"/>
                </a:solidFill>
                <a:latin typeface="Calibri"/>
                <a:ea typeface="Calibri"/>
                <a:cs typeface="Calibri"/>
                <a:sym typeface="Calibri"/>
              </a:rPr>
              <a:t>£540,563</a:t>
            </a:r>
            <a:endParaRPr sz="2200">
              <a:solidFill>
                <a:schemeClr val="dk1"/>
              </a:solidFill>
              <a:latin typeface="Calibri"/>
              <a:ea typeface="Calibri"/>
              <a:cs typeface="Calibri"/>
              <a:sym typeface="Calibri"/>
            </a:endParaRPr>
          </a:p>
        </p:txBody>
      </p:sp>
      <p:sp>
        <p:nvSpPr>
          <p:cNvPr id="1140" name="Google Shape;1140;p20"/>
          <p:cNvSpPr/>
          <p:nvPr/>
        </p:nvSpPr>
        <p:spPr>
          <a:xfrm>
            <a:off x="438912" y="1682496"/>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30-Day Revenue Forecast</a:t>
            </a:r>
            <a:endParaRPr sz="1000">
              <a:solidFill>
                <a:schemeClr val="dk1"/>
              </a:solidFill>
              <a:latin typeface="Calibri"/>
              <a:ea typeface="Calibri"/>
              <a:cs typeface="Calibri"/>
              <a:sym typeface="Calibri"/>
            </a:endParaRPr>
          </a:p>
        </p:txBody>
      </p:sp>
      <p:sp>
        <p:nvSpPr>
          <p:cNvPr id="1141" name="Google Shape;1141;p20"/>
          <p:cNvSpPr/>
          <p:nvPr/>
        </p:nvSpPr>
        <p:spPr>
          <a:xfrm>
            <a:off x="438912" y="1901952"/>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b="1">
                <a:solidFill>
                  <a:srgbClr val="94A3B8"/>
                </a:solidFill>
                <a:latin typeface="Calibri"/>
                <a:ea typeface="Calibri"/>
                <a:cs typeface="Calibri"/>
                <a:sym typeface="Calibri"/>
              </a:rPr>
              <a:t>Gradient Boosting</a:t>
            </a:r>
            <a:endParaRPr sz="850" b="1">
              <a:solidFill>
                <a:schemeClr val="dk1"/>
              </a:solidFill>
              <a:latin typeface="Calibri"/>
              <a:ea typeface="Calibri"/>
              <a:cs typeface="Calibri"/>
              <a:sym typeface="Calibri"/>
            </a:endParaRPr>
          </a:p>
        </p:txBody>
      </p:sp>
      <p:sp>
        <p:nvSpPr>
          <p:cNvPr id="1142" name="Google Shape;1142;p20"/>
          <p:cNvSpPr/>
          <p:nvPr/>
        </p:nvSpPr>
        <p:spPr>
          <a:xfrm>
            <a:off x="1975104" y="1163574"/>
            <a:ext cx="1580606"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3" name="Google Shape;1143;p20"/>
          <p:cNvSpPr/>
          <p:nvPr/>
        </p:nvSpPr>
        <p:spPr>
          <a:xfrm>
            <a:off x="1979023" y="1159002"/>
            <a:ext cx="73152" cy="96012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4" name="Google Shape;1144;p20"/>
          <p:cNvSpPr/>
          <p:nvPr/>
        </p:nvSpPr>
        <p:spPr>
          <a:xfrm>
            <a:off x="2167128" y="1260239"/>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2200"/>
              <a:buFont typeface="Calibri"/>
              <a:buNone/>
            </a:pPr>
            <a:r>
              <a:rPr lang="en-US" sz="2200" b="1">
                <a:solidFill>
                  <a:srgbClr val="0D9488"/>
                </a:solidFill>
                <a:latin typeface="Calibri"/>
                <a:ea typeface="Calibri"/>
                <a:cs typeface="Calibri"/>
                <a:sym typeface="Calibri"/>
              </a:rPr>
              <a:t>£18,019</a:t>
            </a:r>
            <a:endParaRPr sz="2200">
              <a:solidFill>
                <a:schemeClr val="dk1"/>
              </a:solidFill>
              <a:latin typeface="Calibri"/>
              <a:ea typeface="Calibri"/>
              <a:cs typeface="Calibri"/>
              <a:sym typeface="Calibri"/>
            </a:endParaRPr>
          </a:p>
        </p:txBody>
      </p:sp>
      <p:sp>
        <p:nvSpPr>
          <p:cNvPr id="1145" name="Google Shape;1145;p20"/>
          <p:cNvSpPr/>
          <p:nvPr/>
        </p:nvSpPr>
        <p:spPr>
          <a:xfrm>
            <a:off x="2167128" y="1661922"/>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Average Daily Revenue</a:t>
            </a:r>
            <a:endParaRPr sz="1000">
              <a:solidFill>
                <a:schemeClr val="dk1"/>
              </a:solidFill>
              <a:latin typeface="Calibri"/>
              <a:ea typeface="Calibri"/>
              <a:cs typeface="Calibri"/>
              <a:sym typeface="Calibri"/>
            </a:endParaRPr>
          </a:p>
        </p:txBody>
      </p:sp>
      <p:sp>
        <p:nvSpPr>
          <p:cNvPr id="1146" name="Google Shape;1146;p20"/>
          <p:cNvSpPr/>
          <p:nvPr/>
        </p:nvSpPr>
        <p:spPr>
          <a:xfrm>
            <a:off x="2174313" y="1876806"/>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Per forecast day</a:t>
            </a:r>
            <a:endParaRPr sz="850">
              <a:solidFill>
                <a:schemeClr val="dk1"/>
              </a:solidFill>
              <a:latin typeface="Calibri"/>
              <a:ea typeface="Calibri"/>
              <a:cs typeface="Calibri"/>
              <a:sym typeface="Calibri"/>
            </a:endParaRPr>
          </a:p>
        </p:txBody>
      </p:sp>
      <p:sp>
        <p:nvSpPr>
          <p:cNvPr id="1147" name="Google Shape;1147;p20"/>
          <p:cNvSpPr/>
          <p:nvPr/>
        </p:nvSpPr>
        <p:spPr>
          <a:xfrm>
            <a:off x="3670663" y="1163574"/>
            <a:ext cx="1580606"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8" name="Google Shape;1148;p20"/>
          <p:cNvSpPr/>
          <p:nvPr/>
        </p:nvSpPr>
        <p:spPr>
          <a:xfrm>
            <a:off x="3680460" y="1170432"/>
            <a:ext cx="73152" cy="960120"/>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9" name="Google Shape;1149;p20"/>
          <p:cNvSpPr/>
          <p:nvPr/>
        </p:nvSpPr>
        <p:spPr>
          <a:xfrm>
            <a:off x="3831009" y="1275915"/>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C55E"/>
              </a:buClr>
              <a:buSzPts val="2200"/>
              <a:buFont typeface="Calibri"/>
              <a:buNone/>
            </a:pPr>
            <a:r>
              <a:rPr lang="en-US" sz="2200" b="1">
                <a:solidFill>
                  <a:srgbClr val="22C55E"/>
                </a:solidFill>
                <a:latin typeface="Calibri"/>
                <a:ea typeface="Calibri"/>
                <a:cs typeface="Calibri"/>
                <a:sym typeface="Calibri"/>
              </a:rPr>
              <a:t>£28,758</a:t>
            </a:r>
            <a:endParaRPr sz="2200">
              <a:solidFill>
                <a:schemeClr val="dk1"/>
              </a:solidFill>
              <a:latin typeface="Calibri"/>
              <a:ea typeface="Calibri"/>
              <a:cs typeface="Calibri"/>
              <a:sym typeface="Calibri"/>
            </a:endParaRPr>
          </a:p>
        </p:txBody>
      </p:sp>
      <p:sp>
        <p:nvSpPr>
          <p:cNvPr id="1150" name="Google Shape;1150;p20"/>
          <p:cNvSpPr/>
          <p:nvPr/>
        </p:nvSpPr>
        <p:spPr>
          <a:xfrm>
            <a:off x="3867585" y="1677924"/>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Peak Day Revenue</a:t>
            </a:r>
            <a:endParaRPr sz="1000">
              <a:solidFill>
                <a:schemeClr val="dk1"/>
              </a:solidFill>
              <a:latin typeface="Calibri"/>
              <a:ea typeface="Calibri"/>
              <a:cs typeface="Calibri"/>
              <a:sym typeface="Calibri"/>
            </a:endParaRPr>
          </a:p>
        </p:txBody>
      </p:sp>
      <p:sp>
        <p:nvSpPr>
          <p:cNvPr id="1151" name="Google Shape;1151;p20"/>
          <p:cNvSpPr/>
          <p:nvPr/>
        </p:nvSpPr>
        <p:spPr>
          <a:xfrm>
            <a:off x="3867585" y="1875337"/>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Best forecast day</a:t>
            </a:r>
            <a:endParaRPr sz="850">
              <a:solidFill>
                <a:schemeClr val="dk1"/>
              </a:solidFill>
              <a:latin typeface="Calibri"/>
              <a:ea typeface="Calibri"/>
              <a:cs typeface="Calibri"/>
              <a:sym typeface="Calibri"/>
            </a:endParaRPr>
          </a:p>
        </p:txBody>
      </p:sp>
      <p:sp>
        <p:nvSpPr>
          <p:cNvPr id="1152" name="Google Shape;1152;p20"/>
          <p:cNvSpPr/>
          <p:nvPr/>
        </p:nvSpPr>
        <p:spPr>
          <a:xfrm>
            <a:off x="274320" y="2267712"/>
            <a:ext cx="1580606"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3" name="Google Shape;1153;p20"/>
          <p:cNvSpPr/>
          <p:nvPr/>
        </p:nvSpPr>
        <p:spPr>
          <a:xfrm>
            <a:off x="274320" y="2267712"/>
            <a:ext cx="73152" cy="960120"/>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4" name="Google Shape;1154;p20"/>
          <p:cNvSpPr/>
          <p:nvPr/>
        </p:nvSpPr>
        <p:spPr>
          <a:xfrm>
            <a:off x="438912" y="2377440"/>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B6D4"/>
              </a:buClr>
              <a:buSzPts val="2200"/>
              <a:buFont typeface="Calibri"/>
              <a:buNone/>
            </a:pPr>
            <a:r>
              <a:rPr lang="en-US" sz="2200" b="1">
                <a:solidFill>
                  <a:srgbClr val="06B6D4"/>
                </a:solidFill>
                <a:latin typeface="Calibri"/>
                <a:ea typeface="Calibri"/>
                <a:cs typeface="Calibri"/>
                <a:sym typeface="Calibri"/>
              </a:rPr>
              <a:t>2,090</a:t>
            </a:r>
            <a:endParaRPr sz="2200">
              <a:solidFill>
                <a:schemeClr val="dk1"/>
              </a:solidFill>
              <a:latin typeface="Calibri"/>
              <a:ea typeface="Calibri"/>
              <a:cs typeface="Calibri"/>
              <a:sym typeface="Calibri"/>
            </a:endParaRPr>
          </a:p>
        </p:txBody>
      </p:sp>
      <p:sp>
        <p:nvSpPr>
          <p:cNvPr id="1155" name="Google Shape;1155;p20"/>
          <p:cNvSpPr/>
          <p:nvPr/>
        </p:nvSpPr>
        <p:spPr>
          <a:xfrm>
            <a:off x="438912" y="2779776"/>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30-Day Order Volume</a:t>
            </a:r>
            <a:endParaRPr sz="1000">
              <a:solidFill>
                <a:schemeClr val="dk1"/>
              </a:solidFill>
              <a:latin typeface="Calibri"/>
              <a:ea typeface="Calibri"/>
              <a:cs typeface="Calibri"/>
              <a:sym typeface="Calibri"/>
            </a:endParaRPr>
          </a:p>
        </p:txBody>
      </p:sp>
      <p:sp>
        <p:nvSpPr>
          <p:cNvPr id="1156" name="Google Shape;1156;p20"/>
          <p:cNvSpPr/>
          <p:nvPr/>
        </p:nvSpPr>
        <p:spPr>
          <a:xfrm>
            <a:off x="438912" y="2999232"/>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b="1">
                <a:solidFill>
                  <a:srgbClr val="94A3B8"/>
                </a:solidFill>
                <a:latin typeface="Calibri"/>
                <a:ea typeface="Calibri"/>
                <a:cs typeface="Calibri"/>
                <a:sym typeface="Calibri"/>
              </a:rPr>
              <a:t>Seasonal Naive</a:t>
            </a:r>
            <a:endParaRPr sz="850" b="1">
              <a:solidFill>
                <a:schemeClr val="dk1"/>
              </a:solidFill>
              <a:latin typeface="Calibri"/>
              <a:ea typeface="Calibri"/>
              <a:cs typeface="Calibri"/>
              <a:sym typeface="Calibri"/>
            </a:endParaRPr>
          </a:p>
        </p:txBody>
      </p:sp>
      <p:sp>
        <p:nvSpPr>
          <p:cNvPr id="1157" name="Google Shape;1157;p20"/>
          <p:cNvSpPr/>
          <p:nvPr/>
        </p:nvSpPr>
        <p:spPr>
          <a:xfrm>
            <a:off x="1965960" y="2267712"/>
            <a:ext cx="1589750"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8" name="Google Shape;1158;p20"/>
          <p:cNvSpPr/>
          <p:nvPr/>
        </p:nvSpPr>
        <p:spPr>
          <a:xfrm>
            <a:off x="1973798" y="2267712"/>
            <a:ext cx="73152" cy="960120"/>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9" name="Google Shape;1159;p20"/>
          <p:cNvSpPr/>
          <p:nvPr/>
        </p:nvSpPr>
        <p:spPr>
          <a:xfrm>
            <a:off x="2121408" y="2338578"/>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CF6"/>
              </a:buClr>
              <a:buSzPts val="2200"/>
              <a:buFont typeface="Calibri"/>
              <a:buNone/>
            </a:pPr>
            <a:r>
              <a:rPr lang="en-US" sz="2200" b="1">
                <a:solidFill>
                  <a:srgbClr val="8B5CF6"/>
                </a:solidFill>
                <a:latin typeface="Calibri"/>
                <a:ea typeface="Calibri"/>
                <a:cs typeface="Calibri"/>
                <a:sym typeface="Calibri"/>
              </a:rPr>
              <a:t>69.67</a:t>
            </a:r>
            <a:endParaRPr sz="2200">
              <a:solidFill>
                <a:schemeClr val="dk1"/>
              </a:solidFill>
              <a:latin typeface="Calibri"/>
              <a:ea typeface="Calibri"/>
              <a:cs typeface="Calibri"/>
              <a:sym typeface="Calibri"/>
            </a:endParaRPr>
          </a:p>
        </p:txBody>
      </p:sp>
      <p:sp>
        <p:nvSpPr>
          <p:cNvPr id="1160" name="Google Shape;1160;p20"/>
          <p:cNvSpPr/>
          <p:nvPr/>
        </p:nvSpPr>
        <p:spPr>
          <a:xfrm>
            <a:off x="2121408" y="2774551"/>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Average Daily Orders</a:t>
            </a:r>
            <a:endParaRPr sz="1000">
              <a:solidFill>
                <a:schemeClr val="dk1"/>
              </a:solidFill>
              <a:latin typeface="Calibri"/>
              <a:ea typeface="Calibri"/>
              <a:cs typeface="Calibri"/>
              <a:sym typeface="Calibri"/>
            </a:endParaRPr>
          </a:p>
        </p:txBody>
      </p:sp>
      <p:sp>
        <p:nvSpPr>
          <p:cNvPr id="1161" name="Google Shape;1161;p20"/>
          <p:cNvSpPr/>
          <p:nvPr/>
        </p:nvSpPr>
        <p:spPr>
          <a:xfrm>
            <a:off x="2121408" y="2984863"/>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Per forecast day</a:t>
            </a:r>
            <a:endParaRPr sz="850">
              <a:solidFill>
                <a:schemeClr val="dk1"/>
              </a:solidFill>
              <a:latin typeface="Calibri"/>
              <a:ea typeface="Calibri"/>
              <a:cs typeface="Calibri"/>
              <a:sym typeface="Calibri"/>
            </a:endParaRPr>
          </a:p>
        </p:txBody>
      </p:sp>
      <p:sp>
        <p:nvSpPr>
          <p:cNvPr id="1162" name="Google Shape;1162;p20"/>
          <p:cNvSpPr/>
          <p:nvPr/>
        </p:nvSpPr>
        <p:spPr>
          <a:xfrm>
            <a:off x="3658253" y="2253996"/>
            <a:ext cx="1589750" cy="96012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3" name="Google Shape;1163;p20"/>
          <p:cNvSpPr/>
          <p:nvPr/>
        </p:nvSpPr>
        <p:spPr>
          <a:xfrm>
            <a:off x="3680460" y="2260854"/>
            <a:ext cx="73152" cy="960120"/>
          </a:xfrm>
          <a:prstGeom prst="rect">
            <a:avLst/>
          </a:prstGeom>
          <a:solidFill>
            <a:srgbClr val="3B82F6"/>
          </a:solidFill>
          <a:ln w="12700" cap="flat" cmpd="sng">
            <a:solidFill>
              <a:srgbClr val="3B82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4" name="Google Shape;1164;p20"/>
          <p:cNvSpPr/>
          <p:nvPr/>
        </p:nvSpPr>
        <p:spPr>
          <a:xfrm>
            <a:off x="3831009" y="2371235"/>
            <a:ext cx="254203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B82F6"/>
              </a:buClr>
              <a:buSzPts val="2200"/>
              <a:buFont typeface="Calibri"/>
              <a:buNone/>
            </a:pPr>
            <a:r>
              <a:rPr lang="en-US" sz="2200" b="1">
                <a:solidFill>
                  <a:srgbClr val="3B82F6"/>
                </a:solidFill>
                <a:latin typeface="Calibri"/>
                <a:ea typeface="Calibri"/>
                <a:cs typeface="Calibri"/>
                <a:sym typeface="Calibri"/>
              </a:rPr>
              <a:t>109</a:t>
            </a:r>
            <a:endParaRPr sz="2200">
              <a:solidFill>
                <a:schemeClr val="dk1"/>
              </a:solidFill>
              <a:latin typeface="Calibri"/>
              <a:ea typeface="Calibri"/>
              <a:cs typeface="Calibri"/>
              <a:sym typeface="Calibri"/>
            </a:endParaRPr>
          </a:p>
        </p:txBody>
      </p:sp>
      <p:sp>
        <p:nvSpPr>
          <p:cNvPr id="1165" name="Google Shape;1165;p20"/>
          <p:cNvSpPr/>
          <p:nvPr/>
        </p:nvSpPr>
        <p:spPr>
          <a:xfrm>
            <a:off x="3867585" y="2753324"/>
            <a:ext cx="254203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Peak Day Orders</a:t>
            </a:r>
            <a:endParaRPr sz="1000">
              <a:solidFill>
                <a:schemeClr val="dk1"/>
              </a:solidFill>
              <a:latin typeface="Calibri"/>
              <a:ea typeface="Calibri"/>
              <a:cs typeface="Calibri"/>
              <a:sym typeface="Calibri"/>
            </a:endParaRPr>
          </a:p>
        </p:txBody>
      </p:sp>
      <p:sp>
        <p:nvSpPr>
          <p:cNvPr id="1166" name="Google Shape;1166;p20"/>
          <p:cNvSpPr/>
          <p:nvPr/>
        </p:nvSpPr>
        <p:spPr>
          <a:xfrm>
            <a:off x="3847338" y="3012948"/>
            <a:ext cx="2542032"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Highest forecast day</a:t>
            </a:r>
            <a:endParaRPr sz="850">
              <a:solidFill>
                <a:schemeClr val="dk1"/>
              </a:solidFill>
              <a:latin typeface="Calibri"/>
              <a:ea typeface="Calibri"/>
              <a:cs typeface="Calibri"/>
              <a:sym typeface="Calibri"/>
            </a:endParaRPr>
          </a:p>
        </p:txBody>
      </p:sp>
      <p:sp>
        <p:nvSpPr>
          <p:cNvPr id="1167" name="Google Shape;1167;p20"/>
          <p:cNvSpPr/>
          <p:nvPr/>
        </p:nvSpPr>
        <p:spPr>
          <a:xfrm>
            <a:off x="274330" y="3401575"/>
            <a:ext cx="8321100" cy="1600200"/>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8" name="Google Shape;1168;p20"/>
          <p:cNvSpPr/>
          <p:nvPr/>
        </p:nvSpPr>
        <p:spPr>
          <a:xfrm>
            <a:off x="274330" y="3401575"/>
            <a:ext cx="8321100" cy="3474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9" name="Google Shape;1169;p20"/>
          <p:cNvSpPr/>
          <p:nvPr/>
        </p:nvSpPr>
        <p:spPr>
          <a:xfrm>
            <a:off x="489066" y="3474727"/>
            <a:ext cx="783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1000" b="1">
                <a:solidFill>
                  <a:srgbClr val="0D1B2A"/>
                </a:solidFill>
                <a:latin typeface="Calibri"/>
                <a:ea typeface="Calibri"/>
                <a:cs typeface="Calibri"/>
                <a:sym typeface="Calibri"/>
              </a:rPr>
              <a:t>OVERALL BUSINESS TAKEAWAY:</a:t>
            </a:r>
            <a:endParaRPr sz="1000">
              <a:solidFill>
                <a:schemeClr val="dk1"/>
              </a:solidFill>
              <a:latin typeface="Calibri"/>
              <a:ea typeface="Calibri"/>
              <a:cs typeface="Calibri"/>
              <a:sym typeface="Calibri"/>
            </a:endParaRPr>
          </a:p>
        </p:txBody>
      </p:sp>
      <p:sp>
        <p:nvSpPr>
          <p:cNvPr id="1170" name="Google Shape;1170;p20"/>
          <p:cNvSpPr/>
          <p:nvPr/>
        </p:nvSpPr>
        <p:spPr>
          <a:xfrm>
            <a:off x="573670" y="3954736"/>
            <a:ext cx="78810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950"/>
              <a:buFont typeface="Calibri"/>
              <a:buNone/>
            </a:pPr>
            <a:r>
              <a:rPr lang="en-US" sz="1000" b="1">
                <a:solidFill>
                  <a:srgbClr val="CBD5E1"/>
                </a:solidFill>
                <a:latin typeface="Calibri"/>
                <a:ea typeface="Calibri"/>
                <a:cs typeface="Calibri"/>
                <a:sym typeface="Calibri"/>
              </a:rPr>
              <a:t>We cannot use a "one-size-fits-all" model. By allowing Seasonal Naive to handle stable flow (Orders) and Gradient Boosting to handle complex variance (Revenue), we optimize our tactical accuracy which directly allows for better weekly staff planning and near-term cash-flow analysis.</a:t>
            </a:r>
            <a:endParaRPr sz="1000" b="1">
              <a:solidFill>
                <a:schemeClr val="dk1"/>
              </a:solidFill>
              <a:latin typeface="Calibri"/>
              <a:ea typeface="Calibri"/>
              <a:cs typeface="Calibri"/>
              <a:sym typeface="Calibri"/>
            </a:endParaRPr>
          </a:p>
        </p:txBody>
      </p:sp>
      <p:sp>
        <p:nvSpPr>
          <p:cNvPr id="1171" name="Google Shape;1171;p20"/>
          <p:cNvSpPr/>
          <p:nvPr/>
        </p:nvSpPr>
        <p:spPr>
          <a:xfrm>
            <a:off x="274320" y="4878324"/>
            <a:ext cx="8595360" cy="256032"/>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20"/>
          <p:cNvSpPr/>
          <p:nvPr/>
        </p:nvSpPr>
        <p:spPr>
          <a:xfrm>
            <a:off x="182880" y="4887468"/>
            <a:ext cx="85038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Business Use: Revenue forecasts → purchasing &amp; cash-flow planning  |  Order volume → staffing &amp; logistics planning  |  Tactical guidance for next 30 days</a:t>
            </a:r>
            <a:endParaRPr sz="900">
              <a:solidFill>
                <a:schemeClr val="dk1"/>
              </a:solidFill>
              <a:latin typeface="Calibri"/>
              <a:ea typeface="Calibri"/>
              <a:cs typeface="Calibri"/>
              <a:sym typeface="Calibri"/>
            </a:endParaRPr>
          </a:p>
        </p:txBody>
      </p:sp>
      <p:pic>
        <p:nvPicPr>
          <p:cNvPr id="1173" name="Google Shape;1173;p20" descr="future_forecast_comparison.png"/>
          <p:cNvPicPr preferRelativeResize="0"/>
          <p:nvPr/>
        </p:nvPicPr>
        <p:blipFill rotWithShape="1">
          <a:blip r:embed="rId3">
            <a:alphaModFix/>
          </a:blip>
          <a:srcRect/>
          <a:stretch/>
        </p:blipFill>
        <p:spPr>
          <a:xfrm>
            <a:off x="5481550" y="1162438"/>
            <a:ext cx="3113801" cy="2109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1178"/>
        <p:cNvGrpSpPr/>
        <p:nvPr/>
      </p:nvGrpSpPr>
      <p:grpSpPr>
        <a:xfrm>
          <a:off x="0" y="0"/>
          <a:ext cx="0" cy="0"/>
          <a:chOff x="0" y="0"/>
          <a:chExt cx="0" cy="0"/>
        </a:xfrm>
      </p:grpSpPr>
      <p:sp>
        <p:nvSpPr>
          <p:cNvPr id="1179" name="Google Shape;1179;p21"/>
          <p:cNvSpPr/>
          <p:nvPr/>
        </p:nvSpPr>
        <p:spPr>
          <a:xfrm>
            <a:off x="0" y="0"/>
            <a:ext cx="9144000" cy="201168"/>
          </a:xfrm>
          <a:prstGeom prst="rect">
            <a:avLst/>
          </a:prstGeom>
          <a:solidFill>
            <a:srgbClr val="94A3B8"/>
          </a:solidFill>
          <a:ln w="12700" cap="flat" cmpd="sng">
            <a:solidFill>
              <a:srgbClr val="94A3B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0" name="Google Shape;1180;p21"/>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LIMITATIONS &amp; FUTURE IMPROVEMENTS</a:t>
            </a:r>
            <a:endParaRPr sz="900">
              <a:solidFill>
                <a:schemeClr val="dk1"/>
              </a:solidFill>
              <a:latin typeface="Calibri"/>
              <a:ea typeface="Calibri"/>
              <a:cs typeface="Calibri"/>
              <a:sym typeface="Calibri"/>
            </a:endParaRPr>
          </a:p>
        </p:txBody>
      </p:sp>
      <p:sp>
        <p:nvSpPr>
          <p:cNvPr id="1181" name="Google Shape;1181;p21"/>
          <p:cNvSpPr/>
          <p:nvPr/>
        </p:nvSpPr>
        <p:spPr>
          <a:xfrm>
            <a:off x="0" y="0"/>
            <a:ext cx="9144000" cy="96012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2" name="Google Shape;1182;p21"/>
          <p:cNvSpPr/>
          <p:nvPr/>
        </p:nvSpPr>
        <p:spPr>
          <a:xfrm>
            <a:off x="0" y="960120"/>
            <a:ext cx="914400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3" name="Google Shape;1183;p21"/>
          <p:cNvSpPr/>
          <p:nvPr/>
        </p:nvSpPr>
        <p:spPr>
          <a:xfrm>
            <a:off x="365760" y="914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Limitations &amp; Future Improvements</a:t>
            </a:r>
            <a:endParaRPr sz="2000">
              <a:solidFill>
                <a:schemeClr val="dk1"/>
              </a:solidFill>
              <a:latin typeface="Calibri"/>
              <a:ea typeface="Calibri"/>
              <a:cs typeface="Calibri"/>
              <a:sym typeface="Calibri"/>
            </a:endParaRPr>
          </a:p>
        </p:txBody>
      </p:sp>
      <p:sp>
        <p:nvSpPr>
          <p:cNvPr id="1184" name="Google Shape;1184;p21"/>
          <p:cNvSpPr/>
          <p:nvPr/>
        </p:nvSpPr>
        <p:spPr>
          <a:xfrm>
            <a:off x="365760" y="56692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Honest assessment of current constraints and the roadmap for enhanced analysis</a:t>
            </a:r>
            <a:endParaRPr sz="1100">
              <a:solidFill>
                <a:schemeClr val="dk1"/>
              </a:solidFill>
              <a:latin typeface="Calibri"/>
              <a:ea typeface="Calibri"/>
              <a:cs typeface="Calibri"/>
              <a:sym typeface="Calibri"/>
            </a:endParaRPr>
          </a:p>
        </p:txBody>
      </p:sp>
      <p:sp>
        <p:nvSpPr>
          <p:cNvPr id="1185" name="Google Shape;1185;p21"/>
          <p:cNvSpPr/>
          <p:nvPr/>
        </p:nvSpPr>
        <p:spPr>
          <a:xfrm>
            <a:off x="274320" y="1170432"/>
            <a:ext cx="8595360" cy="32004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6" name="Google Shape;1186;p21"/>
          <p:cNvSpPr/>
          <p:nvPr/>
        </p:nvSpPr>
        <p:spPr>
          <a:xfrm>
            <a:off x="384048" y="1207008"/>
            <a:ext cx="6858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Area</a:t>
            </a:r>
            <a:endParaRPr sz="900">
              <a:solidFill>
                <a:schemeClr val="dk1"/>
              </a:solidFill>
              <a:latin typeface="Calibri"/>
              <a:ea typeface="Calibri"/>
              <a:cs typeface="Calibri"/>
              <a:sym typeface="Calibri"/>
            </a:endParaRPr>
          </a:p>
        </p:txBody>
      </p:sp>
      <p:sp>
        <p:nvSpPr>
          <p:cNvPr id="1187" name="Google Shape;1187;p21"/>
          <p:cNvSpPr/>
          <p:nvPr/>
        </p:nvSpPr>
        <p:spPr>
          <a:xfrm>
            <a:off x="1097280" y="1207008"/>
            <a:ext cx="3200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Current Limitation</a:t>
            </a:r>
            <a:endParaRPr sz="900">
              <a:solidFill>
                <a:schemeClr val="dk1"/>
              </a:solidFill>
              <a:latin typeface="Calibri"/>
              <a:ea typeface="Calibri"/>
              <a:cs typeface="Calibri"/>
              <a:sym typeface="Calibri"/>
            </a:endParaRPr>
          </a:p>
        </p:txBody>
      </p:sp>
      <p:sp>
        <p:nvSpPr>
          <p:cNvPr id="1188" name="Google Shape;1188;p21"/>
          <p:cNvSpPr/>
          <p:nvPr/>
        </p:nvSpPr>
        <p:spPr>
          <a:xfrm>
            <a:off x="4343400" y="1207008"/>
            <a:ext cx="3200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900"/>
              <a:buFont typeface="Calibri"/>
              <a:buNone/>
            </a:pPr>
            <a:r>
              <a:rPr lang="en-US" sz="900" b="1">
                <a:solidFill>
                  <a:srgbClr val="0D9488"/>
                </a:solidFill>
                <a:latin typeface="Calibri"/>
                <a:ea typeface="Calibri"/>
                <a:cs typeface="Calibri"/>
                <a:sym typeface="Calibri"/>
              </a:rPr>
              <a:t>Future Improvement</a:t>
            </a:r>
            <a:endParaRPr sz="900">
              <a:solidFill>
                <a:schemeClr val="dk1"/>
              </a:solidFill>
              <a:latin typeface="Calibri"/>
              <a:ea typeface="Calibri"/>
              <a:cs typeface="Calibri"/>
              <a:sym typeface="Calibri"/>
            </a:endParaRPr>
          </a:p>
        </p:txBody>
      </p:sp>
      <p:sp>
        <p:nvSpPr>
          <p:cNvPr id="1189" name="Google Shape;1189;p21"/>
          <p:cNvSpPr/>
          <p:nvPr/>
        </p:nvSpPr>
        <p:spPr>
          <a:xfrm>
            <a:off x="7589520" y="1207008"/>
            <a:ext cx="5669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900"/>
              <a:buFont typeface="Calibri"/>
              <a:buNone/>
            </a:pPr>
            <a:endParaRPr sz="900">
              <a:solidFill>
                <a:schemeClr val="dk1"/>
              </a:solidFill>
              <a:latin typeface="Calibri"/>
              <a:ea typeface="Calibri"/>
              <a:cs typeface="Calibri"/>
              <a:sym typeface="Calibri"/>
            </a:endParaRPr>
          </a:p>
        </p:txBody>
      </p:sp>
      <p:sp>
        <p:nvSpPr>
          <p:cNvPr id="1190" name="Google Shape;1190;p21"/>
          <p:cNvSpPr/>
          <p:nvPr/>
        </p:nvSpPr>
        <p:spPr>
          <a:xfrm>
            <a:off x="274320" y="1517904"/>
            <a:ext cx="8595360" cy="420624"/>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1" name="Google Shape;1191;p21"/>
          <p:cNvSpPr/>
          <p:nvPr/>
        </p:nvSpPr>
        <p:spPr>
          <a:xfrm>
            <a:off x="274320" y="1517904"/>
            <a:ext cx="54864" cy="420624"/>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2" name="Google Shape;1192;p21"/>
          <p:cNvSpPr/>
          <p:nvPr/>
        </p:nvSpPr>
        <p:spPr>
          <a:xfrm>
            <a:off x="384048" y="1591056"/>
            <a:ext cx="621792" cy="256032"/>
          </a:xfrm>
          <a:prstGeom prst="rect">
            <a:avLst/>
          </a:prstGeom>
          <a:solidFill>
            <a:srgbClr val="EF4444">
              <a:alpha val="20000"/>
            </a:srgbClr>
          </a:solidFill>
          <a:ln w="9525" cap="flat" cmpd="sng">
            <a:solidFill>
              <a:srgbClr val="EF4444">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3" name="Google Shape;1193;p21"/>
          <p:cNvSpPr/>
          <p:nvPr/>
        </p:nvSpPr>
        <p:spPr>
          <a:xfrm>
            <a:off x="402336" y="16093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850"/>
              <a:buFont typeface="Calibri"/>
              <a:buNone/>
            </a:pPr>
            <a:r>
              <a:rPr lang="en-US" sz="850" b="1">
                <a:solidFill>
                  <a:srgbClr val="EF4444"/>
                </a:solidFill>
                <a:latin typeface="Calibri"/>
                <a:ea typeface="Calibri"/>
                <a:cs typeface="Calibri"/>
                <a:sym typeface="Calibri"/>
              </a:rPr>
              <a:t>ETL</a:t>
            </a:r>
            <a:endParaRPr sz="850">
              <a:solidFill>
                <a:schemeClr val="dk1"/>
              </a:solidFill>
              <a:latin typeface="Calibri"/>
              <a:ea typeface="Calibri"/>
              <a:cs typeface="Calibri"/>
              <a:sym typeface="Calibri"/>
            </a:endParaRPr>
          </a:p>
        </p:txBody>
      </p:sp>
      <p:sp>
        <p:nvSpPr>
          <p:cNvPr id="1194" name="Google Shape;1194;p21"/>
          <p:cNvSpPr/>
          <p:nvPr/>
        </p:nvSpPr>
        <p:spPr>
          <a:xfrm>
            <a:off x="1097280" y="15910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38.5% of records excluded — may under-represent new/guest customers</a:t>
            </a:r>
            <a:endParaRPr sz="900">
              <a:solidFill>
                <a:schemeClr val="dk1"/>
              </a:solidFill>
              <a:latin typeface="Calibri"/>
              <a:ea typeface="Calibri"/>
              <a:cs typeface="Calibri"/>
              <a:sym typeface="Calibri"/>
            </a:endParaRPr>
          </a:p>
        </p:txBody>
      </p:sp>
      <p:sp>
        <p:nvSpPr>
          <p:cNvPr id="1195" name="Google Shape;1195;p21"/>
          <p:cNvSpPr/>
          <p:nvPr/>
        </p:nvSpPr>
        <p:spPr>
          <a:xfrm>
            <a:off x="4343400" y="15910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Probabilistic identity matching via StockCode + Country + date proximity</a:t>
            </a:r>
            <a:endParaRPr sz="900">
              <a:solidFill>
                <a:schemeClr val="dk1"/>
              </a:solidFill>
              <a:latin typeface="Calibri"/>
              <a:ea typeface="Calibri"/>
              <a:cs typeface="Calibri"/>
              <a:sym typeface="Calibri"/>
            </a:endParaRPr>
          </a:p>
        </p:txBody>
      </p:sp>
      <p:sp>
        <p:nvSpPr>
          <p:cNvPr id="1196" name="Google Shape;1196;p21"/>
          <p:cNvSpPr/>
          <p:nvPr/>
        </p:nvSpPr>
        <p:spPr>
          <a:xfrm>
            <a:off x="7607808" y="15910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197" name="Google Shape;1197;p21"/>
          <p:cNvSpPr/>
          <p:nvPr/>
        </p:nvSpPr>
        <p:spPr>
          <a:xfrm>
            <a:off x="274320" y="1975104"/>
            <a:ext cx="8595360" cy="420624"/>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8" name="Google Shape;1198;p21"/>
          <p:cNvSpPr/>
          <p:nvPr/>
        </p:nvSpPr>
        <p:spPr>
          <a:xfrm>
            <a:off x="274320" y="1975104"/>
            <a:ext cx="54864" cy="420624"/>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9" name="Google Shape;1199;p21"/>
          <p:cNvSpPr/>
          <p:nvPr/>
        </p:nvSpPr>
        <p:spPr>
          <a:xfrm>
            <a:off x="384048" y="2048256"/>
            <a:ext cx="621792" cy="256032"/>
          </a:xfrm>
          <a:prstGeom prst="rect">
            <a:avLst/>
          </a:prstGeom>
          <a:solidFill>
            <a:srgbClr val="EF4444">
              <a:alpha val="20000"/>
            </a:srgbClr>
          </a:solidFill>
          <a:ln w="9525" cap="flat" cmpd="sng">
            <a:solidFill>
              <a:srgbClr val="EF4444">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0" name="Google Shape;1200;p21"/>
          <p:cNvSpPr/>
          <p:nvPr/>
        </p:nvSpPr>
        <p:spPr>
          <a:xfrm>
            <a:off x="402336" y="20665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4444"/>
              </a:buClr>
              <a:buSzPts val="850"/>
              <a:buFont typeface="Calibri"/>
              <a:buNone/>
            </a:pPr>
            <a:r>
              <a:rPr lang="en-US" sz="850" b="1">
                <a:solidFill>
                  <a:srgbClr val="EF4444"/>
                </a:solidFill>
                <a:latin typeface="Calibri"/>
                <a:ea typeface="Calibri"/>
                <a:cs typeface="Calibri"/>
                <a:sym typeface="Calibri"/>
              </a:rPr>
              <a:t>ETL</a:t>
            </a:r>
            <a:endParaRPr sz="850">
              <a:solidFill>
                <a:schemeClr val="dk1"/>
              </a:solidFill>
              <a:latin typeface="Calibri"/>
              <a:ea typeface="Calibri"/>
              <a:cs typeface="Calibri"/>
              <a:sym typeface="Calibri"/>
            </a:endParaRPr>
          </a:p>
        </p:txBody>
      </p:sp>
      <p:sp>
        <p:nvSpPr>
          <p:cNvPr id="1201" name="Google Shape;1201;p21"/>
          <p:cNvSpPr/>
          <p:nvPr/>
        </p:nvSpPr>
        <p:spPr>
          <a:xfrm>
            <a:off x="1097280" y="20482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IQR removes wholesale B2B orders — B2B patterns lost</a:t>
            </a:r>
            <a:endParaRPr sz="900">
              <a:solidFill>
                <a:schemeClr val="dk1"/>
              </a:solidFill>
              <a:latin typeface="Calibri"/>
              <a:ea typeface="Calibri"/>
              <a:cs typeface="Calibri"/>
              <a:sym typeface="Calibri"/>
            </a:endParaRPr>
          </a:p>
        </p:txBody>
      </p:sp>
      <p:sp>
        <p:nvSpPr>
          <p:cNvPr id="1202" name="Google Shape;1202;p21"/>
          <p:cNvSpPr/>
          <p:nvPr/>
        </p:nvSpPr>
        <p:spPr>
          <a:xfrm>
            <a:off x="4343400" y="20482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Segment B2C/B2B prior to cleaning; maintain separate analytical pipelines</a:t>
            </a:r>
            <a:endParaRPr sz="900">
              <a:solidFill>
                <a:schemeClr val="dk1"/>
              </a:solidFill>
              <a:latin typeface="Calibri"/>
              <a:ea typeface="Calibri"/>
              <a:cs typeface="Calibri"/>
              <a:sym typeface="Calibri"/>
            </a:endParaRPr>
          </a:p>
        </p:txBody>
      </p:sp>
      <p:sp>
        <p:nvSpPr>
          <p:cNvPr id="1203" name="Google Shape;1203;p21"/>
          <p:cNvSpPr/>
          <p:nvPr/>
        </p:nvSpPr>
        <p:spPr>
          <a:xfrm>
            <a:off x="7607808" y="20482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04" name="Google Shape;1204;p21"/>
          <p:cNvSpPr/>
          <p:nvPr/>
        </p:nvSpPr>
        <p:spPr>
          <a:xfrm>
            <a:off x="274320" y="2432304"/>
            <a:ext cx="8595360" cy="420624"/>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5" name="Google Shape;1205;p21"/>
          <p:cNvSpPr/>
          <p:nvPr/>
        </p:nvSpPr>
        <p:spPr>
          <a:xfrm>
            <a:off x="274320" y="2432304"/>
            <a:ext cx="54864" cy="420624"/>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6" name="Google Shape;1206;p21"/>
          <p:cNvSpPr/>
          <p:nvPr/>
        </p:nvSpPr>
        <p:spPr>
          <a:xfrm>
            <a:off x="384048" y="2505456"/>
            <a:ext cx="621792" cy="256032"/>
          </a:xfrm>
          <a:prstGeom prst="rect">
            <a:avLst/>
          </a:prstGeom>
          <a:solidFill>
            <a:srgbClr val="F59E0B">
              <a:alpha val="20000"/>
            </a:srgbClr>
          </a:solidFill>
          <a:ln w="9525" cap="flat" cmpd="sng">
            <a:solidFill>
              <a:srgbClr val="F59E0B">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7" name="Google Shape;1207;p21"/>
          <p:cNvSpPr/>
          <p:nvPr/>
        </p:nvSpPr>
        <p:spPr>
          <a:xfrm>
            <a:off x="402336" y="25237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850"/>
              <a:buFont typeface="Calibri"/>
              <a:buNone/>
            </a:pPr>
            <a:r>
              <a:rPr lang="en-US" sz="850" b="1">
                <a:solidFill>
                  <a:srgbClr val="F59E0B"/>
                </a:solidFill>
                <a:latin typeface="Calibri"/>
                <a:ea typeface="Calibri"/>
                <a:cs typeface="Calibri"/>
                <a:sym typeface="Calibri"/>
              </a:rPr>
              <a:t>EDA</a:t>
            </a:r>
            <a:endParaRPr sz="850">
              <a:solidFill>
                <a:schemeClr val="dk1"/>
              </a:solidFill>
              <a:latin typeface="Calibri"/>
              <a:ea typeface="Calibri"/>
              <a:cs typeface="Calibri"/>
              <a:sym typeface="Calibri"/>
            </a:endParaRPr>
          </a:p>
        </p:txBody>
      </p:sp>
      <p:sp>
        <p:nvSpPr>
          <p:cNvPr id="1208" name="Google Shape;1208;p21"/>
          <p:cNvSpPr/>
          <p:nvPr/>
        </p:nvSpPr>
        <p:spPr>
          <a:xfrm>
            <a:off x="1097280" y="25054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No external data: promotions, holidays, macro factors not included</a:t>
            </a:r>
            <a:endParaRPr sz="900">
              <a:solidFill>
                <a:schemeClr val="dk1"/>
              </a:solidFill>
              <a:latin typeface="Calibri"/>
              <a:ea typeface="Calibri"/>
              <a:cs typeface="Calibri"/>
              <a:sym typeface="Calibri"/>
            </a:endParaRPr>
          </a:p>
        </p:txBody>
      </p:sp>
      <p:sp>
        <p:nvSpPr>
          <p:cNvPr id="1209" name="Google Shape;1209;p21"/>
          <p:cNvSpPr/>
          <p:nvPr/>
        </p:nvSpPr>
        <p:spPr>
          <a:xfrm>
            <a:off x="4343400" y="25054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Enrich with UK retail calendar, Bank Holidays, promotional event flags</a:t>
            </a:r>
            <a:endParaRPr sz="900">
              <a:solidFill>
                <a:schemeClr val="dk1"/>
              </a:solidFill>
              <a:latin typeface="Calibri"/>
              <a:ea typeface="Calibri"/>
              <a:cs typeface="Calibri"/>
              <a:sym typeface="Calibri"/>
            </a:endParaRPr>
          </a:p>
        </p:txBody>
      </p:sp>
      <p:sp>
        <p:nvSpPr>
          <p:cNvPr id="1210" name="Google Shape;1210;p21"/>
          <p:cNvSpPr/>
          <p:nvPr/>
        </p:nvSpPr>
        <p:spPr>
          <a:xfrm>
            <a:off x="7607808" y="25054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11" name="Google Shape;1211;p21"/>
          <p:cNvSpPr/>
          <p:nvPr/>
        </p:nvSpPr>
        <p:spPr>
          <a:xfrm>
            <a:off x="274320" y="2889504"/>
            <a:ext cx="8595360" cy="420624"/>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2" name="Google Shape;1212;p21"/>
          <p:cNvSpPr/>
          <p:nvPr/>
        </p:nvSpPr>
        <p:spPr>
          <a:xfrm>
            <a:off x="274320" y="2889504"/>
            <a:ext cx="54864" cy="42062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3" name="Google Shape;1213;p21"/>
          <p:cNvSpPr/>
          <p:nvPr/>
        </p:nvSpPr>
        <p:spPr>
          <a:xfrm>
            <a:off x="384048" y="2962656"/>
            <a:ext cx="621792" cy="256032"/>
          </a:xfrm>
          <a:prstGeom prst="rect">
            <a:avLst/>
          </a:prstGeom>
          <a:solidFill>
            <a:srgbClr val="8B5CF6">
              <a:alpha val="20000"/>
            </a:srgbClr>
          </a:solidFill>
          <a:ln w="9525" cap="flat" cmpd="sng">
            <a:solidFill>
              <a:srgbClr val="8B5CF6">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4" name="Google Shape;1214;p21"/>
          <p:cNvSpPr/>
          <p:nvPr/>
        </p:nvSpPr>
        <p:spPr>
          <a:xfrm>
            <a:off x="402336" y="29809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850"/>
              <a:buFont typeface="Calibri"/>
              <a:buNone/>
            </a:pPr>
            <a:r>
              <a:rPr lang="en-US" sz="850" b="1">
                <a:solidFill>
                  <a:srgbClr val="8B5CF6"/>
                </a:solidFill>
                <a:latin typeface="Calibri"/>
                <a:ea typeface="Calibri"/>
                <a:cs typeface="Calibri"/>
                <a:sym typeface="Calibri"/>
              </a:rPr>
              <a:t>Clustering</a:t>
            </a:r>
            <a:endParaRPr sz="850">
              <a:solidFill>
                <a:schemeClr val="dk1"/>
              </a:solidFill>
              <a:latin typeface="Calibri"/>
              <a:ea typeface="Calibri"/>
              <a:cs typeface="Calibri"/>
              <a:sym typeface="Calibri"/>
            </a:endParaRPr>
          </a:p>
        </p:txBody>
      </p:sp>
      <p:sp>
        <p:nvSpPr>
          <p:cNvPr id="1215" name="Google Shape;1215;p21"/>
          <p:cNvSpPr/>
          <p:nvPr/>
        </p:nvSpPr>
        <p:spPr>
          <a:xfrm>
            <a:off x="1097280" y="29626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Silhouette peak at k=2 overridden for business interpretability</a:t>
            </a:r>
            <a:endParaRPr sz="900">
              <a:solidFill>
                <a:schemeClr val="dk1"/>
              </a:solidFill>
              <a:latin typeface="Calibri"/>
              <a:ea typeface="Calibri"/>
              <a:cs typeface="Calibri"/>
              <a:sym typeface="Calibri"/>
            </a:endParaRPr>
          </a:p>
        </p:txBody>
      </p:sp>
      <p:sp>
        <p:nvSpPr>
          <p:cNvPr id="1216" name="Google Shape;1216;p21"/>
          <p:cNvSpPr/>
          <p:nvPr/>
        </p:nvSpPr>
        <p:spPr>
          <a:xfrm>
            <a:off x="4343400" y="29626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Use gap statistic and business stakeholder validation for k selection</a:t>
            </a:r>
            <a:endParaRPr sz="900">
              <a:solidFill>
                <a:schemeClr val="dk1"/>
              </a:solidFill>
              <a:latin typeface="Calibri"/>
              <a:ea typeface="Calibri"/>
              <a:cs typeface="Calibri"/>
              <a:sym typeface="Calibri"/>
            </a:endParaRPr>
          </a:p>
        </p:txBody>
      </p:sp>
      <p:sp>
        <p:nvSpPr>
          <p:cNvPr id="1217" name="Google Shape;1217;p21"/>
          <p:cNvSpPr/>
          <p:nvPr/>
        </p:nvSpPr>
        <p:spPr>
          <a:xfrm>
            <a:off x="7607808" y="29626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18" name="Google Shape;1218;p21"/>
          <p:cNvSpPr/>
          <p:nvPr/>
        </p:nvSpPr>
        <p:spPr>
          <a:xfrm>
            <a:off x="274320" y="3346704"/>
            <a:ext cx="8595360" cy="420624"/>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9" name="Google Shape;1219;p21"/>
          <p:cNvSpPr/>
          <p:nvPr/>
        </p:nvSpPr>
        <p:spPr>
          <a:xfrm>
            <a:off x="274320" y="3346704"/>
            <a:ext cx="54864" cy="42062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0" name="Google Shape;1220;p21"/>
          <p:cNvSpPr/>
          <p:nvPr/>
        </p:nvSpPr>
        <p:spPr>
          <a:xfrm>
            <a:off x="384048" y="3419856"/>
            <a:ext cx="621792" cy="256032"/>
          </a:xfrm>
          <a:prstGeom prst="rect">
            <a:avLst/>
          </a:prstGeom>
          <a:solidFill>
            <a:srgbClr val="8B5CF6">
              <a:alpha val="20000"/>
            </a:srgbClr>
          </a:solidFill>
          <a:ln w="9525" cap="flat" cmpd="sng">
            <a:solidFill>
              <a:srgbClr val="8B5CF6">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1" name="Google Shape;1221;p21"/>
          <p:cNvSpPr/>
          <p:nvPr/>
        </p:nvSpPr>
        <p:spPr>
          <a:xfrm>
            <a:off x="402336" y="34381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B5CF6"/>
              </a:buClr>
              <a:buSzPts val="850"/>
              <a:buFont typeface="Calibri"/>
              <a:buNone/>
            </a:pPr>
            <a:r>
              <a:rPr lang="en-US" sz="850" b="1">
                <a:solidFill>
                  <a:srgbClr val="8B5CF6"/>
                </a:solidFill>
                <a:latin typeface="Calibri"/>
                <a:ea typeface="Calibri"/>
                <a:cs typeface="Calibri"/>
                <a:sym typeface="Calibri"/>
              </a:rPr>
              <a:t>Clustering</a:t>
            </a:r>
            <a:endParaRPr sz="850">
              <a:solidFill>
                <a:schemeClr val="dk1"/>
              </a:solidFill>
              <a:latin typeface="Calibri"/>
              <a:ea typeface="Calibri"/>
              <a:cs typeface="Calibri"/>
              <a:sym typeface="Calibri"/>
            </a:endParaRPr>
          </a:p>
        </p:txBody>
      </p:sp>
      <p:sp>
        <p:nvSpPr>
          <p:cNvPr id="1222" name="Google Shape;1222;p21"/>
          <p:cNvSpPr/>
          <p:nvPr/>
        </p:nvSpPr>
        <p:spPr>
          <a:xfrm>
            <a:off x="1097280" y="34198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Static snapshot — clusters may drift over time</a:t>
            </a:r>
            <a:endParaRPr sz="900">
              <a:solidFill>
                <a:schemeClr val="dk1"/>
              </a:solidFill>
              <a:latin typeface="Calibri"/>
              <a:ea typeface="Calibri"/>
              <a:cs typeface="Calibri"/>
              <a:sym typeface="Calibri"/>
            </a:endParaRPr>
          </a:p>
        </p:txBody>
      </p:sp>
      <p:sp>
        <p:nvSpPr>
          <p:cNvPr id="1223" name="Google Shape;1223;p21"/>
          <p:cNvSpPr/>
          <p:nvPr/>
        </p:nvSpPr>
        <p:spPr>
          <a:xfrm>
            <a:off x="4343400" y="34198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Rolling RFM recalculation + customer migration tracking month-over-month</a:t>
            </a:r>
            <a:endParaRPr sz="900">
              <a:solidFill>
                <a:schemeClr val="dk1"/>
              </a:solidFill>
              <a:latin typeface="Calibri"/>
              <a:ea typeface="Calibri"/>
              <a:cs typeface="Calibri"/>
              <a:sym typeface="Calibri"/>
            </a:endParaRPr>
          </a:p>
        </p:txBody>
      </p:sp>
      <p:sp>
        <p:nvSpPr>
          <p:cNvPr id="1224" name="Google Shape;1224;p21"/>
          <p:cNvSpPr/>
          <p:nvPr/>
        </p:nvSpPr>
        <p:spPr>
          <a:xfrm>
            <a:off x="7607808" y="34198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25" name="Google Shape;1225;p21"/>
          <p:cNvSpPr/>
          <p:nvPr/>
        </p:nvSpPr>
        <p:spPr>
          <a:xfrm>
            <a:off x="274320" y="3803904"/>
            <a:ext cx="8595360" cy="420624"/>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6" name="Google Shape;1226;p21"/>
          <p:cNvSpPr/>
          <p:nvPr/>
        </p:nvSpPr>
        <p:spPr>
          <a:xfrm>
            <a:off x="274320" y="3803904"/>
            <a:ext cx="54864" cy="42062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7" name="Google Shape;1227;p21"/>
          <p:cNvSpPr/>
          <p:nvPr/>
        </p:nvSpPr>
        <p:spPr>
          <a:xfrm>
            <a:off x="384048" y="3877056"/>
            <a:ext cx="621792" cy="256032"/>
          </a:xfrm>
          <a:prstGeom prst="rect">
            <a:avLst/>
          </a:prstGeom>
          <a:solidFill>
            <a:srgbClr val="06B6D4">
              <a:alpha val="20000"/>
            </a:srgbClr>
          </a:solidFill>
          <a:ln w="9525" cap="flat" cmpd="sng">
            <a:solidFill>
              <a:srgbClr val="06B6D4">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8" name="Google Shape;1228;p21"/>
          <p:cNvSpPr/>
          <p:nvPr/>
        </p:nvSpPr>
        <p:spPr>
          <a:xfrm>
            <a:off x="402336" y="38953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B6D4"/>
              </a:buClr>
              <a:buSzPts val="850"/>
              <a:buFont typeface="Calibri"/>
              <a:buNone/>
            </a:pPr>
            <a:r>
              <a:rPr lang="en-US" sz="850" b="1">
                <a:solidFill>
                  <a:srgbClr val="06B6D4"/>
                </a:solidFill>
                <a:latin typeface="Calibri"/>
                <a:ea typeface="Calibri"/>
                <a:cs typeface="Calibri"/>
                <a:sym typeface="Calibri"/>
              </a:rPr>
              <a:t>Forecasting</a:t>
            </a:r>
            <a:endParaRPr sz="850">
              <a:solidFill>
                <a:schemeClr val="dk1"/>
              </a:solidFill>
              <a:latin typeface="Calibri"/>
              <a:ea typeface="Calibri"/>
              <a:cs typeface="Calibri"/>
              <a:sym typeface="Calibri"/>
            </a:endParaRPr>
          </a:p>
        </p:txBody>
      </p:sp>
      <p:sp>
        <p:nvSpPr>
          <p:cNvPr id="1229" name="Google Shape;1229;p21"/>
          <p:cNvSpPr/>
          <p:nvPr/>
        </p:nvSpPr>
        <p:spPr>
          <a:xfrm>
            <a:off x="1097280" y="38770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Only 374 calendar days — recursive GB errors accumulate over 30 days</a:t>
            </a:r>
            <a:endParaRPr sz="900">
              <a:solidFill>
                <a:schemeClr val="dk1"/>
              </a:solidFill>
              <a:latin typeface="Calibri"/>
              <a:ea typeface="Calibri"/>
              <a:cs typeface="Calibri"/>
              <a:sym typeface="Calibri"/>
            </a:endParaRPr>
          </a:p>
        </p:txBody>
      </p:sp>
      <p:sp>
        <p:nvSpPr>
          <p:cNvPr id="1230" name="Google Shape;1230;p21"/>
          <p:cNvSpPr/>
          <p:nvPr/>
        </p:nvSpPr>
        <p:spPr>
          <a:xfrm>
            <a:off x="4343400" y="38770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Rolling-origin or expanding-window cross-validation for robust evaluation</a:t>
            </a:r>
            <a:endParaRPr sz="900">
              <a:solidFill>
                <a:schemeClr val="dk1"/>
              </a:solidFill>
              <a:latin typeface="Calibri"/>
              <a:ea typeface="Calibri"/>
              <a:cs typeface="Calibri"/>
              <a:sym typeface="Calibri"/>
            </a:endParaRPr>
          </a:p>
        </p:txBody>
      </p:sp>
      <p:sp>
        <p:nvSpPr>
          <p:cNvPr id="1231" name="Google Shape;1231;p21"/>
          <p:cNvSpPr/>
          <p:nvPr/>
        </p:nvSpPr>
        <p:spPr>
          <a:xfrm>
            <a:off x="7607808" y="38770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32" name="Google Shape;1232;p21"/>
          <p:cNvSpPr/>
          <p:nvPr/>
        </p:nvSpPr>
        <p:spPr>
          <a:xfrm>
            <a:off x="274320" y="4261104"/>
            <a:ext cx="8595360" cy="420624"/>
          </a:xfrm>
          <a:prstGeom prst="rect">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3" name="Google Shape;1233;p21"/>
          <p:cNvSpPr/>
          <p:nvPr/>
        </p:nvSpPr>
        <p:spPr>
          <a:xfrm>
            <a:off x="274320" y="4261104"/>
            <a:ext cx="54864" cy="42062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4" name="Google Shape;1234;p21"/>
          <p:cNvSpPr/>
          <p:nvPr/>
        </p:nvSpPr>
        <p:spPr>
          <a:xfrm>
            <a:off x="384048" y="4334256"/>
            <a:ext cx="621792" cy="256032"/>
          </a:xfrm>
          <a:prstGeom prst="rect">
            <a:avLst/>
          </a:prstGeom>
          <a:solidFill>
            <a:srgbClr val="06B6D4">
              <a:alpha val="20000"/>
            </a:srgbClr>
          </a:solidFill>
          <a:ln w="9525" cap="flat" cmpd="sng">
            <a:solidFill>
              <a:srgbClr val="06B6D4">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5" name="Google Shape;1235;p21"/>
          <p:cNvSpPr/>
          <p:nvPr/>
        </p:nvSpPr>
        <p:spPr>
          <a:xfrm>
            <a:off x="402336" y="43525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B6D4"/>
              </a:buClr>
              <a:buSzPts val="850"/>
              <a:buFont typeface="Calibri"/>
              <a:buNone/>
            </a:pPr>
            <a:r>
              <a:rPr lang="en-US" sz="850" b="1">
                <a:solidFill>
                  <a:srgbClr val="06B6D4"/>
                </a:solidFill>
                <a:latin typeface="Calibri"/>
                <a:ea typeface="Calibri"/>
                <a:cs typeface="Calibri"/>
                <a:sym typeface="Calibri"/>
              </a:rPr>
              <a:t>Forecasting</a:t>
            </a:r>
            <a:endParaRPr sz="850">
              <a:solidFill>
                <a:schemeClr val="dk1"/>
              </a:solidFill>
              <a:latin typeface="Calibri"/>
              <a:ea typeface="Calibri"/>
              <a:cs typeface="Calibri"/>
              <a:sym typeface="Calibri"/>
            </a:endParaRPr>
          </a:p>
        </p:txBody>
      </p:sp>
      <p:sp>
        <p:nvSpPr>
          <p:cNvPr id="1236" name="Google Shape;1236;p21"/>
          <p:cNvSpPr/>
          <p:nvPr/>
        </p:nvSpPr>
        <p:spPr>
          <a:xfrm>
            <a:off x="1097280" y="43342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Single 30-day holdout; no uncertainty bands or prediction intervals</a:t>
            </a:r>
            <a:endParaRPr sz="900">
              <a:solidFill>
                <a:schemeClr val="dk1"/>
              </a:solidFill>
              <a:latin typeface="Calibri"/>
              <a:ea typeface="Calibri"/>
              <a:cs typeface="Calibri"/>
              <a:sym typeface="Calibri"/>
            </a:endParaRPr>
          </a:p>
        </p:txBody>
      </p:sp>
      <p:sp>
        <p:nvSpPr>
          <p:cNvPr id="1237" name="Google Shape;1237;p21"/>
          <p:cNvSpPr/>
          <p:nvPr/>
        </p:nvSpPr>
        <p:spPr>
          <a:xfrm>
            <a:off x="4343400" y="43342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Add SARIMAX, Prophet, LSTM alternatives; add confidence intervals</a:t>
            </a:r>
            <a:endParaRPr sz="900">
              <a:solidFill>
                <a:schemeClr val="dk1"/>
              </a:solidFill>
              <a:latin typeface="Calibri"/>
              <a:ea typeface="Calibri"/>
              <a:cs typeface="Calibri"/>
              <a:sym typeface="Calibri"/>
            </a:endParaRPr>
          </a:p>
        </p:txBody>
      </p:sp>
      <p:sp>
        <p:nvSpPr>
          <p:cNvPr id="1238" name="Google Shape;1238;p21"/>
          <p:cNvSpPr/>
          <p:nvPr/>
        </p:nvSpPr>
        <p:spPr>
          <a:xfrm>
            <a:off x="7607808" y="43342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39" name="Google Shape;1239;p21"/>
          <p:cNvSpPr/>
          <p:nvPr/>
        </p:nvSpPr>
        <p:spPr>
          <a:xfrm>
            <a:off x="274320" y="4718304"/>
            <a:ext cx="8595360" cy="420624"/>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0" name="Google Shape;1240;p21"/>
          <p:cNvSpPr/>
          <p:nvPr/>
        </p:nvSpPr>
        <p:spPr>
          <a:xfrm>
            <a:off x="274320" y="4718304"/>
            <a:ext cx="54864" cy="420624"/>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1" name="Google Shape;1241;p21"/>
          <p:cNvSpPr/>
          <p:nvPr/>
        </p:nvSpPr>
        <p:spPr>
          <a:xfrm>
            <a:off x="384048" y="4791456"/>
            <a:ext cx="621792" cy="256032"/>
          </a:xfrm>
          <a:prstGeom prst="rect">
            <a:avLst/>
          </a:prstGeom>
          <a:solidFill>
            <a:srgbClr val="22C55E">
              <a:alpha val="20000"/>
            </a:srgbClr>
          </a:solidFill>
          <a:ln w="9525" cap="flat" cmpd="sng">
            <a:solidFill>
              <a:srgbClr val="22C55E">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2" name="Google Shape;1242;p21"/>
          <p:cNvSpPr/>
          <p:nvPr/>
        </p:nvSpPr>
        <p:spPr>
          <a:xfrm>
            <a:off x="402336" y="4809744"/>
            <a:ext cx="585216"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850"/>
              <a:buFont typeface="Calibri"/>
              <a:buNone/>
            </a:pPr>
            <a:r>
              <a:rPr lang="en-US" sz="850" b="1">
                <a:solidFill>
                  <a:srgbClr val="22C55E"/>
                </a:solidFill>
                <a:latin typeface="Calibri"/>
                <a:ea typeface="Calibri"/>
                <a:cs typeface="Calibri"/>
                <a:sym typeface="Calibri"/>
              </a:rPr>
              <a:t>Pipeline</a:t>
            </a:r>
            <a:endParaRPr sz="850">
              <a:solidFill>
                <a:schemeClr val="dk1"/>
              </a:solidFill>
              <a:latin typeface="Calibri"/>
              <a:ea typeface="Calibri"/>
              <a:cs typeface="Calibri"/>
              <a:sym typeface="Calibri"/>
            </a:endParaRPr>
          </a:p>
        </p:txBody>
      </p:sp>
      <p:sp>
        <p:nvSpPr>
          <p:cNvPr id="1243" name="Google Shape;1243;p21"/>
          <p:cNvSpPr/>
          <p:nvPr/>
        </p:nvSpPr>
        <p:spPr>
          <a:xfrm>
            <a:off x="1097280" y="4791456"/>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Static CSV extraction — not suitable for real-time or incremental loads</a:t>
            </a:r>
            <a:endParaRPr sz="900">
              <a:solidFill>
                <a:schemeClr val="dk1"/>
              </a:solidFill>
              <a:latin typeface="Calibri"/>
              <a:ea typeface="Calibri"/>
              <a:cs typeface="Calibri"/>
              <a:sym typeface="Calibri"/>
            </a:endParaRPr>
          </a:p>
        </p:txBody>
      </p:sp>
      <p:sp>
        <p:nvSpPr>
          <p:cNvPr id="1244" name="Google Shape;1244;p21"/>
          <p:cNvSpPr/>
          <p:nvPr/>
        </p:nvSpPr>
        <p:spPr>
          <a:xfrm>
            <a:off x="4343400" y="4791456"/>
            <a:ext cx="318211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900"/>
              <a:buFont typeface="Calibri"/>
              <a:buNone/>
            </a:pPr>
            <a:r>
              <a:rPr lang="en-US" sz="900">
                <a:solidFill>
                  <a:srgbClr val="0D1B2A"/>
                </a:solidFill>
                <a:latin typeface="Calibri"/>
                <a:ea typeface="Calibri"/>
                <a:cs typeface="Calibri"/>
                <a:sym typeface="Calibri"/>
              </a:rPr>
              <a:t>Migrate to Apache Airflow or AWS Glue for scheduled delta ETL loading</a:t>
            </a:r>
            <a:endParaRPr sz="900">
              <a:solidFill>
                <a:schemeClr val="dk1"/>
              </a:solidFill>
              <a:latin typeface="Calibri"/>
              <a:ea typeface="Calibri"/>
              <a:cs typeface="Calibri"/>
              <a:sym typeface="Calibri"/>
            </a:endParaRPr>
          </a:p>
        </p:txBody>
      </p:sp>
      <p:sp>
        <p:nvSpPr>
          <p:cNvPr id="1245" name="Google Shape;1245;p21"/>
          <p:cNvSpPr/>
          <p:nvPr/>
        </p:nvSpPr>
        <p:spPr>
          <a:xfrm>
            <a:off x="7607808" y="4791456"/>
            <a:ext cx="5029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C55E"/>
              </a:buClr>
              <a:buSzPts val="1200"/>
              <a:buFont typeface="Calibri"/>
              <a:buNone/>
            </a:pPr>
            <a:r>
              <a:rPr lang="en-US" sz="1200" b="1">
                <a:solidFill>
                  <a:srgbClr val="22C55E"/>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250"/>
        <p:cNvGrpSpPr/>
        <p:nvPr/>
      </p:nvGrpSpPr>
      <p:grpSpPr>
        <a:xfrm>
          <a:off x="0" y="0"/>
          <a:ext cx="0" cy="0"/>
          <a:chOff x="0" y="0"/>
          <a:chExt cx="0" cy="0"/>
        </a:xfrm>
      </p:grpSpPr>
      <p:sp>
        <p:nvSpPr>
          <p:cNvPr id="1251" name="Google Shape;1251;p22"/>
          <p:cNvSpPr/>
          <p:nvPr/>
        </p:nvSpPr>
        <p:spPr>
          <a:xfrm>
            <a:off x="0" y="0"/>
            <a:ext cx="9144000" cy="20116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2" name="Google Shape;1252;p22"/>
          <p:cNvSpPr/>
          <p:nvPr/>
        </p:nvSpPr>
        <p:spPr>
          <a:xfrm>
            <a:off x="0" y="0"/>
            <a:ext cx="91440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OPERATIONAL RECOMMENDATIONS — INTEGRATED INSIGHTS FROM ALL 4 TASKS</a:t>
            </a:r>
            <a:endParaRPr sz="900">
              <a:solidFill>
                <a:schemeClr val="dk1"/>
              </a:solidFill>
              <a:latin typeface="Calibri"/>
              <a:ea typeface="Calibri"/>
              <a:cs typeface="Calibri"/>
              <a:sym typeface="Calibri"/>
            </a:endParaRPr>
          </a:p>
        </p:txBody>
      </p:sp>
      <p:sp>
        <p:nvSpPr>
          <p:cNvPr id="1253" name="Google Shape;1253;p22"/>
          <p:cNvSpPr/>
          <p:nvPr/>
        </p:nvSpPr>
        <p:spPr>
          <a:xfrm>
            <a:off x="365760" y="320040"/>
            <a:ext cx="82296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Operational Recommendations</a:t>
            </a:r>
            <a:endParaRPr sz="2400">
              <a:solidFill>
                <a:schemeClr val="dk1"/>
              </a:solidFill>
              <a:latin typeface="Calibri"/>
              <a:ea typeface="Calibri"/>
              <a:cs typeface="Calibri"/>
              <a:sym typeface="Calibri"/>
            </a:endParaRPr>
          </a:p>
        </p:txBody>
      </p:sp>
      <p:sp>
        <p:nvSpPr>
          <p:cNvPr id="1254" name="Google Shape;1254;p22"/>
          <p:cNvSpPr/>
          <p:nvPr/>
        </p:nvSpPr>
        <p:spPr>
          <a:xfrm>
            <a:off x="365760" y="777240"/>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Data-driven actions synthesising ETL quality, EDA insights, clustering segments, and forecast results</a:t>
            </a:r>
            <a:endParaRPr sz="1100">
              <a:solidFill>
                <a:schemeClr val="dk1"/>
              </a:solidFill>
              <a:latin typeface="Calibri"/>
              <a:ea typeface="Calibri"/>
              <a:cs typeface="Calibri"/>
              <a:sym typeface="Calibri"/>
            </a:endParaRPr>
          </a:p>
        </p:txBody>
      </p:sp>
      <p:sp>
        <p:nvSpPr>
          <p:cNvPr id="1255" name="Google Shape;1255;p22"/>
          <p:cNvSpPr/>
          <p:nvPr/>
        </p:nvSpPr>
        <p:spPr>
          <a:xfrm>
            <a:off x="256032" y="1115568"/>
            <a:ext cx="4251960" cy="1755648"/>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6" name="Google Shape;1256;p22"/>
          <p:cNvSpPr/>
          <p:nvPr/>
        </p:nvSpPr>
        <p:spPr>
          <a:xfrm>
            <a:off x="256032" y="1115568"/>
            <a:ext cx="4251960" cy="42062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7" name="Google Shape;1257;p22"/>
          <p:cNvSpPr/>
          <p:nvPr/>
        </p:nvSpPr>
        <p:spPr>
          <a:xfrm>
            <a:off x="365760" y="1207008"/>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Customer Strategy</a:t>
            </a:r>
            <a:endParaRPr sz="1300">
              <a:solidFill>
                <a:schemeClr val="dk1"/>
              </a:solidFill>
              <a:latin typeface="Calibri"/>
              <a:ea typeface="Calibri"/>
              <a:cs typeface="Calibri"/>
              <a:sym typeface="Calibri"/>
            </a:endParaRPr>
          </a:p>
        </p:txBody>
      </p:sp>
      <p:sp>
        <p:nvSpPr>
          <p:cNvPr id="1258" name="Google Shape;1258;p22"/>
          <p:cNvSpPr/>
          <p:nvPr/>
        </p:nvSpPr>
        <p:spPr>
          <a:xfrm>
            <a:off x="393192" y="1627632"/>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Launch VIP loyalty programme for Loyal cluster (£4,158 avg spend, n=309) immediately</a:t>
            </a:r>
            <a:endParaRPr sz="950">
              <a:solidFill>
                <a:schemeClr val="dk1"/>
              </a:solidFill>
              <a:latin typeface="Calibri"/>
              <a:ea typeface="Calibri"/>
              <a:cs typeface="Calibri"/>
              <a:sym typeface="Calibri"/>
            </a:endParaRPr>
          </a:p>
        </p:txBody>
      </p:sp>
      <p:sp>
        <p:nvSpPr>
          <p:cNvPr id="1259" name="Google Shape;1259;p22"/>
          <p:cNvSpPr/>
          <p:nvPr/>
        </p:nvSpPr>
        <p:spPr>
          <a:xfrm>
            <a:off x="393192" y="2029968"/>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Execute win-back email campaigns for Lapsed segment (&gt;250 day recency, n=1,064)</a:t>
            </a:r>
            <a:endParaRPr sz="950">
              <a:solidFill>
                <a:schemeClr val="dk1"/>
              </a:solidFill>
              <a:latin typeface="Calibri"/>
              <a:ea typeface="Calibri"/>
              <a:cs typeface="Calibri"/>
              <a:sym typeface="Calibri"/>
            </a:endParaRPr>
          </a:p>
        </p:txBody>
      </p:sp>
      <p:sp>
        <p:nvSpPr>
          <p:cNvPr id="1260" name="Google Shape;1260;p22"/>
          <p:cNvSpPr/>
          <p:nvPr/>
        </p:nvSpPr>
        <p:spPr>
          <a:xfrm>
            <a:off x="393192" y="2432304"/>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Use RFM scores monthly to detect customers migrating toward at-risk status</a:t>
            </a:r>
            <a:endParaRPr sz="950">
              <a:solidFill>
                <a:schemeClr val="dk1"/>
              </a:solidFill>
              <a:latin typeface="Calibri"/>
              <a:ea typeface="Calibri"/>
              <a:cs typeface="Calibri"/>
              <a:sym typeface="Calibri"/>
            </a:endParaRPr>
          </a:p>
        </p:txBody>
      </p:sp>
      <p:sp>
        <p:nvSpPr>
          <p:cNvPr id="1261" name="Google Shape;1261;p22"/>
          <p:cNvSpPr/>
          <p:nvPr/>
        </p:nvSpPr>
        <p:spPr>
          <a:xfrm>
            <a:off x="4718304" y="1115568"/>
            <a:ext cx="4251960" cy="1755648"/>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2" name="Google Shape;1262;p22"/>
          <p:cNvSpPr/>
          <p:nvPr/>
        </p:nvSpPr>
        <p:spPr>
          <a:xfrm>
            <a:off x="4718304" y="1115568"/>
            <a:ext cx="4251960" cy="42062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3" name="Google Shape;1263;p22"/>
          <p:cNvSpPr/>
          <p:nvPr/>
        </p:nvSpPr>
        <p:spPr>
          <a:xfrm>
            <a:off x="4828032" y="1207008"/>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Inventory &amp; Supply Chain</a:t>
            </a:r>
            <a:endParaRPr sz="1300">
              <a:solidFill>
                <a:schemeClr val="dk1"/>
              </a:solidFill>
              <a:latin typeface="Calibri"/>
              <a:ea typeface="Calibri"/>
              <a:cs typeface="Calibri"/>
              <a:sym typeface="Calibri"/>
            </a:endParaRPr>
          </a:p>
        </p:txBody>
      </p:sp>
      <p:sp>
        <p:nvSpPr>
          <p:cNvPr id="1264" name="Google Shape;1264;p22"/>
          <p:cNvSpPr/>
          <p:nvPr/>
        </p:nvSpPr>
        <p:spPr>
          <a:xfrm>
            <a:off x="4855464" y="1627632"/>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Negotiate priority supplier allocation for top fast-moving products (BAG, JUMBO, LUNCH, RETROSPOT)</a:t>
            </a:r>
            <a:endParaRPr sz="950">
              <a:solidFill>
                <a:schemeClr val="dk1"/>
              </a:solidFill>
              <a:latin typeface="Calibri"/>
              <a:ea typeface="Calibri"/>
              <a:cs typeface="Calibri"/>
              <a:sym typeface="Calibri"/>
            </a:endParaRPr>
          </a:p>
        </p:txBody>
      </p:sp>
      <p:sp>
        <p:nvSpPr>
          <p:cNvPr id="1265" name="Google Shape;1265;p22"/>
          <p:cNvSpPr/>
          <p:nvPr/>
        </p:nvSpPr>
        <p:spPr>
          <a:xfrm>
            <a:off x="4855464" y="2029968"/>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Reduce Slow-Moving cluster stock (74.8% of products, £157 avg) to free working capital</a:t>
            </a:r>
            <a:endParaRPr sz="950">
              <a:solidFill>
                <a:schemeClr val="dk1"/>
              </a:solidFill>
              <a:latin typeface="Calibri"/>
              <a:ea typeface="Calibri"/>
              <a:cs typeface="Calibri"/>
              <a:sym typeface="Calibri"/>
            </a:endParaRPr>
          </a:p>
        </p:txBody>
      </p:sp>
      <p:sp>
        <p:nvSpPr>
          <p:cNvPr id="1266" name="Google Shape;1266;p22"/>
          <p:cNvSpPr/>
          <p:nvPr/>
        </p:nvSpPr>
        <p:spPr>
          <a:xfrm>
            <a:off x="4855464" y="2432304"/>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Pre-position all inventory by end of September to meet November peak (£642,985 historical)</a:t>
            </a:r>
            <a:endParaRPr sz="950">
              <a:solidFill>
                <a:schemeClr val="dk1"/>
              </a:solidFill>
              <a:latin typeface="Calibri"/>
              <a:ea typeface="Calibri"/>
              <a:cs typeface="Calibri"/>
              <a:sym typeface="Calibri"/>
            </a:endParaRPr>
          </a:p>
        </p:txBody>
      </p:sp>
      <p:sp>
        <p:nvSpPr>
          <p:cNvPr id="1267" name="Google Shape;1267;p22"/>
          <p:cNvSpPr/>
          <p:nvPr/>
        </p:nvSpPr>
        <p:spPr>
          <a:xfrm>
            <a:off x="256032" y="3108960"/>
            <a:ext cx="4251960" cy="1755648"/>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8" name="Google Shape;1268;p22"/>
          <p:cNvSpPr/>
          <p:nvPr/>
        </p:nvSpPr>
        <p:spPr>
          <a:xfrm>
            <a:off x="256032" y="3108960"/>
            <a:ext cx="4251960" cy="420624"/>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9" name="Google Shape;1269;p22"/>
          <p:cNvSpPr/>
          <p:nvPr/>
        </p:nvSpPr>
        <p:spPr>
          <a:xfrm>
            <a:off x="365760" y="3200400"/>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300"/>
              <a:buFont typeface="Calibri"/>
              <a:buNone/>
            </a:pPr>
            <a:r>
              <a:rPr lang="en-US" sz="1300" b="1">
                <a:solidFill>
                  <a:srgbClr val="0D1B2A"/>
                </a:solidFill>
                <a:latin typeface="Calibri"/>
                <a:ea typeface="Calibri"/>
                <a:cs typeface="Calibri"/>
                <a:sym typeface="Calibri"/>
              </a:rPr>
              <a:t>⏰ Marketing &amp; Timing</a:t>
            </a:r>
            <a:endParaRPr sz="1300">
              <a:solidFill>
                <a:schemeClr val="dk1"/>
              </a:solidFill>
              <a:latin typeface="Calibri"/>
              <a:ea typeface="Calibri"/>
              <a:cs typeface="Calibri"/>
              <a:sym typeface="Calibri"/>
            </a:endParaRPr>
          </a:p>
        </p:txBody>
      </p:sp>
      <p:sp>
        <p:nvSpPr>
          <p:cNvPr id="1270" name="Google Shape;1270;p22"/>
          <p:cNvSpPr/>
          <p:nvPr/>
        </p:nvSpPr>
        <p:spPr>
          <a:xfrm>
            <a:off x="393192" y="3621024"/>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Schedule all email campaigns and promotions for Thursday 10am–2pm (peak revenue window)</a:t>
            </a:r>
            <a:endParaRPr sz="950">
              <a:solidFill>
                <a:schemeClr val="dk1"/>
              </a:solidFill>
              <a:latin typeface="Calibri"/>
              <a:ea typeface="Calibri"/>
              <a:cs typeface="Calibri"/>
              <a:sym typeface="Calibri"/>
            </a:endParaRPr>
          </a:p>
        </p:txBody>
      </p:sp>
      <p:sp>
        <p:nvSpPr>
          <p:cNvPr id="1271" name="Google Shape;1271;p22"/>
          <p:cNvSpPr/>
          <p:nvPr/>
        </p:nvSpPr>
        <p:spPr>
          <a:xfrm>
            <a:off x="393192" y="4023360"/>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Focus marketing budget on Q4 October–November: historical 40%+ revenue concentration</a:t>
            </a:r>
            <a:endParaRPr sz="950">
              <a:solidFill>
                <a:schemeClr val="dk1"/>
              </a:solidFill>
              <a:latin typeface="Calibri"/>
              <a:ea typeface="Calibri"/>
              <a:cs typeface="Calibri"/>
              <a:sym typeface="Calibri"/>
            </a:endParaRPr>
          </a:p>
        </p:txBody>
      </p:sp>
      <p:sp>
        <p:nvSpPr>
          <p:cNvPr id="1272" name="Google Shape;1272;p22"/>
          <p:cNvSpPr/>
          <p:nvPr/>
        </p:nvSpPr>
        <p:spPr>
          <a:xfrm>
            <a:off x="393192" y="4425696"/>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Test UK-localised product listings for Germany, France &amp; EIRE — highest international ROI</a:t>
            </a:r>
            <a:endParaRPr sz="950">
              <a:solidFill>
                <a:schemeClr val="dk1"/>
              </a:solidFill>
              <a:latin typeface="Calibri"/>
              <a:ea typeface="Calibri"/>
              <a:cs typeface="Calibri"/>
              <a:sym typeface="Calibri"/>
            </a:endParaRPr>
          </a:p>
        </p:txBody>
      </p:sp>
      <p:sp>
        <p:nvSpPr>
          <p:cNvPr id="1273" name="Google Shape;1273;p22"/>
          <p:cNvSpPr/>
          <p:nvPr/>
        </p:nvSpPr>
        <p:spPr>
          <a:xfrm>
            <a:off x="4718304" y="3108960"/>
            <a:ext cx="4251960" cy="1755648"/>
          </a:xfrm>
          <a:prstGeom prst="rect">
            <a:avLst/>
          </a:prstGeom>
          <a:solidFill>
            <a:srgbClr val="0F2744"/>
          </a:solidFill>
          <a:ln w="12700" cap="flat" cmpd="sng">
            <a:solidFill>
              <a:srgbClr val="1E3A5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4" name="Google Shape;1274;p22"/>
          <p:cNvSpPr/>
          <p:nvPr/>
        </p:nvSpPr>
        <p:spPr>
          <a:xfrm>
            <a:off x="4718304" y="3108960"/>
            <a:ext cx="4251960" cy="420624"/>
          </a:xfrm>
          <a:prstGeom prst="rect">
            <a:avLst/>
          </a:prstGeom>
          <a:solidFill>
            <a:srgbClr val="22C55E"/>
          </a:solidFill>
          <a:ln w="12700" cap="flat" cmpd="sng">
            <a:solidFill>
              <a:srgbClr val="22C55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5" name="Google Shape;1275;p22"/>
          <p:cNvSpPr/>
          <p:nvPr/>
        </p:nvSpPr>
        <p:spPr>
          <a:xfrm>
            <a:off x="4828032" y="3200400"/>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Forecasting &amp; Operations</a:t>
            </a:r>
            <a:endParaRPr sz="1300">
              <a:solidFill>
                <a:schemeClr val="dk1"/>
              </a:solidFill>
              <a:latin typeface="Calibri"/>
              <a:ea typeface="Calibri"/>
              <a:cs typeface="Calibri"/>
              <a:sym typeface="Calibri"/>
            </a:endParaRPr>
          </a:p>
        </p:txBody>
      </p:sp>
      <p:sp>
        <p:nvSpPr>
          <p:cNvPr id="1276" name="Google Shape;1276;p22"/>
          <p:cNvSpPr/>
          <p:nvPr/>
        </p:nvSpPr>
        <p:spPr>
          <a:xfrm>
            <a:off x="4855464" y="3621024"/>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Use 30-day revenue forecast (£540K projected) for cash-flow and purchasing decisions</a:t>
            </a:r>
            <a:endParaRPr sz="950">
              <a:solidFill>
                <a:schemeClr val="dk1"/>
              </a:solidFill>
              <a:latin typeface="Calibri"/>
              <a:ea typeface="Calibri"/>
              <a:cs typeface="Calibri"/>
              <a:sym typeface="Calibri"/>
            </a:endParaRPr>
          </a:p>
        </p:txBody>
      </p:sp>
      <p:sp>
        <p:nvSpPr>
          <p:cNvPr id="1277" name="Google Shape;1277;p22"/>
          <p:cNvSpPr/>
          <p:nvPr/>
        </p:nvSpPr>
        <p:spPr>
          <a:xfrm>
            <a:off x="4855464" y="4023360"/>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 Use the 30-day order-volume forecast to plan staffing, warehouse capacity, and logistics, Projected demand: ~2,090 orders (~69.7 per day)</a:t>
            </a:r>
            <a:endParaRPr sz="95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950"/>
              <a:buFont typeface="Calibri"/>
              <a:buNone/>
            </a:pPr>
            <a:endParaRPr sz="950">
              <a:solidFill>
                <a:srgbClr val="CBD5E1"/>
              </a:solidFill>
              <a:latin typeface="Calibri"/>
              <a:ea typeface="Calibri"/>
              <a:cs typeface="Calibri"/>
              <a:sym typeface="Calibri"/>
            </a:endParaRPr>
          </a:p>
        </p:txBody>
      </p:sp>
      <p:sp>
        <p:nvSpPr>
          <p:cNvPr id="1278" name="Google Shape;1278;p22"/>
          <p:cNvSpPr/>
          <p:nvPr/>
        </p:nvSpPr>
        <p:spPr>
          <a:xfrm>
            <a:off x="4855464" y="4425696"/>
            <a:ext cx="400507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a:t>
            </a:r>
            <a:r>
              <a:rPr lang="en-US" sz="950">
                <a:solidFill>
                  <a:srgbClr val="CCCCCC"/>
                </a:solidFill>
                <a:latin typeface="Calibri"/>
                <a:ea typeface="Calibri"/>
                <a:cs typeface="Calibri"/>
                <a:sym typeface="Calibri"/>
              </a:rPr>
              <a:t>Align operations to the observed demand rhythm</a:t>
            </a:r>
            <a:endParaRPr sz="950">
              <a:solidFill>
                <a:srgbClr val="CCCCCC"/>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950">
                <a:solidFill>
                  <a:srgbClr val="CCCCCC"/>
                </a:solidFill>
                <a:latin typeface="Calibri"/>
                <a:ea typeface="Calibri"/>
                <a:cs typeface="Calibri"/>
                <a:sym typeface="Calibri"/>
              </a:rPr>
              <a:t>Highest activity on Thursday; zero activity on Saturday</a:t>
            </a:r>
            <a:endParaRPr sz="950">
              <a:solidFill>
                <a:srgbClr val="CCCCCC"/>
              </a:solidFill>
              <a:latin typeface="Calibri"/>
              <a:ea typeface="Calibri"/>
              <a:cs typeface="Calibri"/>
              <a:sym typeface="Calibri"/>
            </a:endParaRPr>
          </a:p>
          <a:p>
            <a:pPr marL="0" marR="0" lvl="0" indent="0" algn="l" rtl="0">
              <a:spcBef>
                <a:spcPts val="0"/>
              </a:spcBef>
              <a:spcAft>
                <a:spcPts val="0"/>
              </a:spcAft>
              <a:buClr>
                <a:srgbClr val="CBD5E1"/>
              </a:buClr>
              <a:buSzPts val="950"/>
              <a:buFont typeface="Calibri"/>
              <a:buNone/>
            </a:pPr>
            <a:endParaRPr sz="950">
              <a:solidFill>
                <a:srgbClr val="CCCCCC"/>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283"/>
        <p:cNvGrpSpPr/>
        <p:nvPr/>
      </p:nvGrpSpPr>
      <p:grpSpPr>
        <a:xfrm>
          <a:off x="0" y="0"/>
          <a:ext cx="0" cy="0"/>
          <a:chOff x="0" y="0"/>
          <a:chExt cx="0" cy="0"/>
        </a:xfrm>
      </p:grpSpPr>
      <p:sp>
        <p:nvSpPr>
          <p:cNvPr id="1284" name="Google Shape;1284;p23"/>
          <p:cNvSpPr/>
          <p:nvPr/>
        </p:nvSpPr>
        <p:spPr>
          <a:xfrm>
            <a:off x="0" y="0"/>
            <a:ext cx="9144000" cy="914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5" name="Google Shape;1285;p23"/>
          <p:cNvSpPr/>
          <p:nvPr/>
        </p:nvSpPr>
        <p:spPr>
          <a:xfrm>
            <a:off x="5303520" y="-914400"/>
            <a:ext cx="5486400" cy="5486400"/>
          </a:xfrm>
          <a:prstGeom prst="ellipse">
            <a:avLst/>
          </a:prstGeom>
          <a:solidFill>
            <a:srgbClr val="0D9488">
              <a:alpha val="7843"/>
            </a:srgbClr>
          </a:solidFill>
          <a:ln w="12700" cap="flat" cmpd="sng">
            <a:solidFill>
              <a:srgbClr val="0D9488">
                <a:alpha val="1215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6" name="Google Shape;1286;p23"/>
          <p:cNvSpPr/>
          <p:nvPr/>
        </p:nvSpPr>
        <p:spPr>
          <a:xfrm>
            <a:off x="6858000" y="3200400"/>
            <a:ext cx="3200400" cy="3200400"/>
          </a:xfrm>
          <a:prstGeom prst="ellipse">
            <a:avLst/>
          </a:prstGeom>
          <a:solidFill>
            <a:srgbClr val="06B6D4">
              <a:alpha val="7058"/>
            </a:srgbClr>
          </a:solidFill>
          <a:ln w="12700" cap="flat" cmpd="sng">
            <a:solidFill>
              <a:srgbClr val="06B6D4">
                <a:alpha val="1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7" name="Google Shape;1287;p23"/>
          <p:cNvSpPr/>
          <p:nvPr/>
        </p:nvSpPr>
        <p:spPr>
          <a:xfrm>
            <a:off x="0" y="91440"/>
            <a:ext cx="164592" cy="50292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8" name="Google Shape;1288;p23"/>
          <p:cNvSpPr/>
          <p:nvPr/>
        </p:nvSpPr>
        <p:spPr>
          <a:xfrm>
            <a:off x="365760" y="502920"/>
            <a:ext cx="45720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100"/>
              <a:buFont typeface="Calibri"/>
              <a:buNone/>
            </a:pPr>
            <a:r>
              <a:rPr lang="en-US" sz="1100" b="1">
                <a:solidFill>
                  <a:srgbClr val="0D9488"/>
                </a:solidFill>
                <a:latin typeface="Calibri"/>
                <a:ea typeface="Calibri"/>
                <a:cs typeface="Calibri"/>
                <a:sym typeface="Calibri"/>
              </a:rPr>
              <a:t>CONCLUSION</a:t>
            </a:r>
            <a:endParaRPr sz="1100">
              <a:solidFill>
                <a:schemeClr val="dk1"/>
              </a:solidFill>
              <a:latin typeface="Calibri"/>
              <a:ea typeface="Calibri"/>
              <a:cs typeface="Calibri"/>
              <a:sym typeface="Calibri"/>
            </a:endParaRPr>
          </a:p>
        </p:txBody>
      </p:sp>
      <p:sp>
        <p:nvSpPr>
          <p:cNvPr id="1289" name="Google Shape;1289;p23"/>
          <p:cNvSpPr/>
          <p:nvPr/>
        </p:nvSpPr>
        <p:spPr>
          <a:xfrm>
            <a:off x="365760" y="841248"/>
            <a:ext cx="594360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200"/>
              <a:buFont typeface="Calibri"/>
              <a:buNone/>
            </a:pPr>
            <a:r>
              <a:rPr lang="en-US" sz="5200" b="1">
                <a:solidFill>
                  <a:srgbClr val="FFFFFF"/>
                </a:solidFill>
                <a:latin typeface="Calibri"/>
                <a:ea typeface="Calibri"/>
                <a:cs typeface="Calibri"/>
                <a:sym typeface="Calibri"/>
              </a:rPr>
              <a:t>Project</a:t>
            </a:r>
            <a:endParaRPr sz="52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5200"/>
              <a:buFont typeface="Calibri"/>
              <a:buNone/>
            </a:pPr>
            <a:r>
              <a:rPr lang="en-US" sz="5200" b="1">
                <a:solidFill>
                  <a:srgbClr val="FFFFFF"/>
                </a:solidFill>
                <a:latin typeface="Calibri"/>
                <a:ea typeface="Calibri"/>
                <a:cs typeface="Calibri"/>
                <a:sym typeface="Calibri"/>
              </a:rPr>
              <a:t>Complete</a:t>
            </a:r>
            <a:endParaRPr sz="5200">
              <a:solidFill>
                <a:schemeClr val="dk1"/>
              </a:solidFill>
              <a:latin typeface="Calibri"/>
              <a:ea typeface="Calibri"/>
              <a:cs typeface="Calibri"/>
              <a:sym typeface="Calibri"/>
            </a:endParaRPr>
          </a:p>
        </p:txBody>
      </p:sp>
      <p:sp>
        <p:nvSpPr>
          <p:cNvPr id="1290" name="Google Shape;1290;p23"/>
          <p:cNvSpPr/>
          <p:nvPr/>
        </p:nvSpPr>
        <p:spPr>
          <a:xfrm>
            <a:off x="365760" y="2240280"/>
            <a:ext cx="6858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F3FC"/>
              </a:buClr>
              <a:buSzPts val="1500"/>
              <a:buFont typeface="Calibri"/>
              <a:buNone/>
            </a:pPr>
            <a:r>
              <a:rPr lang="en-US" sz="1500">
                <a:solidFill>
                  <a:srgbClr val="A5F3FC"/>
                </a:solidFill>
                <a:latin typeface="Calibri"/>
                <a:ea typeface="Calibri"/>
                <a:cs typeface="Calibri"/>
                <a:sym typeface="Calibri"/>
              </a:rPr>
              <a:t>Online Retail II — Full Data Analysis &amp; Operations Improvement Pipeline</a:t>
            </a:r>
            <a:endParaRPr sz="1500">
              <a:solidFill>
                <a:schemeClr val="dk1"/>
              </a:solidFill>
              <a:latin typeface="Calibri"/>
              <a:ea typeface="Calibri"/>
              <a:cs typeface="Calibri"/>
              <a:sym typeface="Calibri"/>
            </a:endParaRPr>
          </a:p>
        </p:txBody>
      </p:sp>
      <p:sp>
        <p:nvSpPr>
          <p:cNvPr id="1291" name="Google Shape;1291;p23"/>
          <p:cNvSpPr/>
          <p:nvPr/>
        </p:nvSpPr>
        <p:spPr>
          <a:xfrm>
            <a:off x="365760" y="2788920"/>
            <a:ext cx="5577840" cy="420624"/>
          </a:xfrm>
          <a:prstGeom prst="rect">
            <a:avLst/>
          </a:prstGeom>
          <a:solidFill>
            <a:srgbClr val="0F2744"/>
          </a:solidFill>
          <a:ln w="12700"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2" name="Google Shape;1292;p23"/>
          <p:cNvSpPr/>
          <p:nvPr/>
        </p:nvSpPr>
        <p:spPr>
          <a:xfrm>
            <a:off x="365760" y="2788920"/>
            <a:ext cx="658368" cy="42062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3" name="Google Shape;1293;p23"/>
          <p:cNvSpPr/>
          <p:nvPr/>
        </p:nvSpPr>
        <p:spPr>
          <a:xfrm>
            <a:off x="365760" y="2788920"/>
            <a:ext cx="658368"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ETL</a:t>
            </a:r>
            <a:endParaRPr sz="950">
              <a:solidFill>
                <a:schemeClr val="dk1"/>
              </a:solidFill>
              <a:latin typeface="Calibri"/>
              <a:ea typeface="Calibri"/>
              <a:cs typeface="Calibri"/>
              <a:sym typeface="Calibri"/>
            </a:endParaRPr>
          </a:p>
        </p:txBody>
      </p:sp>
      <p:sp>
        <p:nvSpPr>
          <p:cNvPr id="1294" name="Google Shape;1294;p23"/>
          <p:cNvSpPr/>
          <p:nvPr/>
        </p:nvSpPr>
        <p:spPr>
          <a:xfrm>
            <a:off x="1078992" y="2880360"/>
            <a:ext cx="47365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541,910 → 333,234 clean records | 98.4% quality | 6-step pipeline</a:t>
            </a:r>
            <a:endParaRPr sz="950">
              <a:solidFill>
                <a:schemeClr val="dk1"/>
              </a:solidFill>
              <a:latin typeface="Calibri"/>
              <a:ea typeface="Calibri"/>
              <a:cs typeface="Calibri"/>
              <a:sym typeface="Calibri"/>
            </a:endParaRPr>
          </a:p>
        </p:txBody>
      </p:sp>
      <p:sp>
        <p:nvSpPr>
          <p:cNvPr id="1295" name="Google Shape;1295;p23"/>
          <p:cNvSpPr/>
          <p:nvPr/>
        </p:nvSpPr>
        <p:spPr>
          <a:xfrm>
            <a:off x="365760" y="3264408"/>
            <a:ext cx="5577840" cy="420624"/>
          </a:xfrm>
          <a:prstGeom prst="rect">
            <a:avLst/>
          </a:prstGeom>
          <a:solidFill>
            <a:srgbClr val="0F2744"/>
          </a:solidFill>
          <a:ln w="12700"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6" name="Google Shape;1296;p23"/>
          <p:cNvSpPr/>
          <p:nvPr/>
        </p:nvSpPr>
        <p:spPr>
          <a:xfrm>
            <a:off x="365760" y="3264408"/>
            <a:ext cx="658368" cy="420624"/>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7" name="Google Shape;1297;p23"/>
          <p:cNvSpPr/>
          <p:nvPr/>
        </p:nvSpPr>
        <p:spPr>
          <a:xfrm>
            <a:off x="365760" y="3264408"/>
            <a:ext cx="658368"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EDA</a:t>
            </a:r>
            <a:endParaRPr sz="950">
              <a:solidFill>
                <a:schemeClr val="dk1"/>
              </a:solidFill>
              <a:latin typeface="Calibri"/>
              <a:ea typeface="Calibri"/>
              <a:cs typeface="Calibri"/>
              <a:sym typeface="Calibri"/>
            </a:endParaRPr>
          </a:p>
        </p:txBody>
      </p:sp>
      <p:sp>
        <p:nvSpPr>
          <p:cNvPr id="1298" name="Google Shape;1298;p23"/>
          <p:cNvSpPr/>
          <p:nvPr/>
        </p:nvSpPr>
        <p:spPr>
          <a:xfrm>
            <a:off x="1078992" y="3355848"/>
            <a:ext cx="47365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£4.3M revenue | Q4 peak | Thursday 12pm | Pareto customer base</a:t>
            </a:r>
            <a:endParaRPr sz="950">
              <a:solidFill>
                <a:schemeClr val="dk1"/>
              </a:solidFill>
              <a:latin typeface="Calibri"/>
              <a:ea typeface="Calibri"/>
              <a:cs typeface="Calibri"/>
              <a:sym typeface="Calibri"/>
            </a:endParaRPr>
          </a:p>
        </p:txBody>
      </p:sp>
      <p:sp>
        <p:nvSpPr>
          <p:cNvPr id="1299" name="Google Shape;1299;p23"/>
          <p:cNvSpPr/>
          <p:nvPr/>
        </p:nvSpPr>
        <p:spPr>
          <a:xfrm>
            <a:off x="365760" y="3739896"/>
            <a:ext cx="5577840" cy="420624"/>
          </a:xfrm>
          <a:prstGeom prst="rect">
            <a:avLst/>
          </a:prstGeom>
          <a:solidFill>
            <a:srgbClr val="0F2744"/>
          </a:solidFill>
          <a:ln w="12700"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0" name="Google Shape;1300;p23"/>
          <p:cNvSpPr/>
          <p:nvPr/>
        </p:nvSpPr>
        <p:spPr>
          <a:xfrm>
            <a:off x="365760" y="3739896"/>
            <a:ext cx="658368" cy="420624"/>
          </a:xfrm>
          <a:prstGeom prst="rect">
            <a:avLst/>
          </a:prstGeom>
          <a:solidFill>
            <a:srgbClr val="8B5CF6"/>
          </a:solidFill>
          <a:ln w="12700" cap="flat" cmpd="sng">
            <a:solidFill>
              <a:srgbClr val="8B5CF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1" name="Google Shape;1301;p23"/>
          <p:cNvSpPr/>
          <p:nvPr/>
        </p:nvSpPr>
        <p:spPr>
          <a:xfrm>
            <a:off x="365760" y="3739896"/>
            <a:ext cx="658368"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Clustering</a:t>
            </a:r>
            <a:endParaRPr sz="950">
              <a:solidFill>
                <a:schemeClr val="dk1"/>
              </a:solidFill>
              <a:latin typeface="Calibri"/>
              <a:ea typeface="Calibri"/>
              <a:cs typeface="Calibri"/>
              <a:sym typeface="Calibri"/>
            </a:endParaRPr>
          </a:p>
        </p:txBody>
      </p:sp>
      <p:sp>
        <p:nvSpPr>
          <p:cNvPr id="1302" name="Google Shape;1302;p23"/>
          <p:cNvSpPr/>
          <p:nvPr/>
        </p:nvSpPr>
        <p:spPr>
          <a:xfrm>
            <a:off x="1078992" y="3831336"/>
            <a:ext cx="47365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4 customer segments | 3 product tiers | 3 market tiers | ARI validated</a:t>
            </a:r>
            <a:endParaRPr sz="950">
              <a:solidFill>
                <a:schemeClr val="dk1"/>
              </a:solidFill>
              <a:latin typeface="Calibri"/>
              <a:ea typeface="Calibri"/>
              <a:cs typeface="Calibri"/>
              <a:sym typeface="Calibri"/>
            </a:endParaRPr>
          </a:p>
        </p:txBody>
      </p:sp>
      <p:sp>
        <p:nvSpPr>
          <p:cNvPr id="1303" name="Google Shape;1303;p23"/>
          <p:cNvSpPr/>
          <p:nvPr/>
        </p:nvSpPr>
        <p:spPr>
          <a:xfrm>
            <a:off x="365760" y="4215384"/>
            <a:ext cx="5577840" cy="420624"/>
          </a:xfrm>
          <a:prstGeom prst="rect">
            <a:avLst/>
          </a:prstGeom>
          <a:solidFill>
            <a:srgbClr val="0F2744"/>
          </a:solidFill>
          <a:ln w="12700" cap="flat" cmpd="sng">
            <a:solidFill>
              <a:srgbClr val="1E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4" name="Google Shape;1304;p23"/>
          <p:cNvSpPr/>
          <p:nvPr/>
        </p:nvSpPr>
        <p:spPr>
          <a:xfrm>
            <a:off x="365760" y="4215384"/>
            <a:ext cx="658368" cy="420624"/>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5" name="Google Shape;1305;p23"/>
          <p:cNvSpPr/>
          <p:nvPr/>
        </p:nvSpPr>
        <p:spPr>
          <a:xfrm>
            <a:off x="365760" y="4215384"/>
            <a:ext cx="658368"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Forecasting</a:t>
            </a:r>
            <a:endParaRPr sz="950">
              <a:solidFill>
                <a:schemeClr val="dk1"/>
              </a:solidFill>
              <a:latin typeface="Calibri"/>
              <a:ea typeface="Calibri"/>
              <a:cs typeface="Calibri"/>
              <a:sym typeface="Calibri"/>
            </a:endParaRPr>
          </a:p>
        </p:txBody>
      </p:sp>
      <p:sp>
        <p:nvSpPr>
          <p:cNvPr id="1306" name="Google Shape;1306;p23"/>
          <p:cNvSpPr/>
          <p:nvPr/>
        </p:nvSpPr>
        <p:spPr>
          <a:xfrm>
            <a:off x="1078992" y="4306824"/>
            <a:ext cx="47365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a:solidFill>
                  <a:srgbClr val="FFFFFF"/>
                </a:solidFill>
                <a:latin typeface="Calibri"/>
                <a:ea typeface="Calibri"/>
                <a:cs typeface="Calibri"/>
                <a:sym typeface="Calibri"/>
              </a:rPr>
              <a:t>£540K 30-day forecast | GB outperforms on revenue | Naive on orders</a:t>
            </a:r>
            <a:endParaRPr sz="950">
              <a:solidFill>
                <a:schemeClr val="dk1"/>
              </a:solidFill>
              <a:latin typeface="Calibri"/>
              <a:ea typeface="Calibri"/>
              <a:cs typeface="Calibri"/>
              <a:sym typeface="Calibri"/>
            </a:endParaRPr>
          </a:p>
        </p:txBody>
      </p:sp>
      <p:sp>
        <p:nvSpPr>
          <p:cNvPr id="1307" name="Google Shape;1307;p23"/>
          <p:cNvSpPr/>
          <p:nvPr/>
        </p:nvSpPr>
        <p:spPr>
          <a:xfrm>
            <a:off x="6172200" y="1170432"/>
            <a:ext cx="1353312" cy="960120"/>
          </a:xfrm>
          <a:prstGeom prst="rect">
            <a:avLst/>
          </a:prstGeom>
          <a:solidFill>
            <a:srgbClr val="FFFFFF">
              <a:alpha val="7058"/>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8" name="Google Shape;1308;p23"/>
          <p:cNvSpPr/>
          <p:nvPr/>
        </p:nvSpPr>
        <p:spPr>
          <a:xfrm>
            <a:off x="6172200" y="1280160"/>
            <a:ext cx="1353312"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800"/>
              <a:buFont typeface="Calibri"/>
              <a:buNone/>
            </a:pPr>
            <a:r>
              <a:rPr lang="en-US" sz="1800" b="1">
                <a:solidFill>
                  <a:srgbClr val="0D9488"/>
                </a:solidFill>
                <a:latin typeface="Calibri"/>
                <a:ea typeface="Calibri"/>
                <a:cs typeface="Calibri"/>
                <a:sym typeface="Calibri"/>
              </a:rPr>
              <a:t>98.4%</a:t>
            </a:r>
            <a:endParaRPr sz="1800">
              <a:solidFill>
                <a:schemeClr val="dk1"/>
              </a:solidFill>
              <a:latin typeface="Calibri"/>
              <a:ea typeface="Calibri"/>
              <a:cs typeface="Calibri"/>
              <a:sym typeface="Calibri"/>
            </a:endParaRPr>
          </a:p>
        </p:txBody>
      </p:sp>
      <p:sp>
        <p:nvSpPr>
          <p:cNvPr id="1309" name="Google Shape;1309;p23"/>
          <p:cNvSpPr/>
          <p:nvPr/>
        </p:nvSpPr>
        <p:spPr>
          <a:xfrm>
            <a:off x="6172200" y="1700784"/>
            <a:ext cx="1353312"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Data Quality</a:t>
            </a:r>
            <a:endParaRPr sz="850">
              <a:solidFill>
                <a:schemeClr val="dk1"/>
              </a:solidFill>
              <a:latin typeface="Calibri"/>
              <a:ea typeface="Calibri"/>
              <a:cs typeface="Calibri"/>
              <a:sym typeface="Calibri"/>
            </a:endParaRPr>
          </a:p>
        </p:txBody>
      </p:sp>
      <p:sp>
        <p:nvSpPr>
          <p:cNvPr id="1310" name="Google Shape;1310;p23"/>
          <p:cNvSpPr/>
          <p:nvPr/>
        </p:nvSpPr>
        <p:spPr>
          <a:xfrm>
            <a:off x="7635240" y="1170432"/>
            <a:ext cx="1353312" cy="960120"/>
          </a:xfrm>
          <a:prstGeom prst="rect">
            <a:avLst/>
          </a:prstGeom>
          <a:solidFill>
            <a:srgbClr val="FFFFFF">
              <a:alpha val="7058"/>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1" name="Google Shape;1311;p23"/>
          <p:cNvSpPr/>
          <p:nvPr/>
        </p:nvSpPr>
        <p:spPr>
          <a:xfrm>
            <a:off x="7635240" y="1280160"/>
            <a:ext cx="1353312"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800"/>
              <a:buFont typeface="Calibri"/>
              <a:buNone/>
            </a:pPr>
            <a:r>
              <a:rPr lang="en-US" sz="1800" b="1">
                <a:solidFill>
                  <a:srgbClr val="0D9488"/>
                </a:solidFill>
                <a:latin typeface="Calibri"/>
                <a:ea typeface="Calibri"/>
                <a:cs typeface="Calibri"/>
                <a:sym typeface="Calibri"/>
              </a:rPr>
              <a:t>0.762</a:t>
            </a:r>
            <a:endParaRPr sz="1800">
              <a:solidFill>
                <a:schemeClr val="dk1"/>
              </a:solidFill>
              <a:latin typeface="Calibri"/>
              <a:ea typeface="Calibri"/>
              <a:cs typeface="Calibri"/>
              <a:sym typeface="Calibri"/>
            </a:endParaRPr>
          </a:p>
        </p:txBody>
      </p:sp>
      <p:sp>
        <p:nvSpPr>
          <p:cNvPr id="1312" name="Google Shape;1312;p23"/>
          <p:cNvSpPr/>
          <p:nvPr/>
        </p:nvSpPr>
        <p:spPr>
          <a:xfrm>
            <a:off x="7635240" y="1700784"/>
            <a:ext cx="1353312"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Clustering ARI</a:t>
            </a:r>
            <a:endParaRPr sz="850">
              <a:solidFill>
                <a:schemeClr val="dk1"/>
              </a:solidFill>
              <a:latin typeface="Calibri"/>
              <a:ea typeface="Calibri"/>
              <a:cs typeface="Calibri"/>
              <a:sym typeface="Calibri"/>
            </a:endParaRPr>
          </a:p>
        </p:txBody>
      </p:sp>
      <p:sp>
        <p:nvSpPr>
          <p:cNvPr id="1313" name="Google Shape;1313;p23"/>
          <p:cNvSpPr/>
          <p:nvPr/>
        </p:nvSpPr>
        <p:spPr>
          <a:xfrm>
            <a:off x="6172200" y="2249424"/>
            <a:ext cx="1353312" cy="960120"/>
          </a:xfrm>
          <a:prstGeom prst="rect">
            <a:avLst/>
          </a:prstGeom>
          <a:solidFill>
            <a:srgbClr val="FFFFFF">
              <a:alpha val="7058"/>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4" name="Google Shape;1314;p23"/>
          <p:cNvSpPr/>
          <p:nvPr/>
        </p:nvSpPr>
        <p:spPr>
          <a:xfrm>
            <a:off x="6172200" y="2359152"/>
            <a:ext cx="1353312"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800"/>
              <a:buFont typeface="Calibri"/>
              <a:buNone/>
            </a:pPr>
            <a:r>
              <a:rPr lang="en-US" sz="1800" b="1">
                <a:solidFill>
                  <a:srgbClr val="0D9488"/>
                </a:solidFill>
                <a:latin typeface="Calibri"/>
                <a:ea typeface="Calibri"/>
                <a:cs typeface="Calibri"/>
                <a:sym typeface="Calibri"/>
              </a:rPr>
              <a:t>£540K</a:t>
            </a:r>
            <a:endParaRPr sz="1800">
              <a:solidFill>
                <a:schemeClr val="dk1"/>
              </a:solidFill>
              <a:latin typeface="Calibri"/>
              <a:ea typeface="Calibri"/>
              <a:cs typeface="Calibri"/>
              <a:sym typeface="Calibri"/>
            </a:endParaRPr>
          </a:p>
        </p:txBody>
      </p:sp>
      <p:sp>
        <p:nvSpPr>
          <p:cNvPr id="1315" name="Google Shape;1315;p23"/>
          <p:cNvSpPr/>
          <p:nvPr/>
        </p:nvSpPr>
        <p:spPr>
          <a:xfrm>
            <a:off x="6172200" y="2779776"/>
            <a:ext cx="1353312"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30-Day Forecast</a:t>
            </a:r>
            <a:endParaRPr sz="850">
              <a:solidFill>
                <a:schemeClr val="dk1"/>
              </a:solidFill>
              <a:latin typeface="Calibri"/>
              <a:ea typeface="Calibri"/>
              <a:cs typeface="Calibri"/>
              <a:sym typeface="Calibri"/>
            </a:endParaRPr>
          </a:p>
        </p:txBody>
      </p:sp>
      <p:sp>
        <p:nvSpPr>
          <p:cNvPr id="1316" name="Google Shape;1316;p23"/>
          <p:cNvSpPr/>
          <p:nvPr/>
        </p:nvSpPr>
        <p:spPr>
          <a:xfrm>
            <a:off x="7635240" y="2249424"/>
            <a:ext cx="1353312" cy="960120"/>
          </a:xfrm>
          <a:prstGeom prst="rect">
            <a:avLst/>
          </a:prstGeom>
          <a:solidFill>
            <a:srgbClr val="FFFFFF">
              <a:alpha val="7058"/>
            </a:srgbClr>
          </a:solidFill>
          <a:ln w="10150" cap="flat" cmpd="sng">
            <a:solidFill>
              <a:srgbClr val="0D9488">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7" name="Google Shape;1317;p23"/>
          <p:cNvSpPr/>
          <p:nvPr/>
        </p:nvSpPr>
        <p:spPr>
          <a:xfrm>
            <a:off x="7635240" y="2359152"/>
            <a:ext cx="1353312"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800"/>
              <a:buFont typeface="Calibri"/>
              <a:buNone/>
            </a:pPr>
            <a:r>
              <a:rPr lang="en-US" sz="1800" b="1">
                <a:solidFill>
                  <a:srgbClr val="0D9488"/>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318" name="Google Shape;1318;p23"/>
          <p:cNvSpPr/>
          <p:nvPr/>
        </p:nvSpPr>
        <p:spPr>
          <a:xfrm>
            <a:off x="7635240" y="2779776"/>
            <a:ext cx="1353312"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a:solidFill>
                  <a:srgbClr val="94A3B8"/>
                </a:solidFill>
                <a:latin typeface="Calibri"/>
                <a:ea typeface="Calibri"/>
                <a:cs typeface="Calibri"/>
                <a:sym typeface="Calibri"/>
              </a:rPr>
              <a:t>Actionable Segments</a:t>
            </a:r>
            <a:endParaRPr sz="850">
              <a:solidFill>
                <a:schemeClr val="dk1"/>
              </a:solidFill>
              <a:latin typeface="Calibri"/>
              <a:ea typeface="Calibri"/>
              <a:cs typeface="Calibri"/>
              <a:sym typeface="Calibri"/>
            </a:endParaRPr>
          </a:p>
        </p:txBody>
      </p:sp>
      <p:sp>
        <p:nvSpPr>
          <p:cNvPr id="1319" name="Google Shape;1319;p23"/>
          <p:cNvSpPr/>
          <p:nvPr/>
        </p:nvSpPr>
        <p:spPr>
          <a:xfrm>
            <a:off x="320040" y="4828032"/>
            <a:ext cx="85039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900"/>
              <a:buFont typeface="Calibri"/>
              <a:buNone/>
            </a:pPr>
            <a:r>
              <a:rPr lang="en-US" sz="900">
                <a:solidFill>
                  <a:srgbClr val="475569"/>
                </a:solidFill>
                <a:latin typeface="Calibri"/>
                <a:ea typeface="Calibri"/>
                <a:cs typeface="Calibri"/>
                <a:sym typeface="Calibri"/>
              </a:rPr>
              <a:t>Principles of Data Science 7144  |  Coventry University — NIBM Campus  |  MSc Data Science 2025</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3485</Words>
  <Application>Microsoft Office PowerPoint</Application>
  <PresentationFormat>On-screen Show (16:9)</PresentationFormat>
  <Paragraphs>785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Don Ashan</dc:creator>
  <cp:lastModifiedBy>KARUNARATHNA B D P A</cp:lastModifiedBy>
  <cp:revision>1</cp:revision>
  <dcterms:modified xsi:type="dcterms:W3CDTF">2026-04-10T18:56:24Z</dcterms:modified>
</cp:coreProperties>
</file>