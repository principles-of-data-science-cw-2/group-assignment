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4D46D3F-7C8B-4474-8B8C-8DB0CFD4AE9F}">
  <a:tblStyle styleId="{44D46D3F-7C8B-4474-8B8C-8DB0CFD4AE9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914400" y="2560320"/>
            <a:ext cx="10362895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Retail Demand Forecasting</a:t>
            </a:r>
            <a:endParaRPr/>
          </a:p>
          <a:p>
            <a:pPr indent="0" lvl="0" marL="0" marR="0" rtl="0" algn="ctr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30-Day Revenue and Order Volume Prediction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548625" spcFirstLastPara="1" rIns="9142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 &amp; Data Preparation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548640" y="1188720"/>
            <a:ext cx="5303520" cy="5303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Forecast daily_revenue and daily_order_volume for the next 30 days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Source Data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333,234 cleaned transaction rows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Coverage: 2010-12-01 to 2011-12-09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Aggregation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374 daily calendar records after gap-filling missing dates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Train / Test Split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Training: first 344 days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Holdout test: final 30 days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6217920" y="1188720"/>
            <a:ext cx="5303400" cy="30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Supporting Daily Series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line_count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daily_quantity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unique_customers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unique_stockcodes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avg_unit_price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Derived Feature Series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avg_order_value = daily_revenue / </a:t>
            </a: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aily_order_volume</a:t>
            </a:r>
            <a:endParaRPr sz="1300"/>
          </a:p>
        </p:txBody>
      </p:sp>
      <p:sp>
        <p:nvSpPr>
          <p:cNvPr id="94" name="Google Shape;94;p1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548625" spcFirstLastPara="1" rIns="9142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Models Compared</a:t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457200" y="1188720"/>
            <a:ext cx="530352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Seasonal Naive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548640" y="1828800"/>
            <a:ext cx="51206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Last 7 training days repeated across 30-day horizon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Captures weekly seasonality only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trend learning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feature interactions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Predictions clipped at zero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Role: baseline benchmark</a:t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6309360" y="1188720"/>
            <a:ext cx="5303520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Gradient Boosting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400800" y="1828800"/>
            <a:ext cx="51206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HistGradientBoostingRegressor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Learns non-linear relationships from engineered features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55 features total (7 calendar + lag/rolling from 8 series)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Recursive multi-step forecasting avoids exogenous leakage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7 directly modelled daily series keep support signals consistent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Hyperparameters: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learning_rate = 0.05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max_depth = 4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max_iter = 400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min_samples_leaf = 10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548625" spcFirstLastPara="1" rIns="9142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Holdout Evaluation Results</a:t>
            </a:r>
            <a:endParaRPr/>
          </a:p>
        </p:txBody>
      </p:sp>
      <p:sp>
        <p:nvSpPr>
          <p:cNvPr id="110" name="Google Shape;110;p16"/>
          <p:cNvSpPr txBox="1"/>
          <p:nvPr/>
        </p:nvSpPr>
        <p:spPr>
          <a:xfrm>
            <a:off x="548640" y="10972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Metrics: MAE · RMSE · WAPE (%)</a:t>
            </a:r>
            <a:endParaRPr/>
          </a:p>
        </p:txBody>
      </p:sp>
      <p:graphicFrame>
        <p:nvGraphicFramePr>
          <p:cNvPr id="111" name="Google Shape;111;p16"/>
          <p:cNvGraphicFramePr/>
          <p:nvPr/>
        </p:nvGraphicFramePr>
        <p:xfrm>
          <a:off x="548640" y="15087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{44D46D3F-7C8B-4474-8B8C-8DB0CFD4AE9F}</a:tableStyleId>
              </a:tblPr>
              <a:tblGrid>
                <a:gridCol w="2011675"/>
                <a:gridCol w="2011675"/>
                <a:gridCol w="1280150"/>
                <a:gridCol w="1280150"/>
                <a:gridCol w="12801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MAE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RMSE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WAPE (%)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daily_revenue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Seasonal Naive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5 822.61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8 048.46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27.42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daily_revenue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Boosting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4 348.53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5 986.90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20.48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F1F5F9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daily_order_volume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Seasonal Naive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14.70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19.06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17.84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daily_order_volume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Boosting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16.73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20.53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20.30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2" name="Google Shape;112;p16"/>
          <p:cNvSpPr/>
          <p:nvPr/>
        </p:nvSpPr>
        <p:spPr>
          <a:xfrm>
            <a:off x="548640" y="3520440"/>
            <a:ext cx="7680960" cy="6858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3715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Gradient Boosting selected for daily_revenue.</a:t>
            </a:r>
            <a:br>
              <a:rPr b="1" lang="en-US" sz="15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500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 Seasonal Naive selected for daily_order_volume.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Selection rule: lowest RMSE per target, with MAE as tiebreaker.</a:t>
            </a:r>
            <a:endParaRPr/>
          </a:p>
        </p:txBody>
      </p:sp>
      <p:pic>
        <p:nvPicPr>
          <p:cNvPr descr="model_metric_comparison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389125"/>
            <a:ext cx="6747351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ldout_comparison.png" id="114" name="Google Shape;1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5000" y="4304500"/>
            <a:ext cx="3687874" cy="237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548625" spcFirstLastPara="1" rIns="9142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Results Are Mixed</a:t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457200" y="1188720"/>
            <a:ext cx="5303520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GB Wins on Revenue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548640" y="1874519"/>
            <a:ext cx="51206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Revenue has higher variance than order volume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Revenue depends on order size, product mix, and pricing shifts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Lag and rolling features capture momentum effectively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Calendar effects add predictive value beyond a weekly repeat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Non-linear interactions improve revenue prediction</a:t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6309360" y="1188720"/>
            <a:ext cx="530352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Seasonal Naive Wins on Orders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6400800" y="1874519"/>
            <a:ext cx="51206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Order volume follows a stable weekly cycle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naive weekly-repeat baseline is already very strong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Less variance to exploit with a more complex model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Recursive multi-step errors slightly degrade GB on this target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Extra complexity does not always improve a low-variance periodic series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548625" spcFirstLastPara="1" rIns="9142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30-Day Forward Forecast</a:t>
            </a:r>
            <a:endParaRPr/>
          </a:p>
        </p:txBody>
      </p:sp>
      <p:graphicFrame>
        <p:nvGraphicFramePr>
          <p:cNvPr id="131" name="Google Shape;131;p18"/>
          <p:cNvGraphicFramePr/>
          <p:nvPr/>
        </p:nvGraphicFramePr>
        <p:xfrm>
          <a:off x="548640" y="11887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{44D46D3F-7C8B-4474-8B8C-8DB0CFD4AE9F}</a:tableStyleId>
              </a:tblPr>
              <a:tblGrid>
                <a:gridCol w="2011675"/>
                <a:gridCol w="2011675"/>
                <a:gridCol w="1645925"/>
                <a:gridCol w="1463050"/>
                <a:gridCol w="16459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Selected Model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30-Day Total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 Daily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Peak Daily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1E293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daily_revenue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Gradient Boosting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540 563.44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18 018.78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28 758.04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daily_order_volume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Seasonal Naive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2 090.00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69.67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3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109.00</a:t>
                      </a:r>
                      <a:endParaRPr/>
                    </a:p>
                  </a:txBody>
                  <a:tcPr marT="27425" marB="27425" marR="45725" marL="45725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32" name="Google Shape;132;p18"/>
          <p:cNvSpPr txBox="1"/>
          <p:nvPr/>
        </p:nvSpPr>
        <p:spPr>
          <a:xfrm>
            <a:off x="548640" y="2423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pipeline deploys the best model per target — different targets can use different models simultaneously.</a:t>
            </a:r>
            <a:endParaRPr/>
          </a:p>
        </p:txBody>
      </p:sp>
      <p:pic>
        <p:nvPicPr>
          <p:cNvPr descr="future_forecast_comparison.png" id="133" name="Google Shape;13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0325" y="2926075"/>
            <a:ext cx="5120647" cy="365760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548625" spcFirstLastPara="1" rIns="9142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 &amp; Future Improvements</a:t>
            </a:r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457200" y="1188720"/>
            <a:ext cx="5303520" cy="50292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/>
          </a:p>
        </p:txBody>
      </p:sp>
      <p:sp>
        <p:nvSpPr>
          <p:cNvPr id="141" name="Google Shape;141;p19"/>
          <p:cNvSpPr txBox="1"/>
          <p:nvPr/>
        </p:nvSpPr>
        <p:spPr>
          <a:xfrm>
            <a:off x="548640" y="1874519"/>
            <a:ext cx="5120700" cy="34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Only 374 calendar-day observations after daily aggregation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Recursive GB forecasts can accumulate error over 30 days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external regressors (holidays, promotions, macro factors)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Weekly seasonality modeled</a:t>
            </a:r>
            <a:r>
              <a:rPr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broader seasonal structure not explicit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Validation uses a single 30-day holdout rather than rolling time-series cross-validation</a:t>
            </a:r>
            <a:endParaRPr sz="17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6309360" y="1188720"/>
            <a:ext cx="530352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Improvements</a:t>
            </a:r>
            <a:endParaRPr/>
          </a:p>
        </p:txBody>
      </p:sp>
      <p:sp>
        <p:nvSpPr>
          <p:cNvPr id="143" name="Google Shape;143;p19"/>
          <p:cNvSpPr txBox="1"/>
          <p:nvPr/>
        </p:nvSpPr>
        <p:spPr>
          <a:xfrm>
            <a:off x="6400800" y="1874519"/>
            <a:ext cx="512064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Add holidays, promotions, and macroeconomic covariates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Use rolling-origin or expanding-window validation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Compare SARIMAX, Prophet, and LSTM-style alternatives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Add prediction intervals and uncertainty bands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Build automated tuning and forecast monitoring</a:t>
            </a:r>
            <a:endParaRPr/>
          </a:p>
        </p:txBody>
      </p:sp>
      <p:sp>
        <p:nvSpPr>
          <p:cNvPr id="144" name="Google Shape;144;p1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548625" spcFirstLastPara="1" rIns="91425" wrap="square" tIns="13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/>
          </a:p>
        </p:txBody>
      </p:sp>
      <p:sp>
        <p:nvSpPr>
          <p:cNvPr id="150" name="Google Shape;150;p20"/>
          <p:cNvSpPr txBox="1"/>
          <p:nvPr/>
        </p:nvSpPr>
        <p:spPr>
          <a:xfrm>
            <a:off x="548640" y="1280160"/>
            <a:ext cx="10515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Two-Model Comparison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Seasonal Naive baseline vs Gradient Boosting with 55 engineered features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Final Per-Target Selection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Gradient Boosting → daily_revenue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Seasonal Naive → daily_order_volume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Key Takeaway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Model complexity helps when the target has richer structure, but not when a stable weekly pattern already dominates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Business Value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Revenue forecasts support purchasing and cash-flow planning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Order volume forecasts support staffing and logistics planning</a:t>
            </a:r>
            <a:endParaRPr/>
          </a:p>
        </p:txBody>
      </p:sp>
      <p:sp>
        <p:nvSpPr>
          <p:cNvPr id="151" name="Google Shape;151;p2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